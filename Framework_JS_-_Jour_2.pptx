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60"/>
  </p:notesMasterIdLst>
  <p:sldIdLst>
    <p:sldId id="256" r:id="rId2"/>
    <p:sldId id="302" r:id="rId3"/>
    <p:sldId id="359" r:id="rId4"/>
    <p:sldId id="399" r:id="rId5"/>
    <p:sldId id="400" r:id="rId6"/>
    <p:sldId id="401" r:id="rId7"/>
    <p:sldId id="402" r:id="rId8"/>
    <p:sldId id="407" r:id="rId9"/>
    <p:sldId id="901" r:id="rId10"/>
    <p:sldId id="902" r:id="rId11"/>
    <p:sldId id="903" r:id="rId12"/>
    <p:sldId id="904" r:id="rId13"/>
    <p:sldId id="905" r:id="rId14"/>
    <p:sldId id="906" r:id="rId15"/>
    <p:sldId id="408" r:id="rId16"/>
    <p:sldId id="409" r:id="rId17"/>
    <p:sldId id="410" r:id="rId18"/>
    <p:sldId id="417" r:id="rId19"/>
    <p:sldId id="412" r:id="rId20"/>
    <p:sldId id="413" r:id="rId21"/>
    <p:sldId id="907" r:id="rId22"/>
    <p:sldId id="908" r:id="rId23"/>
    <p:sldId id="921" r:id="rId24"/>
    <p:sldId id="910" r:id="rId25"/>
    <p:sldId id="414" r:id="rId26"/>
    <p:sldId id="418" r:id="rId27"/>
    <p:sldId id="428" r:id="rId28"/>
    <p:sldId id="427" r:id="rId29"/>
    <p:sldId id="431" r:id="rId30"/>
    <p:sldId id="423" r:id="rId31"/>
    <p:sldId id="424" r:id="rId32"/>
    <p:sldId id="429" r:id="rId33"/>
    <p:sldId id="911" r:id="rId34"/>
    <p:sldId id="912" r:id="rId35"/>
    <p:sldId id="913" r:id="rId36"/>
    <p:sldId id="914" r:id="rId37"/>
    <p:sldId id="430" r:id="rId38"/>
    <p:sldId id="432" r:id="rId39"/>
    <p:sldId id="433" r:id="rId40"/>
    <p:sldId id="439" r:id="rId41"/>
    <p:sldId id="440" r:id="rId42"/>
    <p:sldId id="436" r:id="rId43"/>
    <p:sldId id="441" r:id="rId44"/>
    <p:sldId id="915" r:id="rId45"/>
    <p:sldId id="916" r:id="rId46"/>
    <p:sldId id="917" r:id="rId47"/>
    <p:sldId id="438" r:id="rId48"/>
    <p:sldId id="457" r:id="rId49"/>
    <p:sldId id="443" r:id="rId50"/>
    <p:sldId id="444" r:id="rId51"/>
    <p:sldId id="456" r:id="rId52"/>
    <p:sldId id="451" r:id="rId53"/>
    <p:sldId id="459" r:id="rId54"/>
    <p:sldId id="918" r:id="rId55"/>
    <p:sldId id="919" r:id="rId56"/>
    <p:sldId id="920" r:id="rId57"/>
    <p:sldId id="450" r:id="rId58"/>
    <p:sldId id="449" r:id="rId5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D9A114-4FF0-4ACE-A412-F1617D6C09F3}" v="2" dt="2026-10-11T20:02:20.957"/>
  </p1510:revLst>
</p1510:revInfo>
</file>

<file path=ppt/tableStyles.xml><?xml version="1.0" encoding="utf-8"?>
<a:tblStyleLst xmlns:a="http://schemas.openxmlformats.org/drawingml/2006/main" def="{5C22544A-7EE6-4342-B048-85BDC9FD1C3A}">
  <a:tblStyle styleId="{5C22544A-7EE6-4342-B048-85BDC9FD1C3A}" styleName="Style moyen 2 - Accentuation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1386" autoAdjust="0"/>
    <p:restoredTop sz="94625" autoAdjust="0"/>
  </p:normalViewPr>
  <p:slideViewPr>
    <p:cSldViewPr snapToGrid="0">
      <p:cViewPr varScale="1">
        <p:scale>
          <a:sx n="121" d="100"/>
          <a:sy n="121" d="100"/>
        </p:scale>
        <p:origin x="1685" y="77"/>
      </p:cViewPr>
      <p:guideLst/>
    </p:cSldViewPr>
  </p:slideViewPr>
  <p:outlineViewPr>
    <p:cViewPr>
      <p:scale>
        <a:sx n="33" d="100"/>
        <a:sy n="33" d="100"/>
      </p:scale>
      <p:origin x="0" y="-14244"/>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presProps" Target="pres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notesMaster" Target="notesMasters/notesMaster1.xml"/><Relationship Id="rId65"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4A1B1-0C26-429E-B752-A6B4BD183E96}" type="datetimeFigureOut">
              <a:rPr lang="fr-FR" smtClean="0"/>
              <a:t>12/10/2026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91F23C1-C018-43A0-B366-D6DF6AD99871}" type="slidenum">
              <a:rPr lang="fr-FR" smtClean="0"/>
              <a:t>‹N°›</a:t>
            </a:fld>
            <a:endParaRPr lang="fr-FR"/>
          </a:p>
        </p:txBody>
      </p:sp>
    </p:spTree>
    <p:extLst>
      <p:ext uri="{BB962C8B-B14F-4D97-AF65-F5344CB8AC3E}">
        <p14:creationId xmlns:p14="http://schemas.microsoft.com/office/powerpoint/2010/main" val="2660228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Exemple complet de composant. Dans un parent standalone, importer Counter dans imports puis utiliser &lt;app-counter /&gt;. standalone: true reste explicite pour faciliter la lecture. Les ajouts utilisent les API stables disponibles à partir d’Angular 19. Les composants sont standalone par défaut depuis Angular 19. readonly interdit de réaffecter la propriété count, mais autorise count.set() et count.update(). Les changements passent par l’API du signal.</a:t>
            </a:r>
          </a:p>
          <a:p>
            <a:endParaRPr/>
          </a:p>
          <a:p>
            <a:r>
              <a:t>Sources</a:t>
            </a:r>
          </a:p>
          <a:p>
            <a:r>
              <a:t>https://angular.dev/api/core/signal</a:t>
            </a:r>
          </a:p>
          <a:p>
            <a:r>
              <a:t>https://angular.dev/guide/components</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Extraits à placer dans les composants présentés précédemment. React : import { useState } from "react". Angular : import { signal } from "@angular/core". React demande un nouveau rendu via le setter : la variable count reste celle du rendu en cours. Angular modifie la valeur du signal immédiatement, mais Angular met à jour le DOM dans son cycle de rendu. Une propriété TypeScript ordinaire et un signal n’ont donc pas exactement le même comportement. signal() et useState répondent à un besoin comparable sans constituer des API interchangeables.</a:t>
            </a:r>
          </a:p>
          <a:p>
            <a:endParaRPr/>
          </a:p>
          <a:p>
            <a:r>
              <a:t>Sources</a:t>
            </a:r>
          </a:p>
          <a:p>
            <a:r>
              <a:t>https://react.dev/reference/react/useState</a:t>
            </a:r>
          </a:p>
          <a:p>
            <a:r>
              <a:t>https://angular.dev/api/core/signal</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Task correspond à l’interface du TP. Un computed est paresseux : il calcule sa valeur à la première lecture et réutilise le résultat tant que ses dépendances n’ont pas invalidé le calcul. Ses dépendances peuvent varier selon les branches exécutées. Préférer computed pour les compteurs, filtres et totaux. En React, une valeur peu coûteuse peut se calculer pendant le rendu ; useMemo est une optimisation éventuelle. Éviter un effect qui copie le nombre de tâches dans un autre signal.</a:t>
            </a:r>
          </a:p>
          <a:p>
            <a:endParaRPr/>
          </a:p>
          <a:p>
            <a:r>
              <a:t>Sources</a:t>
            </a:r>
          </a:p>
          <a:p>
            <a:r>
              <a:t>https://angular.dev/api/core/computed</a:t>
            </a:r>
          </a:p>
          <a:p>
            <a:r>
              <a:t>https://angular.dev/guide/signals</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Imports : signal depuis @angular/core et Task depuis le modèle du TP. Par défaut, les signals comparent les valeurs avec Object.is. Modifier en place un tableau puis redonner la même référence peut ne pas notifier les consommateurs. asReadonly() protège l’API d’écriture du signal mais ne rend pas les objets profondément immuables. Dans le store du TP, toggle doit aussi actualiser updatedAt, comme le montre l’exemple ultérieur.</a:t>
            </a:r>
          </a:p>
          <a:p>
            <a:endParaRPr/>
          </a:p>
          <a:p>
            <a:r>
              <a:t>Sources</a:t>
            </a:r>
          </a:p>
          <a:p>
            <a:r>
              <a:t>https://angular.dev/guide/signals</a:t>
            </a:r>
          </a:p>
          <a:p>
            <a:r>
              <a:t>https://react.dev/reference/react/useState</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Exemple complet, à usage pédagogique de journalisation. L’effet s’exécute au moins une fois, puis lorsque ses dépendances changent. Lire le signal avant le callback asynchrone garantit son suivi. La destruction du composant nettoie l’effet associé. Contrairement à useEffect, effect ne reçoit pas de tableau de dépendances et son nettoyage utilise onCleanup. Leurs moments d’exécution diffèrent. Réserver effect à la synchronisation avec une API externe, par exemple le stockage ou un journal. Pour un calcul dérivé, utiliser computed. Pour une intégration DOM après rendu, consulter afterRenderEffect.</a:t>
            </a:r>
          </a:p>
          <a:p>
            <a:endParaRPr/>
          </a:p>
          <a:p>
            <a:r>
              <a:t>Sources</a:t>
            </a:r>
          </a:p>
          <a:p>
            <a:r>
              <a:t>https://angular.dev/guide/signals/effect</a:t>
            </a:r>
          </a:p>
          <a:p>
            <a:r>
              <a:t>https://angular.dev/api/core/effect</a:t>
            </a:r>
          </a:p>
          <a:p>
            <a:r>
              <a:t>https://react.dev/reference/react/useEffect</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En pratique placer ThemeStore dans theme-store.ts et l’importer dans le fichier du composant avec import { ThemeStore } from "./theme-store". Appeler inject() pendant l’initialisation d’un champ ou dans le constructeur, dans un contexte d’injection. La DI joue un rôle de partage comparable à Context, mais peut fournir des services avec méthodes et état. Fournir ThemeStore à nouveau dans providers d’un composant crée une instance locale pour ce sous-arbre. Context et DI restent des mécanismes différents. asReadonly() ne réalise pas de gel profond.</a:t>
            </a:r>
          </a:p>
          <a:p>
            <a:endParaRPr/>
          </a:p>
          <a:p>
            <a:r>
              <a:t>Sources</a:t>
            </a:r>
          </a:p>
          <a:p>
            <a:r>
              <a:t>https://angular.dev/guide/di</a:t>
            </a:r>
          </a:p>
          <a:p>
            <a:r>
              <a:t>https://angular.dev/guide/di/hierarchical-dependency-injection</a:t>
            </a:r>
          </a:p>
          <a:p>
            <a:r>
              <a:t>https://angular.dev/guide/signals</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Composant TaskForm associé au template de la diapositive suivante. Les Reactive Forms sont typés par défaut. FormGroup regroupe les contrôles, FormControl représente une valeur avec son état de validation. Cette première version démontre les validateurs intégrés : minLength(3) compte aussi les espaces. La diapositive sur le validateur personnalisé remplace ces validateurs pour respecter la règle du TP hors espaces. dueDate est ici facultatif, sa validation métier doit être ajoutée avant livraison du TP.</a:t>
            </a:r>
          </a:p>
          <a:p>
            <a:endParaRPr/>
          </a:p>
          <a:p>
            <a:r>
              <a:t>Sources</a:t>
            </a:r>
          </a:p>
          <a:p>
            <a:r>
              <a:t>https://angular.dev/guide/forms/reactive-forms</a:t>
            </a:r>
          </a:p>
          <a:p>
            <a:r>
              <a:t>https://angular.dev/guide/forms/typed-forms</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Ce template accompagne TaskForm. Le paragraphe title-error reste présent pour que aria-describedby désigne toujours un élément existant. aria-live annonce une modification du message. Le bouton désactivé suit la validité globale. Pour plusieurs erreurs, adapter le message avec hasError("required") et hasError("minlength") ou les clés des validateurs métier. Ajouter un message d’erreur associé à dueDate lorsqu’on branche son validateur. En cas de soumission programmatique invalide, submit appelle markAllAsTouched().</a:t>
            </a:r>
          </a:p>
          <a:p>
            <a:endParaRPr/>
          </a:p>
          <a:p>
            <a:r>
              <a:t>Sources</a:t>
            </a:r>
          </a:p>
          <a:p>
            <a:r>
              <a:t>https://angular.dev/guide/forms/reactive-forms</a:t>
            </a:r>
          </a:p>
          <a:p>
            <a:r>
              <a:t>https://angular.dev/guide/forms/form-validation</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Complément à TaskForm : importer output depuis @angular/core et titleMin3 depuis ./task-validators. Remplacer validators: [Validators.required, Validators.minLength(3)] par validators: [titleMin3]. Le parent importe TaskForm dans imports et utilise &lt;app-task-form (created)="store.add($event)" /&gt; avec le store présenté plus loin. Le contrat du TP suppose ici que les espaces périphériques ne comptent pas. Si tous les espaces doivent être exclus, remplacer trim().length par replace(/\s/g, "").length et expliciter cette règle. Le composant vérifie form.invalid même si le bouton est désactivé.</a:t>
            </a:r>
          </a:p>
          <a:p>
            <a:endParaRPr/>
          </a:p>
          <a:p>
            <a:r>
              <a:t>Sources</a:t>
            </a:r>
          </a:p>
          <a:p>
            <a:r>
              <a:t>https://angular.dev/guide/forms/form-validation</a:t>
            </a:r>
          </a:p>
          <a:p>
            <a:r>
              <a:t>https://angular.dev/guide/forms/typed-forms</a:t>
            </a:r>
          </a:p>
          <a:p>
            <a:r>
              <a:t>https://angular.dev/api/core/output</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Importer ValidatorFn depuis @angular/forms. Dans TaskForm, configurer dueDate: new FormControl("", { nonNullable: true, validators: [validDueDate] }). Afficher une erreur lorsque dueDate.touched et dueDate.hasError("dueDate"). Exemple : « Choisissez une date valide, aujourd’hui ou plus tard. » Aujourd’hui est recalculé à chaque validation. Si le formulaire reste ouvert pendant la nuit, appeler updateValueAndValidity sur le contrôle avant la soumission. Le validateur accepte une chaîne vide, rejette un format autre que YYYY-MM-DD, puis vérifie les composants de date pour détecter les normalisations des dates impossibles. Le calcul utilise l’heure locale et non toISOString().</a:t>
            </a:r>
          </a:p>
          <a:p>
            <a:endParaRPr/>
          </a:p>
          <a:p>
            <a:r>
              <a:t>Sources</a:t>
            </a:r>
          </a:p>
          <a:p>
            <a:r>
              <a:t>https://angular.dev/guide/forms/form-validation</a:t>
            </a:r>
          </a:p>
          <a:p>
            <a:r>
              <a:t>https://developer.mozilla.org/en-US/docs/Web/JavaScript/Reference/Global_Objects/Date</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Task est l’interface du TP. Le composant enfant n’écrit pas dans task().done et ne modifie pas la donnée du parent. input.required n’a pas de valeur initiale : l’entrée doit être fournie dans le template parent. Ne pas lire une entrée requise dans le constructeur avant son initialisation. @Input et @Output restent pris en charge, input et output sont les API modernes montrées ici. Les événements output ne remontent pas automatiquement dans le DOM comme les événements natifs.</a:t>
            </a:r>
          </a:p>
          <a:p>
            <a:endParaRPr/>
          </a:p>
          <a:p>
            <a:r>
              <a:t>Sources</a:t>
            </a:r>
          </a:p>
          <a:p>
            <a:r>
              <a:t>https://angular.dev/guide/components/inputs</a:t>
            </a:r>
          </a:p>
          <a:p>
            <a:r>
              <a:t>https://angular.dev/guide/components/outputs</a:t>
            </a:r>
          </a:p>
          <a:p>
            <a:r>
              <a:t>https://angular.dev/api/core/input</a:t>
            </a:r>
          </a:p>
          <a:p>
            <a:r>
              <a:t>https://angular.dev/api/core/output</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Exemple complet associé à TaskItem. La liste commence vide. Pour une démonstration, ajouter une tâche conforme au modèle Task au signal. Ici le parent possède l’état pour illustrer les entrées et sorties. Dans le TP final, remplacer cet état local par inject(TaskStore) et déléguer toggle au store afin de partager les tâches entre la liste et /stats. Un identifiant stable permet à @for de conserver les éléments DOM associés aux tâches.</a:t>
            </a:r>
          </a:p>
          <a:p>
            <a:endParaRPr/>
          </a:p>
          <a:p>
            <a:r>
              <a:t>Sources</a:t>
            </a:r>
          </a:p>
          <a:p>
            <a:r>
              <a:t>https://angular.dev/guide/components/inputs</a:t>
            </a:r>
          </a:p>
          <a:p>
            <a:r>
              <a:t>https://angular.dev/guide/components/outputs</a:t>
            </a:r>
          </a:p>
          <a:p>
            <a:r>
              <a:t>https://angular.dev/guide/templates/control-flow</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Composant complet sans FormsModule. La référence locale #nameField donne accès à la valeur du champ et évite de convertir $event.target. Pour un formulaire avec validation, touched, dirty et groupes, choisir Reactive Forms ou les formulaires pilotés par le template. model() est une autre API : elle crée une entrée modifiable et une sortie associée pour une double liaison entre composants. Exemple d’enfant : readonly value = model(0), puis value.update(...). Parent : &lt;app-slider [(value)]="volume" /&gt; si volume est un signal. Cette API est facultative dans le parcours.</a:t>
            </a:r>
          </a:p>
          <a:p>
            <a:endParaRPr/>
          </a:p>
          <a:p>
            <a:r>
              <a:t>Sources</a:t>
            </a:r>
          </a:p>
          <a:p>
            <a:r>
              <a:t>https://angular.dev/guide/templates/binding</a:t>
            </a:r>
          </a:p>
          <a:p>
            <a:r>
              <a:t>https://angular.dev/guide/components/inputs</a:t>
            </a:r>
          </a:p>
          <a:p>
            <a:r>
              <a:t>https://angular.dev/api/core/model</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Template à utiliser avec TaskList ou un composant qui expose tasks et toggle. Les blocs @if et @for sont disponibles depuis Angular 17. Le parcours utilise Angular 19 ou plus récent pour toutes les API montrées. track task.id est adapté à une liste modifiable avec identifiants stables. Réserver track $index aux collections statiques lorsque l’indice identifie réellement la ligne. Un @for correspond au besoin couvert par map et key en React. Une expression computed peut fournir les tâches filtrées.</a:t>
            </a:r>
          </a:p>
          <a:p>
            <a:endParaRPr/>
          </a:p>
          <a:p>
            <a:r>
              <a:t>Sources</a:t>
            </a:r>
          </a:p>
          <a:p>
            <a:r>
              <a:t>https://angular.dev/guide/templates/control-flow</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Cette variante réactive prolonge le TaskService explicite des diapositives précédentes. Elle remplace son état quand on choisit le parcours signals. Dans le composant : import { inject } from @angular/core et TaskStore depuis ./task-store, puis readonly store = inject(TaskStore). Template : @for (t of store.tasks(); track t.id) { ... }. Ajouter remove(id) avec filter, update(id, patch) avec map, en conservant id et createdAt et en actualisant updatedAt. add reçoit des données déjà validées par le formulaire. crypto.randomUUID requiert un contexte sécurisé, notamment HTTPS ou localhost.</a:t>
            </a:r>
          </a:p>
          <a:p>
            <a:endParaRPr/>
          </a:p>
          <a:p>
            <a:r>
              <a:t>Sources</a:t>
            </a:r>
          </a:p>
          <a:p>
            <a:r>
              <a:t>https://angular.dev/guide/di</a:t>
            </a:r>
          </a:p>
          <a:p>
            <a:r>
              <a:t>https://angular.dev/guide/signals</a:t>
            </a:r>
          </a:p>
          <a:p>
            <a:r>
              <a:t>https://developer.mozilla.org/en-US/docs/Web/API/Crypto/randomUUID</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Importer isTask depuis ./task.ts. Ajouter à côté de l’interface Task :</a:t>
            </a:r>
          </a:p>
          <a:p>
            <a:r>
              <a:t>export function isTask(v: unknown): v is Task {</a:t>
            </a:r>
          </a:p>
          <a:p>
            <a:r>
              <a:t>  if (typeof v !== 'object' || v === null) return false;</a:t>
            </a:r>
          </a:p>
          <a:p>
            <a:r>
              <a:t>  const t = v as Record&lt;string, unknown&gt;;</a:t>
            </a:r>
          </a:p>
          <a:p>
            <a:r>
              <a:t>  return typeof t['id'] === 'string'</a:t>
            </a:r>
          </a:p>
          <a:p>
            <a:r>
              <a:t>    &amp;&amp; typeof t['title'] === 'string'</a:t>
            </a:r>
          </a:p>
          <a:p>
            <a:r>
              <a:t>    &amp;&amp; typeof t['done'] === 'boolean'</a:t>
            </a:r>
          </a:p>
          <a:p>
            <a:r>
              <a:t>    &amp;&amp; typeof t['createdAt'] === 'string'</a:t>
            </a:r>
          </a:p>
          <a:p>
            <a:r>
              <a:t>    &amp;&amp; typeof t['updatedAt'] === 'string'</a:t>
            </a:r>
          </a:p>
          <a:p>
            <a:r>
              <a:t>    &amp;&amp; (t['description'] === undefined || typeof t['description'] === 'string')</a:t>
            </a:r>
          </a:p>
          <a:p>
            <a:r>
              <a:t>    &amp;&amp; (t['dueDate'] === undefined || typeof t['dueDate'] === 'string');</a:t>
            </a:r>
          </a:p>
          <a:p>
            <a:r>
              <a:t>}</a:t>
            </a:r>
          </a:p>
          <a:p>
            <a:r>
              <a:t>Ce garde valide la forme de l’objet, pas toutes les règles métier. La méthode load doit être appelée par l’initialisation de state à la place de []. Le catch retourne une liste vide. Avant une utilisation en production, on peut afficher une erreur de lecture et proposer une récupération pour éviter de remplacer silencieusement des données illisibles. Aucun partage entre appareils n’est assuré.</a:t>
            </a:r>
          </a:p>
          <a:p>
            <a:endParaRPr/>
          </a:p>
          <a:p>
            <a:r>
              <a:t>Sources</a:t>
            </a:r>
          </a:p>
          <a:p>
            <a:r>
              <a:t>https://developer.mozilla.org/en-US/docs/Web/API/Window/localStorage</a:t>
            </a:r>
          </a:p>
          <a:p>
            <a:r>
              <a:t>https://www.typescriptlang.org/docs/handbook/2/narrowing.html</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Compléments : importer effect depuis @angular/core dans task-store.ts et inject dans le composant. La méthode load du slide précédent initialise state avant l’enregistrement de l’effet. Les deux méthodes doivent figurer dans la même classe TaskStore. La lecture doit précéder la première sauvegarde, sinon une liste vide peut écraser les données. Exemple adapté au TP exécuté dans le navigateur. La garde window évite l’accès serveur, mais une application avec rendu serveur et hydratation doit aussi définir sa stratégie de chargement côté navigateur. localStorage ne garantit pas la synchronisation réactive entre onglets et ne convient pas aux secrets. Pour une interface réelle, exposer l’échec de sauvegarde dans l’état de l’application.</a:t>
            </a:r>
          </a:p>
          <a:p>
            <a:endParaRPr/>
          </a:p>
          <a:p>
            <a:r>
              <a:t>Sources</a:t>
            </a:r>
          </a:p>
          <a:p>
            <a:r>
              <a:t>https://angular.dev/guide/signals/effect</a:t>
            </a:r>
          </a:p>
          <a:p>
            <a:r>
              <a:t>https://developer.mozilla.org/en-US/docs/Web/API/Window/localStorage</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Imports du composant : inject, signal et computed depuis @angular/core, TaskStore depuis ./task-store. Relier un champ de recherche avec [value]="query()" et (input)="query.set(search.value)" en utilisant #search. Pour les filtres, des boutons appellent status.set("all"), status.set("todo") ou status.set("done"). La chaîne 9999-12-31 sert de valeur de tri pour les échéances absentes. Les dates du TP sont des chaînes YYYY-MM-DD validées. Le tri opère sur le résultat de filter, donc ne modifie pas le tableau du store. Pour /stats, appliquer les computed total, done, remaining et percent au même store.</a:t>
            </a:r>
          </a:p>
          <a:p>
            <a:endParaRPr/>
          </a:p>
          <a:p>
            <a:r>
              <a:t>Sources</a:t>
            </a:r>
          </a:p>
          <a:p>
            <a:r>
              <a:t>https://angular.dev/api/core/computed</a:t>
            </a:r>
          </a:p>
          <a:p>
            <a:r>
              <a:t>https://angular.dev/guide/templates/control-flow</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Proposition pédagogique compatible avec les consignes existantes, sans changement du barème. Pour OnPush : importer ChangeDetectionStrategy depuis @angular/core et ajouter changeDetection: ChangeDetectionStrategy.OnPush dans @Component. Angular suit les signals lus dans ce template et marque le composant lors des changements. Conserver les entrées immuables aide aussi ce fonctionnement. Pour RxJS : import { toSignal } from @angular/core/rxjs-interop, puis readonly data = toSignal(this.data$, { initialValue: [] }) dans un contexte d’injection. Créer toSignal une fois, réutiliser son résultat et traiter les erreurs du flux. Les Reactive Forms classiques restent utiles ici, aucune API de formulaire expérimentale n’est nécessaire. Vérifier la version de l’environnement de formation avant d’utiliser les exemples.</a:t>
            </a:r>
          </a:p>
          <a:p>
            <a:endParaRPr/>
          </a:p>
          <a:p>
            <a:r>
              <a:t>Sources</a:t>
            </a:r>
          </a:p>
          <a:p>
            <a:r>
              <a:t>https://angular.dev/guide/components</a:t>
            </a:r>
          </a:p>
          <a:p>
            <a:r>
              <a:t>https://angular.dev/best-practices/skipping-subtrees</a:t>
            </a:r>
          </a:p>
          <a:p>
            <a:r>
              <a:t>https://angular.dev/ecosystem/rxjs-interop</a:t>
            </a:r>
          </a:p>
          <a:p>
            <a:r>
              <a:t>https://angular.dev/guide/forms/typed-forms</a:t>
            </a: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Repères pédagogiques</a:t>
            </a:r>
          </a:p>
          <a:p>
            <a:r>
              <a:t>Exercice de synthèse, fondé sur les exigences du TP existant. Vérifier aussi l’édition et la suppression avec confirmation, la navigation sans rechargement et la route /stats. Le test de toggle vérifie le résultat métier et non le détail de mise en œuvre. Un test de formulaire doit rejeter un titre trop court après trim et une échéance passée, accepter une échéance vide. Un test de persistance peut remplacer l’API de stockage par un faux service pour contrôler lecture, écriture et gestion des échecs. Le barème du TP reste celui du support.</a:t>
            </a:r>
          </a:p>
          <a:p>
            <a:endParaRPr/>
          </a:p>
          <a:p>
            <a:r>
              <a:t>Sources</a:t>
            </a:r>
          </a:p>
          <a:p>
            <a:endParaRPr/>
          </a:p>
          <a:p>
            <a:r>
              <a:t>Documentation consultée le 12/10/2026.</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CB1B69-1819-A95A-5FC6-61EDD0EB605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8208C1BA-229D-2483-BD37-9089B89786A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783E0F9F-E876-5890-DC38-434268FF48BB}"/>
              </a:ext>
            </a:extLst>
          </p:cNvPr>
          <p:cNvSpPr>
            <a:spLocks noGrp="1"/>
          </p:cNvSpPr>
          <p:nvPr>
            <p:ph type="dt" sz="half" idx="10"/>
          </p:nvPr>
        </p:nvSpPr>
        <p:spPr/>
        <p:txBody>
          <a:bodyPr/>
          <a:lstStyle/>
          <a:p>
            <a:fld id="{7B3F0989-4962-4157-AAF4-A99CF4AB36A8}" type="datetime1">
              <a:rPr lang="fr-FR" smtClean="0"/>
              <a:t>12/10/2026</a:t>
            </a:fld>
            <a:endParaRPr lang="fr-FR"/>
          </a:p>
        </p:txBody>
      </p:sp>
      <p:sp>
        <p:nvSpPr>
          <p:cNvPr id="5" name="Espace réservé du pied de page 4">
            <a:extLst>
              <a:ext uri="{FF2B5EF4-FFF2-40B4-BE49-F238E27FC236}">
                <a16:creationId xmlns:a16="http://schemas.microsoft.com/office/drawing/2014/main" id="{203C8786-4D6D-184D-CB4B-4F870DA2442A}"/>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86159CED-E64A-BA21-45CB-8EB093F7624D}"/>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9809477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2E1F17A8-806B-987E-7D87-5E37E570E49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BEB43008-08B7-B7C4-EFBC-7D28D6F3F0C9}"/>
              </a:ext>
            </a:extLst>
          </p:cNvPr>
          <p:cNvSpPr>
            <a:spLocks noGrp="1"/>
          </p:cNvSpPr>
          <p:nvPr>
            <p:ph idx="1"/>
          </p:nvPr>
        </p:nvSpPr>
        <p:spPr/>
        <p:txBody>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p>
        </p:txBody>
      </p:sp>
      <p:sp>
        <p:nvSpPr>
          <p:cNvPr id="4" name="Espace réservé de la date 3">
            <a:extLst>
              <a:ext uri="{FF2B5EF4-FFF2-40B4-BE49-F238E27FC236}">
                <a16:creationId xmlns:a16="http://schemas.microsoft.com/office/drawing/2014/main" id="{2A1746A3-F301-CDF1-9959-6A32C32723A8}"/>
              </a:ext>
            </a:extLst>
          </p:cNvPr>
          <p:cNvSpPr>
            <a:spLocks noGrp="1"/>
          </p:cNvSpPr>
          <p:nvPr>
            <p:ph type="dt" sz="half" idx="10"/>
          </p:nvPr>
        </p:nvSpPr>
        <p:spPr/>
        <p:txBody>
          <a:bodyPr/>
          <a:lstStyle/>
          <a:p>
            <a:fld id="{DB0CFCDF-4F9B-4A0A-A368-82A614FB132C}" type="datetime1">
              <a:rPr lang="fr-FR" smtClean="0"/>
              <a:t>12/10/2026</a:t>
            </a:fld>
            <a:endParaRPr lang="fr-FR"/>
          </a:p>
        </p:txBody>
      </p:sp>
      <p:sp>
        <p:nvSpPr>
          <p:cNvPr id="5" name="Espace réservé du pied de page 4">
            <a:extLst>
              <a:ext uri="{FF2B5EF4-FFF2-40B4-BE49-F238E27FC236}">
                <a16:creationId xmlns:a16="http://schemas.microsoft.com/office/drawing/2014/main" id="{C8252945-EF5B-F44C-689F-B4DB52FBCAE6}"/>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1C3EC73-D742-CA6B-2A20-F553DF6FBB84}"/>
              </a:ext>
            </a:extLst>
          </p:cNvPr>
          <p:cNvSpPr>
            <a:spLocks noGrp="1"/>
          </p:cNvSpPr>
          <p:nvPr>
            <p:ph type="sldNum" sz="quarter" idx="12"/>
          </p:nvPr>
        </p:nvSpPr>
        <p:spPr/>
        <p:txBody>
          <a:bodyPr/>
          <a:lstStyle>
            <a:lvl1pPr>
              <a:defRPr sz="2000"/>
            </a:lvl1pPr>
          </a:lstStyle>
          <a:p>
            <a:fld id="{76A0F001-8B3C-415A-8A04-1575C9321C93}" type="slidenum">
              <a:rPr lang="fr-FR" smtClean="0"/>
              <a:pPr/>
              <a:t>‹N°›</a:t>
            </a:fld>
            <a:endParaRPr lang="fr-FR" dirty="0"/>
          </a:p>
        </p:txBody>
      </p:sp>
    </p:spTree>
    <p:extLst>
      <p:ext uri="{BB962C8B-B14F-4D97-AF65-F5344CB8AC3E}">
        <p14:creationId xmlns:p14="http://schemas.microsoft.com/office/powerpoint/2010/main" val="34899390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9325560-F4DF-A42A-879D-D3FC8852486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264A6330-4F69-2ECF-4DE7-67D4A68146F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B31317C5-BCB0-7B84-C6AD-F9C860AFB300}"/>
              </a:ext>
            </a:extLst>
          </p:cNvPr>
          <p:cNvSpPr>
            <a:spLocks noGrp="1"/>
          </p:cNvSpPr>
          <p:nvPr>
            <p:ph type="dt" sz="half" idx="10"/>
          </p:nvPr>
        </p:nvSpPr>
        <p:spPr/>
        <p:txBody>
          <a:bodyPr/>
          <a:lstStyle/>
          <a:p>
            <a:fld id="{FA1D65C2-1471-4FCB-AA39-F2998E067BB9}" type="datetime1">
              <a:rPr lang="fr-FR" smtClean="0"/>
              <a:t>12/10/2026</a:t>
            </a:fld>
            <a:endParaRPr lang="fr-FR"/>
          </a:p>
        </p:txBody>
      </p:sp>
      <p:sp>
        <p:nvSpPr>
          <p:cNvPr id="5" name="Espace réservé du pied de page 4">
            <a:extLst>
              <a:ext uri="{FF2B5EF4-FFF2-40B4-BE49-F238E27FC236}">
                <a16:creationId xmlns:a16="http://schemas.microsoft.com/office/drawing/2014/main" id="{4EF8C988-C9BE-D8F3-DAC4-44DABA2DA973}"/>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2E545D29-914C-64A1-FB40-3FF1D3C1DE52}"/>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90883236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45965DC-6F5F-0DDD-C1ED-DB65653C7D8A}"/>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D5FC4DE8-7F62-962B-29F4-0C2FF771D120}"/>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0C0CC860-D5E0-A77C-E609-D996760542A8}"/>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3C6219E7-ED1B-CDD7-A435-F1F05EE02C3B}"/>
              </a:ext>
            </a:extLst>
          </p:cNvPr>
          <p:cNvSpPr>
            <a:spLocks noGrp="1"/>
          </p:cNvSpPr>
          <p:nvPr>
            <p:ph type="dt" sz="half" idx="10"/>
          </p:nvPr>
        </p:nvSpPr>
        <p:spPr/>
        <p:txBody>
          <a:bodyPr/>
          <a:lstStyle/>
          <a:p>
            <a:fld id="{003CF63E-4093-4E43-A3FE-745B6BDB5625}" type="datetime1">
              <a:rPr lang="fr-FR" smtClean="0"/>
              <a:t>12/10/2026</a:t>
            </a:fld>
            <a:endParaRPr lang="fr-FR"/>
          </a:p>
        </p:txBody>
      </p:sp>
      <p:sp>
        <p:nvSpPr>
          <p:cNvPr id="6" name="Espace réservé du pied de page 5">
            <a:extLst>
              <a:ext uri="{FF2B5EF4-FFF2-40B4-BE49-F238E27FC236}">
                <a16:creationId xmlns:a16="http://schemas.microsoft.com/office/drawing/2014/main" id="{C41E30EC-4352-8C14-91BB-733F4B2467CC}"/>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0085F483-5D46-3736-089E-ADFCF2FD2808}"/>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42436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26F657C-1DD4-9C0D-1B56-075F59BFEFCF}"/>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860EF71-456F-45B5-F53E-163474E59BB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91FF59C-1F14-2B5C-B5D5-6D135D2073D6}"/>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EF72DDAC-E820-6DEB-C0EE-FBED9B54F4B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E6A2F070-9985-F5AF-2866-B95A43F1602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B2C87778-62F7-8DFE-D28F-1176A642F0A1}"/>
              </a:ext>
            </a:extLst>
          </p:cNvPr>
          <p:cNvSpPr>
            <a:spLocks noGrp="1"/>
          </p:cNvSpPr>
          <p:nvPr>
            <p:ph type="dt" sz="half" idx="10"/>
          </p:nvPr>
        </p:nvSpPr>
        <p:spPr/>
        <p:txBody>
          <a:bodyPr/>
          <a:lstStyle/>
          <a:p>
            <a:fld id="{78AE75EA-5A1C-4C8B-9711-CDB22CE61D95}" type="datetime1">
              <a:rPr lang="fr-FR" smtClean="0"/>
              <a:t>12/10/2026</a:t>
            </a:fld>
            <a:endParaRPr lang="fr-FR"/>
          </a:p>
        </p:txBody>
      </p:sp>
      <p:sp>
        <p:nvSpPr>
          <p:cNvPr id="8" name="Espace réservé du pied de page 7">
            <a:extLst>
              <a:ext uri="{FF2B5EF4-FFF2-40B4-BE49-F238E27FC236}">
                <a16:creationId xmlns:a16="http://schemas.microsoft.com/office/drawing/2014/main" id="{B8F28584-CCB5-1934-DA7B-88EB975C8743}"/>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487F36D5-8ADE-4509-D502-A3002AE82B3F}"/>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0867923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426E98D-041A-4C72-703A-AD7717E05196}"/>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1CB14659-12AC-5C71-0783-79CCD2B5E219}"/>
              </a:ext>
            </a:extLst>
          </p:cNvPr>
          <p:cNvSpPr>
            <a:spLocks noGrp="1"/>
          </p:cNvSpPr>
          <p:nvPr>
            <p:ph type="dt" sz="half" idx="10"/>
          </p:nvPr>
        </p:nvSpPr>
        <p:spPr/>
        <p:txBody>
          <a:bodyPr/>
          <a:lstStyle/>
          <a:p>
            <a:fld id="{790A57A0-FA78-4EDF-B929-342EB386DA10}" type="datetime1">
              <a:rPr lang="fr-FR" smtClean="0"/>
              <a:t>12/10/2026</a:t>
            </a:fld>
            <a:endParaRPr lang="fr-FR"/>
          </a:p>
        </p:txBody>
      </p:sp>
      <p:sp>
        <p:nvSpPr>
          <p:cNvPr id="4" name="Espace réservé du pied de page 3">
            <a:extLst>
              <a:ext uri="{FF2B5EF4-FFF2-40B4-BE49-F238E27FC236}">
                <a16:creationId xmlns:a16="http://schemas.microsoft.com/office/drawing/2014/main" id="{F3B2762D-A886-2A22-68B6-BC492D6DDAF8}"/>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B8026497-9166-1899-3298-5BA5EE2207F7}"/>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001612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3142DA8F-4CE5-0875-A9BD-BE78B1EC13D1}"/>
              </a:ext>
            </a:extLst>
          </p:cNvPr>
          <p:cNvSpPr>
            <a:spLocks noGrp="1"/>
          </p:cNvSpPr>
          <p:nvPr>
            <p:ph type="dt" sz="half" idx="10"/>
          </p:nvPr>
        </p:nvSpPr>
        <p:spPr/>
        <p:txBody>
          <a:bodyPr/>
          <a:lstStyle/>
          <a:p>
            <a:fld id="{CE1DFE67-8C30-4319-95C7-562BE9B5C969}" type="datetime1">
              <a:rPr lang="fr-FR" smtClean="0"/>
              <a:t>12/10/2026</a:t>
            </a:fld>
            <a:endParaRPr lang="fr-FR"/>
          </a:p>
        </p:txBody>
      </p:sp>
      <p:sp>
        <p:nvSpPr>
          <p:cNvPr id="3" name="Espace réservé du pied de page 2">
            <a:extLst>
              <a:ext uri="{FF2B5EF4-FFF2-40B4-BE49-F238E27FC236}">
                <a16:creationId xmlns:a16="http://schemas.microsoft.com/office/drawing/2014/main" id="{9A0D3A6A-BDBE-4CFC-B092-B157DF5A886A}"/>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6F6E79E3-EB8C-09DD-5D4A-AAD2F508F750}"/>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4104628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5D282AC4-F9B3-53EE-981A-01D8964D3D5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088F25F4-3E30-D78C-B974-A368D961560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92D39B8-4F21-7B33-8644-604B63CC695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352215E3-D9F4-7C14-A687-66ADC3FD7CBE}"/>
              </a:ext>
            </a:extLst>
          </p:cNvPr>
          <p:cNvSpPr>
            <a:spLocks noGrp="1"/>
          </p:cNvSpPr>
          <p:nvPr>
            <p:ph type="dt" sz="half" idx="10"/>
          </p:nvPr>
        </p:nvSpPr>
        <p:spPr/>
        <p:txBody>
          <a:bodyPr/>
          <a:lstStyle/>
          <a:p>
            <a:fld id="{ABDC6E8B-8D0E-4661-9284-3D47C1D08AD3}" type="datetime1">
              <a:rPr lang="fr-FR" smtClean="0"/>
              <a:t>12/10/2026</a:t>
            </a:fld>
            <a:endParaRPr lang="fr-FR"/>
          </a:p>
        </p:txBody>
      </p:sp>
      <p:sp>
        <p:nvSpPr>
          <p:cNvPr id="6" name="Espace réservé du pied de page 5">
            <a:extLst>
              <a:ext uri="{FF2B5EF4-FFF2-40B4-BE49-F238E27FC236}">
                <a16:creationId xmlns:a16="http://schemas.microsoft.com/office/drawing/2014/main" id="{02926266-4649-4B94-9BD0-EC0186204597}"/>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F1B9C34E-1E5C-90CE-9A89-81E45A605B00}"/>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8588865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356D713-9799-5ACF-CADB-9E15A031881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AAD92206-F66F-CC4B-96E8-AF6FEBD3D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7B88BE67-31B4-610E-88EF-50A2EE2F794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ACFDF3-051A-8AE7-D3A6-B20AE30C143C}"/>
              </a:ext>
            </a:extLst>
          </p:cNvPr>
          <p:cNvSpPr>
            <a:spLocks noGrp="1"/>
          </p:cNvSpPr>
          <p:nvPr>
            <p:ph type="dt" sz="half" idx="10"/>
          </p:nvPr>
        </p:nvSpPr>
        <p:spPr/>
        <p:txBody>
          <a:bodyPr/>
          <a:lstStyle/>
          <a:p>
            <a:fld id="{761A8E3C-1635-423A-B194-0379BD33B60A}" type="datetime1">
              <a:rPr lang="fr-FR" smtClean="0"/>
              <a:t>12/10/2026</a:t>
            </a:fld>
            <a:endParaRPr lang="fr-FR"/>
          </a:p>
        </p:txBody>
      </p:sp>
      <p:sp>
        <p:nvSpPr>
          <p:cNvPr id="6" name="Espace réservé du pied de page 5">
            <a:extLst>
              <a:ext uri="{FF2B5EF4-FFF2-40B4-BE49-F238E27FC236}">
                <a16:creationId xmlns:a16="http://schemas.microsoft.com/office/drawing/2014/main" id="{CE1FC63E-D24B-DA85-2C5C-89DD11C8085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AB3E71DD-837A-27F9-E2EA-E7E93AED57AA}"/>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6861869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71E795-6FAA-F48B-D235-2B314F8069FF}"/>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B5CB5922-AB26-837D-6E2B-39AEDD0EF1AF}"/>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57176474-5311-E248-B1E0-467831E7EA98}"/>
              </a:ext>
            </a:extLst>
          </p:cNvPr>
          <p:cNvSpPr>
            <a:spLocks noGrp="1"/>
          </p:cNvSpPr>
          <p:nvPr>
            <p:ph type="dt" sz="half" idx="10"/>
          </p:nvPr>
        </p:nvSpPr>
        <p:spPr/>
        <p:txBody>
          <a:bodyPr/>
          <a:lstStyle/>
          <a:p>
            <a:fld id="{97F71F75-7F02-4152-8EDD-029231FCDF23}" type="datetime1">
              <a:rPr lang="fr-FR" smtClean="0"/>
              <a:t>12/10/2026</a:t>
            </a:fld>
            <a:endParaRPr lang="fr-FR"/>
          </a:p>
        </p:txBody>
      </p:sp>
      <p:sp>
        <p:nvSpPr>
          <p:cNvPr id="5" name="Espace réservé du pied de page 4">
            <a:extLst>
              <a:ext uri="{FF2B5EF4-FFF2-40B4-BE49-F238E27FC236}">
                <a16:creationId xmlns:a16="http://schemas.microsoft.com/office/drawing/2014/main" id="{1F4FA7BC-D1C1-68F9-347F-ADDE7D5C63BE}"/>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777D2F71-DA2B-D66A-F0F3-C0CEAA1DFEEF}"/>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1674694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09C040C7-4800-6DCB-46A6-F813DEEDB069}"/>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9A640EDD-FD83-2DB9-2707-8A1762DD398B}"/>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CDF24BC1-2C18-52D0-6EDE-2B9603AE1645}"/>
              </a:ext>
            </a:extLst>
          </p:cNvPr>
          <p:cNvSpPr>
            <a:spLocks noGrp="1"/>
          </p:cNvSpPr>
          <p:nvPr>
            <p:ph type="dt" sz="half" idx="10"/>
          </p:nvPr>
        </p:nvSpPr>
        <p:spPr/>
        <p:txBody>
          <a:bodyPr/>
          <a:lstStyle/>
          <a:p>
            <a:fld id="{71B660FB-2164-4253-9636-271EEA7C07DC}" type="datetime1">
              <a:rPr lang="fr-FR" smtClean="0"/>
              <a:t>12/10/2026</a:t>
            </a:fld>
            <a:endParaRPr lang="fr-FR"/>
          </a:p>
        </p:txBody>
      </p:sp>
      <p:sp>
        <p:nvSpPr>
          <p:cNvPr id="5" name="Espace réservé du pied de page 4">
            <a:extLst>
              <a:ext uri="{FF2B5EF4-FFF2-40B4-BE49-F238E27FC236}">
                <a16:creationId xmlns:a16="http://schemas.microsoft.com/office/drawing/2014/main" id="{F95F1706-1185-99E4-AAF7-B0E55FE8789D}"/>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35275625-A83C-0A3D-9B62-05713295017B}"/>
              </a:ext>
            </a:extLst>
          </p:cNvPr>
          <p:cNvSpPr>
            <a:spLocks noGrp="1"/>
          </p:cNvSpPr>
          <p:nvPr>
            <p:ph type="sldNum" sz="quarter" idx="12"/>
          </p:nvPr>
        </p:nvSpPr>
        <p:spPr/>
        <p:txBody>
          <a:bodyPr/>
          <a:lstStyle/>
          <a:p>
            <a:fld id="{76A0F001-8B3C-415A-8A04-1575C9321C93}" type="slidenum">
              <a:rPr lang="fr-FR" smtClean="0"/>
              <a:t>‹N°›</a:t>
            </a:fld>
            <a:endParaRPr lang="fr-FR"/>
          </a:p>
        </p:txBody>
      </p:sp>
    </p:spTree>
    <p:extLst>
      <p:ext uri="{BB962C8B-B14F-4D97-AF65-F5344CB8AC3E}">
        <p14:creationId xmlns:p14="http://schemas.microsoft.com/office/powerpoint/2010/main" val="39768465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85251C8E-AA64-0326-D01D-7F25D5155FF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8EA284E7-114F-654A-5835-E513483F906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6D33C12F-0851-1B61-0AB1-284ECB65F8CE}"/>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3B5A6E4-585A-48BA-83EA-CCA2A245BE88}" type="datetime1">
              <a:rPr lang="fr-FR" smtClean="0"/>
              <a:t>12/10/2026</a:t>
            </a:fld>
            <a:endParaRPr lang="fr-FR"/>
          </a:p>
        </p:txBody>
      </p:sp>
      <p:sp>
        <p:nvSpPr>
          <p:cNvPr id="5" name="Espace réservé du pied de page 4">
            <a:extLst>
              <a:ext uri="{FF2B5EF4-FFF2-40B4-BE49-F238E27FC236}">
                <a16:creationId xmlns:a16="http://schemas.microsoft.com/office/drawing/2014/main" id="{10EF254B-DE94-4DF8-F558-FE81CC5949D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1901FE07-F0E1-0ED9-F8A9-EB13F56896E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A0F001-8B3C-415A-8A04-1575C9321C93}" type="slidenum">
              <a:rPr lang="fr-FR" smtClean="0"/>
              <a:t>‹N°›</a:t>
            </a:fld>
            <a:endParaRPr lang="fr-FR"/>
          </a:p>
        </p:txBody>
      </p:sp>
    </p:spTree>
    <p:extLst>
      <p:ext uri="{BB962C8B-B14F-4D97-AF65-F5344CB8AC3E}">
        <p14:creationId xmlns:p14="http://schemas.microsoft.com/office/powerpoint/2010/main" val="37173698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hyperlink" Target="https://material.angular.dev/" TargetMode="External"/><Relationship Id="rId2" Type="http://schemas.openxmlformats.org/officeDocument/2006/relationships/hyperlink" Target="https://react-spectrum.adobe.com/react-aria/index.html" TargetMode="Externa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3" name="Rectangle 95">
            <a:extLst>
              <a:ext uri="{FF2B5EF4-FFF2-40B4-BE49-F238E27FC236}">
                <a16:creationId xmlns:a16="http://schemas.microsoft.com/office/drawing/2014/main" id="{9B7AD9F6-8CE7-4299-8FC6-328F4DCD3F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re 1">
            <a:extLst>
              <a:ext uri="{FF2B5EF4-FFF2-40B4-BE49-F238E27FC236}">
                <a16:creationId xmlns:a16="http://schemas.microsoft.com/office/drawing/2014/main" id="{8796D15E-8058-F2CB-3543-F5981FFD3F82}"/>
              </a:ext>
            </a:extLst>
          </p:cNvPr>
          <p:cNvSpPr>
            <a:spLocks noGrp="1"/>
          </p:cNvSpPr>
          <p:nvPr>
            <p:ph type="ctrTitle"/>
          </p:nvPr>
        </p:nvSpPr>
        <p:spPr>
          <a:xfrm>
            <a:off x="508883" y="640080"/>
            <a:ext cx="4115469" cy="3566160"/>
          </a:xfrm>
        </p:spPr>
        <p:txBody>
          <a:bodyPr vert="horz" lIns="91440" tIns="45720" rIns="91440" bIns="45720" rtlCol="0" anchor="b">
            <a:normAutofit/>
          </a:bodyPr>
          <a:lstStyle/>
          <a:p>
            <a:pPr algn="l"/>
            <a:r>
              <a:rPr lang="fr-FR" sz="5400" dirty="0"/>
              <a:t>Framework JS</a:t>
            </a:r>
            <a:br>
              <a:rPr lang="fr-FR" sz="5400" dirty="0"/>
            </a:br>
            <a:endParaRPr lang="fr-FR" sz="5400" kern="1200" noProof="0" dirty="0">
              <a:latin typeface="+mj-lt"/>
              <a:ea typeface="+mj-ea"/>
              <a:cs typeface="+mj-cs"/>
            </a:endParaRPr>
          </a:p>
        </p:txBody>
      </p:sp>
      <p:sp>
        <p:nvSpPr>
          <p:cNvPr id="3" name="Sous-titre 2">
            <a:extLst>
              <a:ext uri="{FF2B5EF4-FFF2-40B4-BE49-F238E27FC236}">
                <a16:creationId xmlns:a16="http://schemas.microsoft.com/office/drawing/2014/main" id="{EF01A868-A170-6FE2-1828-85075417DCF7}"/>
              </a:ext>
            </a:extLst>
          </p:cNvPr>
          <p:cNvSpPr>
            <a:spLocks noGrp="1"/>
          </p:cNvSpPr>
          <p:nvPr>
            <p:ph type="subTitle" idx="1"/>
          </p:nvPr>
        </p:nvSpPr>
        <p:spPr>
          <a:xfrm>
            <a:off x="890339" y="4636008"/>
            <a:ext cx="3734014" cy="1572768"/>
          </a:xfrm>
        </p:spPr>
        <p:txBody>
          <a:bodyPr vert="horz" lIns="91440" tIns="45720" rIns="91440" bIns="45720" rtlCol="0">
            <a:normAutofit/>
          </a:bodyPr>
          <a:lstStyle/>
          <a:p>
            <a:pPr algn="l"/>
            <a:r>
              <a:rPr lang="fr-FR" noProof="0" dirty="0"/>
              <a:t>Bruno DERNIER</a:t>
            </a:r>
          </a:p>
          <a:p>
            <a:pPr algn="l"/>
            <a:r>
              <a:rPr lang="fr-FR" noProof="0" dirty="0"/>
              <a:t>Maj 12/10/2026</a:t>
            </a:r>
          </a:p>
          <a:p>
            <a:pPr indent="-228600" algn="l">
              <a:buFont typeface="Arial" panose="020B0604020202020204" pitchFamily="34" charset="0"/>
              <a:buChar char="•"/>
            </a:pPr>
            <a:endParaRPr lang="fr-FR" noProof="0" dirty="0"/>
          </a:p>
        </p:txBody>
      </p:sp>
      <p:sp>
        <p:nvSpPr>
          <p:cNvPr id="104" name="sketchy line">
            <a:extLst>
              <a:ext uri="{FF2B5EF4-FFF2-40B4-BE49-F238E27FC236}">
                <a16:creationId xmlns:a16="http://schemas.microsoft.com/office/drawing/2014/main" id="{F49775AF-8896-43EE-92C6-83497D6DC5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90338" y="4409267"/>
            <a:ext cx="3474720" cy="18288"/>
          </a:xfrm>
          <a:custGeom>
            <a:avLst/>
            <a:gdLst>
              <a:gd name="csX0" fmla="*/ 0 w 3474720"/>
              <a:gd name="csY0" fmla="*/ 0 h 18288"/>
              <a:gd name="csX1" fmla="*/ 694944 w 3474720"/>
              <a:gd name="csY1" fmla="*/ 0 h 18288"/>
              <a:gd name="csX2" fmla="*/ 1355141 w 3474720"/>
              <a:gd name="csY2" fmla="*/ 0 h 18288"/>
              <a:gd name="csX3" fmla="*/ 2015338 w 3474720"/>
              <a:gd name="csY3" fmla="*/ 0 h 18288"/>
              <a:gd name="csX4" fmla="*/ 2779776 w 3474720"/>
              <a:gd name="csY4" fmla="*/ 0 h 18288"/>
              <a:gd name="csX5" fmla="*/ 3474720 w 3474720"/>
              <a:gd name="csY5" fmla="*/ 0 h 18288"/>
              <a:gd name="csX6" fmla="*/ 3474720 w 3474720"/>
              <a:gd name="csY6" fmla="*/ 18288 h 18288"/>
              <a:gd name="csX7" fmla="*/ 2779776 w 3474720"/>
              <a:gd name="csY7" fmla="*/ 18288 h 18288"/>
              <a:gd name="csX8" fmla="*/ 2189074 w 3474720"/>
              <a:gd name="csY8" fmla="*/ 18288 h 18288"/>
              <a:gd name="csX9" fmla="*/ 1528877 w 3474720"/>
              <a:gd name="csY9" fmla="*/ 18288 h 18288"/>
              <a:gd name="csX10" fmla="*/ 868680 w 3474720"/>
              <a:gd name="csY10" fmla="*/ 18288 h 18288"/>
              <a:gd name="csX11" fmla="*/ 0 w 3474720"/>
              <a:gd name="csY11" fmla="*/ 18288 h 18288"/>
              <a:gd name="csX12" fmla="*/ 0 w 347472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474720" h="18288" fill="none" extrusionOk="0">
                <a:moveTo>
                  <a:pt x="0" y="0"/>
                </a:moveTo>
                <a:cubicBezTo>
                  <a:pt x="224454" y="-14544"/>
                  <a:pt x="495407" y="26540"/>
                  <a:pt x="694944" y="0"/>
                </a:cubicBezTo>
                <a:cubicBezTo>
                  <a:pt x="894481" y="-26540"/>
                  <a:pt x="1130063" y="24713"/>
                  <a:pt x="1355141" y="0"/>
                </a:cubicBezTo>
                <a:cubicBezTo>
                  <a:pt x="1580219" y="-24713"/>
                  <a:pt x="1820099" y="26695"/>
                  <a:pt x="2015338" y="0"/>
                </a:cubicBezTo>
                <a:cubicBezTo>
                  <a:pt x="2210577" y="-26695"/>
                  <a:pt x="2402045" y="165"/>
                  <a:pt x="2779776" y="0"/>
                </a:cubicBezTo>
                <a:cubicBezTo>
                  <a:pt x="3157507" y="-165"/>
                  <a:pt x="3286859" y="-15571"/>
                  <a:pt x="3474720" y="0"/>
                </a:cubicBezTo>
                <a:cubicBezTo>
                  <a:pt x="3474286" y="7551"/>
                  <a:pt x="3474253" y="9822"/>
                  <a:pt x="3474720" y="18288"/>
                </a:cubicBezTo>
                <a:cubicBezTo>
                  <a:pt x="3233904" y="29845"/>
                  <a:pt x="2945134" y="-5256"/>
                  <a:pt x="2779776" y="18288"/>
                </a:cubicBezTo>
                <a:cubicBezTo>
                  <a:pt x="2614418" y="41832"/>
                  <a:pt x="2339768" y="22709"/>
                  <a:pt x="2189074" y="18288"/>
                </a:cubicBezTo>
                <a:cubicBezTo>
                  <a:pt x="2038380" y="13867"/>
                  <a:pt x="1817434" y="-4947"/>
                  <a:pt x="1528877" y="18288"/>
                </a:cubicBezTo>
                <a:cubicBezTo>
                  <a:pt x="1240320" y="41523"/>
                  <a:pt x="1042447" y="37198"/>
                  <a:pt x="868680" y="18288"/>
                </a:cubicBezTo>
                <a:cubicBezTo>
                  <a:pt x="694913" y="-622"/>
                  <a:pt x="233232" y="44909"/>
                  <a:pt x="0" y="18288"/>
                </a:cubicBezTo>
                <a:cubicBezTo>
                  <a:pt x="60" y="11696"/>
                  <a:pt x="66" y="3758"/>
                  <a:pt x="0" y="0"/>
                </a:cubicBezTo>
                <a:close/>
              </a:path>
              <a:path w="3474720" h="18288" stroke="0" extrusionOk="0">
                <a:moveTo>
                  <a:pt x="0" y="0"/>
                </a:moveTo>
                <a:cubicBezTo>
                  <a:pt x="202328" y="-14716"/>
                  <a:pt x="332722" y="-11499"/>
                  <a:pt x="625450" y="0"/>
                </a:cubicBezTo>
                <a:cubicBezTo>
                  <a:pt x="918178" y="11499"/>
                  <a:pt x="1096688" y="5123"/>
                  <a:pt x="1389888" y="0"/>
                </a:cubicBezTo>
                <a:cubicBezTo>
                  <a:pt x="1683088" y="-5123"/>
                  <a:pt x="1835981" y="-14038"/>
                  <a:pt x="1980590" y="0"/>
                </a:cubicBezTo>
                <a:cubicBezTo>
                  <a:pt x="2125199" y="14038"/>
                  <a:pt x="2396099" y="-7203"/>
                  <a:pt x="2571293" y="0"/>
                </a:cubicBezTo>
                <a:cubicBezTo>
                  <a:pt x="2746487" y="7203"/>
                  <a:pt x="3041609" y="-12036"/>
                  <a:pt x="3474720" y="0"/>
                </a:cubicBezTo>
                <a:cubicBezTo>
                  <a:pt x="3474638" y="4406"/>
                  <a:pt x="3474631" y="9982"/>
                  <a:pt x="3474720" y="18288"/>
                </a:cubicBezTo>
                <a:cubicBezTo>
                  <a:pt x="3324873" y="21876"/>
                  <a:pt x="3136771" y="12587"/>
                  <a:pt x="2814523" y="18288"/>
                </a:cubicBezTo>
                <a:cubicBezTo>
                  <a:pt x="2492275" y="23989"/>
                  <a:pt x="2294402" y="47111"/>
                  <a:pt x="2154326" y="18288"/>
                </a:cubicBezTo>
                <a:cubicBezTo>
                  <a:pt x="2014250" y="-10535"/>
                  <a:pt x="1820317" y="33903"/>
                  <a:pt x="1494130" y="18288"/>
                </a:cubicBezTo>
                <a:cubicBezTo>
                  <a:pt x="1167943" y="2673"/>
                  <a:pt x="948432" y="14868"/>
                  <a:pt x="729691" y="18288"/>
                </a:cubicBezTo>
                <a:cubicBezTo>
                  <a:pt x="510950" y="21708"/>
                  <a:pt x="264032" y="24354"/>
                  <a:pt x="0" y="18288"/>
                </a:cubicBezTo>
                <a:cubicBezTo>
                  <a:pt x="189" y="14288"/>
                  <a:pt x="-703" y="3747"/>
                  <a:pt x="0" y="0"/>
                </a:cubicBezTo>
                <a:close/>
              </a:path>
            </a:pathLst>
          </a:custGeom>
          <a:solidFill>
            <a:schemeClr val="accent2"/>
          </a:solidFill>
          <a:ln w="44450"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2" name="Picture 28">
            <a:extLst>
              <a:ext uri="{FF2B5EF4-FFF2-40B4-BE49-F238E27FC236}">
                <a16:creationId xmlns:a16="http://schemas.microsoft.com/office/drawing/2014/main" id="{6247203C-0015-0F2A-9CB8-0C66CADD2441}"/>
              </a:ext>
            </a:extLst>
          </p:cNvPr>
          <p:cNvPicPr>
            <a:picLocks noChangeAspect="1"/>
          </p:cNvPicPr>
          <p:nvPr/>
        </p:nvPicPr>
        <p:blipFill rotWithShape="1">
          <a:blip r:embed="rId2"/>
          <a:srcRect t="302"/>
          <a:stretch/>
        </p:blipFill>
        <p:spPr>
          <a:xfrm>
            <a:off x="5311702" y="10"/>
            <a:ext cx="6878775"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150036232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05CBC3C-2E5A-4839-8B9B-2E5A6ADF0F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827FF362-FC97-4BF5-949B-D4ADFA26E4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9268DC1-0011-F649-163D-7319AFC956B1}"/>
              </a:ext>
            </a:extLst>
          </p:cNvPr>
          <p:cNvSpPr>
            <a:spLocks noGrp="1"/>
          </p:cNvSpPr>
          <p:nvPr>
            <p:ph type="title"/>
          </p:nvPr>
        </p:nvSpPr>
        <p:spPr>
          <a:xfrm>
            <a:off x="265724" y="673770"/>
            <a:ext cx="4220012" cy="2414488"/>
          </a:xfrm>
        </p:spPr>
        <p:txBody>
          <a:bodyPr anchor="t">
            <a:normAutofit/>
          </a:bodyPr>
          <a:lstStyle/>
          <a:p>
            <a:r>
              <a:rPr lang="fr-FR" sz="5400" dirty="0">
                <a:solidFill>
                  <a:srgbClr val="FFFFFF"/>
                </a:solidFill>
              </a:rPr>
              <a:t>Déroulé du module Framework JS</a:t>
            </a:r>
            <a:endParaRPr lang="fr-FR" sz="5400" noProof="0" dirty="0">
              <a:solidFill>
                <a:srgbClr val="FFFFFF"/>
              </a:solidFill>
            </a:endParaRPr>
          </a:p>
        </p:txBody>
      </p:sp>
      <p:sp>
        <p:nvSpPr>
          <p:cNvPr id="3" name="Espace réservé du contenu 2">
            <a:extLst>
              <a:ext uri="{FF2B5EF4-FFF2-40B4-BE49-F238E27FC236}">
                <a16:creationId xmlns:a16="http://schemas.microsoft.com/office/drawing/2014/main" id="{91112BD8-8109-F631-274A-CC275350A94C}"/>
              </a:ext>
            </a:extLst>
          </p:cNvPr>
          <p:cNvSpPr>
            <a:spLocks noGrp="1"/>
          </p:cNvSpPr>
          <p:nvPr>
            <p:ph idx="1"/>
          </p:nvPr>
        </p:nvSpPr>
        <p:spPr>
          <a:xfrm>
            <a:off x="5854538" y="1924190"/>
            <a:ext cx="5722113" cy="2414488"/>
          </a:xfrm>
        </p:spPr>
        <p:txBody>
          <a:bodyPr>
            <a:normAutofit lnSpcReduction="10000"/>
          </a:bodyPr>
          <a:lstStyle/>
          <a:p>
            <a:pPr marL="0" indent="0">
              <a:buNone/>
            </a:pPr>
            <a:r>
              <a:rPr lang="fr-FR" sz="2000" b="1" noProof="0" dirty="0">
                <a:latin typeface="Arial" panose="020B0604020202020204" pitchFamily="34" charset="0"/>
                <a:cs typeface="Arial" panose="020B0604020202020204" pitchFamily="34" charset="0"/>
              </a:rPr>
              <a:t>Composants, interactivité</a:t>
            </a:r>
          </a:p>
          <a:p>
            <a:pPr marL="0" indent="0">
              <a:buNone/>
            </a:pPr>
            <a:endParaRPr lang="fr-FR" sz="2000" b="1" noProof="0" dirty="0">
              <a:latin typeface="Arial" panose="020B0604020202020204" pitchFamily="34" charset="0"/>
              <a:cs typeface="Arial" panose="020B0604020202020204" pitchFamily="34" charset="0"/>
            </a:endParaRPr>
          </a:p>
          <a:p>
            <a:pPr>
              <a:buFont typeface="Wingdings" panose="05000000000000000000" pitchFamily="2" charset="2"/>
              <a:buChar char="ü"/>
            </a:pPr>
            <a:r>
              <a:rPr lang="fr-FR" sz="1600" noProof="0" dirty="0">
                <a:latin typeface="Arial" panose="020B0604020202020204" pitchFamily="34" charset="0"/>
                <a:cs typeface="Arial" panose="020B0604020202020204" pitchFamily="34" charset="0"/>
              </a:rPr>
              <a:t>Modèle de composants (Fonctionnels, </a:t>
            </a:r>
            <a:r>
              <a:rPr lang="fr-FR" sz="1600" noProof="0" dirty="0" err="1">
                <a:latin typeface="Arial" panose="020B0604020202020204" pitchFamily="34" charset="0"/>
                <a:cs typeface="Arial" panose="020B0604020202020204" pitchFamily="34" charset="0"/>
              </a:rPr>
              <a:t>templates</a:t>
            </a:r>
            <a:r>
              <a:rPr lang="fr-FR" sz="1600" noProof="0" dirty="0">
                <a:latin typeface="Arial" panose="020B0604020202020204" pitchFamily="34" charset="0"/>
                <a:cs typeface="Arial" panose="020B0604020202020204" pitchFamily="34" charset="0"/>
              </a:rPr>
              <a:t>, classes)</a:t>
            </a:r>
          </a:p>
          <a:p>
            <a:pPr>
              <a:buFont typeface="Wingdings" panose="05000000000000000000" pitchFamily="2" charset="2"/>
              <a:buChar char="ü"/>
            </a:pPr>
            <a:r>
              <a:rPr lang="fr-FR" sz="1600" dirty="0">
                <a:latin typeface="Arial" panose="020B0604020202020204" pitchFamily="34" charset="0"/>
                <a:cs typeface="Arial" panose="020B0604020202020204" pitchFamily="34" charset="0"/>
              </a:rPr>
              <a:t>Gestion des évènements (clics, formulaires, …)</a:t>
            </a:r>
          </a:p>
          <a:p>
            <a:pPr>
              <a:buFont typeface="Wingdings" panose="05000000000000000000" pitchFamily="2" charset="2"/>
              <a:buChar char="ü"/>
            </a:pPr>
            <a:r>
              <a:rPr lang="fr-FR" sz="1600" noProof="0" dirty="0">
                <a:latin typeface="Arial" panose="020B0604020202020204" pitchFamily="34" charset="0"/>
                <a:cs typeface="Arial" panose="020B0604020202020204" pitchFamily="34" charset="0"/>
              </a:rPr>
              <a:t>Liaison de données (one-</a:t>
            </a:r>
            <a:r>
              <a:rPr lang="fr-FR" sz="1600" noProof="0" dirty="0" err="1">
                <a:latin typeface="Arial" panose="020B0604020202020204" pitchFamily="34" charset="0"/>
                <a:cs typeface="Arial" panose="020B0604020202020204" pitchFamily="34" charset="0"/>
              </a:rPr>
              <a:t>way</a:t>
            </a:r>
            <a:r>
              <a:rPr lang="fr-FR" sz="1600" noProof="0" dirty="0">
                <a:latin typeface="Arial" panose="020B0604020202020204" pitchFamily="34" charset="0"/>
                <a:cs typeface="Arial" panose="020B0604020202020204" pitchFamily="34" charset="0"/>
              </a:rPr>
              <a:t>, </a:t>
            </a:r>
            <a:r>
              <a:rPr lang="fr-FR" sz="1600" noProof="0" dirty="0" err="1">
                <a:latin typeface="Arial" panose="020B0604020202020204" pitchFamily="34" charset="0"/>
                <a:cs typeface="Arial" panose="020B0604020202020204" pitchFamily="34" charset="0"/>
              </a:rPr>
              <a:t>two-way</a:t>
            </a:r>
            <a:r>
              <a:rPr lang="fr-FR" sz="1600" noProof="0" dirty="0">
                <a:latin typeface="Arial" panose="020B0604020202020204" pitchFamily="34" charset="0"/>
                <a:cs typeface="Arial" panose="020B0604020202020204" pitchFamily="34" charset="0"/>
              </a:rPr>
              <a:t> binding)</a:t>
            </a:r>
          </a:p>
          <a:p>
            <a:pPr>
              <a:buFont typeface="Wingdings" panose="05000000000000000000" pitchFamily="2" charset="2"/>
              <a:buChar char="ü"/>
            </a:pPr>
            <a:r>
              <a:rPr lang="fr-FR" sz="1600" dirty="0">
                <a:latin typeface="Arial" panose="020B0604020202020204" pitchFamily="34" charset="0"/>
                <a:cs typeface="Arial" panose="020B0604020202020204" pitchFamily="34" charset="0"/>
              </a:rPr>
              <a:t>Persistance des données</a:t>
            </a:r>
          </a:p>
          <a:p>
            <a:pPr>
              <a:buFont typeface="Wingdings" panose="05000000000000000000" pitchFamily="2" charset="2"/>
              <a:buChar char="ü"/>
            </a:pPr>
            <a:r>
              <a:rPr lang="fr-FR" sz="1600" noProof="0" dirty="0">
                <a:latin typeface="Arial" panose="020B0604020202020204" pitchFamily="34" charset="0"/>
                <a:cs typeface="Arial" panose="020B0604020202020204" pitchFamily="34" charset="0"/>
              </a:rPr>
              <a:t>TP 2 : To-Do List</a:t>
            </a:r>
          </a:p>
        </p:txBody>
      </p:sp>
      <p:sp>
        <p:nvSpPr>
          <p:cNvPr id="4" name="Espace réservé du numéro de diapositive 3">
            <a:extLst>
              <a:ext uri="{FF2B5EF4-FFF2-40B4-BE49-F238E27FC236}">
                <a16:creationId xmlns:a16="http://schemas.microsoft.com/office/drawing/2014/main" id="{6F1D68A7-3952-BEF6-CA6B-8BA0BC387E72}"/>
              </a:ext>
            </a:extLst>
          </p:cNvPr>
          <p:cNvSpPr>
            <a:spLocks noGrp="1"/>
          </p:cNvSpPr>
          <p:nvPr>
            <p:ph type="sldNum" sz="quarter" idx="12"/>
          </p:nvPr>
        </p:nvSpPr>
        <p:spPr/>
        <p:txBody>
          <a:bodyPr/>
          <a:lstStyle/>
          <a:p>
            <a:fld id="{76A0F001-8B3C-415A-8A04-1575C9321C93}" type="slidenum">
              <a:rPr lang="fr-FR" smtClean="0"/>
              <a:t>2</a:t>
            </a:fld>
            <a:endParaRPr lang="fr-FR"/>
          </a:p>
        </p:txBody>
      </p:sp>
    </p:spTree>
    <p:extLst>
      <p:ext uri="{BB962C8B-B14F-4D97-AF65-F5344CB8AC3E}">
        <p14:creationId xmlns:p14="http://schemas.microsoft.com/office/powerpoint/2010/main" val="37749220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83C479C-B9B5-C400-AFF9-9250BAAF52D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2FBFD5F2-5AC0-1C7B-1F8C-800B9E1E6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8D5B3EDD-B27F-3B34-0DA7-6BD2D4C00B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AD72EAD-AC66-C83A-63B3-97A58462711B}"/>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CF6E82B3-5859-A588-A093-3253A50B0CB6}"/>
              </a:ext>
            </a:extLst>
          </p:cNvPr>
          <p:cNvSpPr>
            <a:spLocks noGrp="1" noChangeArrowheads="1"/>
          </p:cNvSpPr>
          <p:nvPr>
            <p:ph idx="1"/>
          </p:nvPr>
        </p:nvSpPr>
        <p:spPr bwMode="auto">
          <a:xfrm>
            <a:off x="5947576" y="1490513"/>
            <a:ext cx="6019138" cy="31954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Introduction aux composants</a:t>
            </a:r>
            <a:endParaRPr kumimoji="0" lang="fr-FR" altLang="fr-FR" sz="2400" b="1" i="0" u="none" strike="noStrike" cap="none" normalizeH="0" baseline="0" dirty="0">
              <a:ln>
                <a:noFill/>
              </a:ln>
              <a:solidFill>
                <a:schemeClr val="tx1"/>
              </a:solidFill>
              <a:effectLst/>
              <a:latin typeface="Arial" panose="020B0604020202020204" pitchFamily="34" charset="0"/>
            </a:endParaRPr>
          </a:p>
          <a:p>
            <a:r>
              <a:rPr lang="fr-FR" sz="1400" dirty="0"/>
              <a:t>Un composant est une brique de base d’une application frontend moderne.</a:t>
            </a:r>
          </a:p>
          <a:p>
            <a:r>
              <a:rPr lang="fr-FR" sz="1400" dirty="0"/>
              <a:t>Chaque composant :</a:t>
            </a:r>
          </a:p>
          <a:p>
            <a:pPr lvl="1"/>
            <a:r>
              <a:rPr lang="fr-FR" sz="1400" dirty="0"/>
              <a:t>Définit une </a:t>
            </a:r>
            <a:r>
              <a:rPr lang="fr-FR" sz="1400" b="1" dirty="0"/>
              <a:t>logique</a:t>
            </a:r>
            <a:r>
              <a:rPr lang="fr-FR" sz="1400" dirty="0"/>
              <a:t> (classe/fonction).</a:t>
            </a:r>
          </a:p>
          <a:p>
            <a:pPr lvl="1"/>
            <a:r>
              <a:rPr lang="fr-FR" sz="1400" dirty="0"/>
              <a:t>Expose des </a:t>
            </a:r>
            <a:r>
              <a:rPr lang="fr-FR" sz="1400" b="1" dirty="0"/>
              <a:t>propriétés</a:t>
            </a:r>
            <a:r>
              <a:rPr lang="fr-FR" sz="1400" dirty="0"/>
              <a:t> et peut gérer un </a:t>
            </a:r>
            <a:r>
              <a:rPr lang="fr-FR" sz="1400" b="1" dirty="0"/>
              <a:t>état interne</a:t>
            </a:r>
            <a:r>
              <a:rPr lang="fr-FR" sz="1400" dirty="0"/>
              <a:t>.</a:t>
            </a:r>
          </a:p>
          <a:p>
            <a:pPr lvl="1"/>
            <a:r>
              <a:rPr lang="fr-FR" sz="1400" dirty="0"/>
              <a:t>Rend une </a:t>
            </a:r>
            <a:r>
              <a:rPr lang="fr-FR" sz="1400" b="1" dirty="0"/>
              <a:t>interface utilisateur</a:t>
            </a:r>
            <a:r>
              <a:rPr lang="fr-FR" sz="1400" dirty="0"/>
              <a:t>.</a:t>
            </a:r>
          </a:p>
          <a:p>
            <a:r>
              <a:rPr lang="fr-FR" sz="1400" dirty="0"/>
              <a:t>Utilisé à la fois en </a:t>
            </a:r>
            <a:r>
              <a:rPr lang="fr-FR" sz="1400" b="1" dirty="0" err="1"/>
              <a:t>React</a:t>
            </a:r>
            <a:r>
              <a:rPr lang="fr-FR" sz="1400" dirty="0"/>
              <a:t> et en </a:t>
            </a:r>
            <a:r>
              <a:rPr lang="fr-FR" sz="1400" b="1" dirty="0" err="1"/>
              <a:t>Angular</a:t>
            </a:r>
            <a:r>
              <a:rPr lang="fr-FR" sz="1400" dirty="0"/>
              <a:t>.</a:t>
            </a:r>
          </a:p>
          <a:p>
            <a:pPr marL="0" indent="0" eaLnBrk="0" fontAlgn="base" hangingPunct="0">
              <a:lnSpc>
                <a:spcPct val="200000"/>
              </a:lnSpc>
              <a:spcBef>
                <a:spcPct val="0"/>
              </a:spcBef>
              <a:spcAft>
                <a:spcPct val="0"/>
              </a:spcAft>
              <a:buNone/>
            </a:pP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7D87245D-A74A-78AE-8ECA-B27F2307FD4C}"/>
              </a:ext>
            </a:extLst>
          </p:cNvPr>
          <p:cNvSpPr>
            <a:spLocks noGrp="1"/>
          </p:cNvSpPr>
          <p:nvPr>
            <p:ph type="sldNum" sz="quarter" idx="12"/>
          </p:nvPr>
        </p:nvSpPr>
        <p:spPr/>
        <p:txBody>
          <a:bodyPr/>
          <a:lstStyle/>
          <a:p>
            <a:fld id="{76A0F001-8B3C-415A-8A04-1575C9321C93}" type="slidenum">
              <a:rPr lang="fr-FR" smtClean="0"/>
              <a:t>3</a:t>
            </a:fld>
            <a:endParaRPr lang="fr-FR"/>
          </a:p>
        </p:txBody>
      </p:sp>
    </p:spTree>
    <p:extLst>
      <p:ext uri="{BB962C8B-B14F-4D97-AF65-F5344CB8AC3E}">
        <p14:creationId xmlns:p14="http://schemas.microsoft.com/office/powerpoint/2010/main" val="2246313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98474F1-4A37-B463-5500-56B975BEFB62}"/>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21F25BB0-2516-B2F4-374E-2ED1F97746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108B5E07-6C71-4F06-43D7-8CEB40633F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DDFBDB7B-233B-BAFB-C72D-E41B8ED8D690}"/>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2143A7DC-14FD-C6D3-2365-F7DB952AEA06}"/>
              </a:ext>
            </a:extLst>
          </p:cNvPr>
          <p:cNvSpPr>
            <a:spLocks noGrp="1" noChangeArrowheads="1"/>
          </p:cNvSpPr>
          <p:nvPr>
            <p:ph idx="1"/>
          </p:nvPr>
        </p:nvSpPr>
        <p:spPr bwMode="auto">
          <a:xfrm>
            <a:off x="5940802" y="152400"/>
            <a:ext cx="6019138" cy="6540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140000"/>
              </a:lnSpc>
              <a:spcBef>
                <a:spcPct val="0"/>
              </a:spcBef>
              <a:spcAft>
                <a:spcPct val="0"/>
              </a:spcAft>
              <a:buNone/>
            </a:pPr>
            <a:r>
              <a:rPr lang="fr-FR" altLang="fr-FR" sz="2400" dirty="0">
                <a:latin typeface="Arial" panose="020B0604020202020204" pitchFamily="34" charset="0"/>
              </a:rPr>
              <a:t>Fonctions et classes dans React</a:t>
            </a:r>
          </a:p>
          <a:p>
            <a:pPr marL="0" indent="0" eaLnBrk="0" fontAlgn="base" hangingPunct="0">
              <a:lnSpc>
                <a:spcPct val="200000"/>
              </a:lnSpc>
              <a:spcBef>
                <a:spcPct val="0"/>
              </a:spcBef>
              <a:spcAft>
                <a:spcPct val="0"/>
              </a:spcAft>
              <a:buNone/>
            </a:pPr>
            <a:r>
              <a:rPr lang="fr-FR" sz="1800" b="1" dirty="0"/>
              <a:t>Composants fonctionnels (</a:t>
            </a:r>
            <a:r>
              <a:rPr lang="fr-FR" sz="1800" b="1" dirty="0" err="1"/>
              <a:t>React</a:t>
            </a:r>
            <a:r>
              <a:rPr lang="fr-FR" sz="1800" b="1" dirty="0"/>
              <a:t>)</a:t>
            </a:r>
          </a:p>
          <a:p>
            <a:pPr>
              <a:lnSpc>
                <a:spcPts val="1425"/>
              </a:lnSpc>
              <a:buNone/>
            </a:pPr>
            <a:r>
              <a:rPr lang="fr-FR" sz="1200" b="0" dirty="0" err="1">
                <a:solidFill>
                  <a:srgbClr val="1967B3"/>
                </a:solidFill>
                <a:effectLst/>
                <a:latin typeface="Consolas" panose="020B0609020204030204" pitchFamily="49" charset="0"/>
              </a:rPr>
              <a:t>function</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Welcome</a:t>
            </a:r>
            <a:r>
              <a:rPr lang="fr-FR" sz="1200" b="0" dirty="0">
                <a:solidFill>
                  <a:srgbClr val="344054"/>
                </a:solidFill>
                <a:effectLst/>
                <a:latin typeface="Consolas" panose="020B0609020204030204" pitchFamily="49" charset="0"/>
              </a:rPr>
              <a:t>(</a:t>
            </a:r>
            <a:r>
              <a:rPr lang="fr-FR" sz="1200" b="0" dirty="0" err="1">
                <a:solidFill>
                  <a:srgbClr val="005A9C"/>
                </a:solidFill>
                <a:effectLst/>
                <a:latin typeface="Consolas" panose="020B0609020204030204" pitchFamily="49" charset="0"/>
              </a:rPr>
              <a:t>props</a:t>
            </a:r>
            <a:r>
              <a:rPr lang="fr-FR" sz="1200" b="0" dirty="0">
                <a:solidFill>
                  <a:srgbClr val="344054"/>
                </a:solidFill>
                <a:effectLst/>
                <a:latin typeface="Consolas" panose="020B0609020204030204" pitchFamily="49" charset="0"/>
              </a:rPr>
              <a:t>) {</a:t>
            </a:r>
          </a:p>
          <a:p>
            <a:pPr>
              <a:lnSpc>
                <a:spcPts val="1425"/>
              </a:lnSpc>
              <a:buNone/>
            </a:pPr>
            <a:r>
              <a:rPr lang="fr-FR" sz="1200" b="0" dirty="0">
                <a:solidFill>
                  <a:srgbClr val="344054"/>
                </a:solidFill>
                <a:effectLst/>
                <a:latin typeface="Consolas" panose="020B0609020204030204" pitchFamily="49" charset="0"/>
              </a:rPr>
              <a:t>  </a:t>
            </a:r>
            <a:r>
              <a:rPr lang="fr-FR" sz="1200" b="0" dirty="0">
                <a:solidFill>
                  <a:srgbClr val="814193"/>
                </a:solidFill>
                <a:effectLst/>
                <a:latin typeface="Consolas" panose="020B0609020204030204" pitchFamily="49" charset="0"/>
              </a:rPr>
              <a:t>return</a:t>
            </a:r>
            <a:r>
              <a:rPr lang="fr-FR" sz="1200" b="0" dirty="0">
                <a:solidFill>
                  <a:srgbClr val="344054"/>
                </a:solidFill>
                <a:effectLst/>
                <a:latin typeface="Consolas" panose="020B0609020204030204" pitchFamily="49" charset="0"/>
              </a:rPr>
              <a:t> </a:t>
            </a:r>
            <a:r>
              <a:rPr lang="fr-FR" sz="1200" b="0" dirty="0">
                <a:solidFill>
                  <a:srgbClr val="475467"/>
                </a:solidFill>
                <a:effectLst/>
                <a:latin typeface="Consolas" panose="020B0609020204030204" pitchFamily="49" charset="0"/>
              </a:rPr>
              <a:t>&lt;</a:t>
            </a:r>
            <a:r>
              <a:rPr lang="fr-FR" sz="1200" b="0" dirty="0">
                <a:solidFill>
                  <a:srgbClr val="1967B3"/>
                </a:solidFill>
                <a:effectLst/>
                <a:latin typeface="Consolas" panose="020B0609020204030204" pitchFamily="49" charset="0"/>
              </a:rPr>
              <a:t>h1</a:t>
            </a:r>
            <a:r>
              <a:rPr lang="fr-FR" sz="1200" b="0" dirty="0">
                <a:solidFill>
                  <a:srgbClr val="475467"/>
                </a:solidFill>
                <a:effectLst/>
                <a:latin typeface="Consolas" panose="020B0609020204030204" pitchFamily="49" charset="0"/>
              </a:rPr>
              <a:t>&gt;</a:t>
            </a:r>
            <a:r>
              <a:rPr lang="fr-FR" sz="1200" b="0" dirty="0">
                <a:solidFill>
                  <a:srgbClr val="344054"/>
                </a:solidFill>
                <a:effectLst/>
                <a:latin typeface="Consolas" panose="020B0609020204030204" pitchFamily="49" charset="0"/>
              </a:rPr>
              <a:t>Bonjour </a:t>
            </a:r>
            <a:r>
              <a:rPr lang="fr-FR" sz="1200" b="0" dirty="0">
                <a:solidFill>
                  <a:srgbClr val="1967B3"/>
                </a:solidFill>
                <a:effectLst/>
                <a:latin typeface="Consolas" panose="020B0609020204030204" pitchFamily="49" charset="0"/>
              </a:rPr>
              <a:t>{</a:t>
            </a:r>
            <a:r>
              <a:rPr lang="fr-FR" sz="1200" b="0" dirty="0">
                <a:solidFill>
                  <a:srgbClr val="005A9C"/>
                </a:solidFill>
                <a:effectLst/>
                <a:latin typeface="Consolas" panose="020B0609020204030204" pitchFamily="49" charset="0"/>
              </a:rPr>
              <a:t>props</a:t>
            </a:r>
            <a:r>
              <a:rPr lang="fr-FR" sz="1200" b="0" dirty="0">
                <a:solidFill>
                  <a:srgbClr val="475467"/>
                </a:solidFill>
                <a:effectLst/>
                <a:latin typeface="Consolas" panose="020B0609020204030204" pitchFamily="49" charset="0"/>
              </a:rPr>
              <a:t>.</a:t>
            </a:r>
            <a:r>
              <a:rPr lang="fr-FR" sz="1200" b="0" dirty="0">
                <a:solidFill>
                  <a:srgbClr val="005A9C"/>
                </a:solidFill>
                <a:effectLst/>
                <a:latin typeface="Consolas" panose="020B0609020204030204" pitchFamily="49" charset="0"/>
              </a:rPr>
              <a:t>name</a:t>
            </a:r>
            <a:r>
              <a:rPr lang="fr-FR" sz="1200" b="0" dirty="0">
                <a:solidFill>
                  <a:srgbClr val="1967B3"/>
                </a:solidFill>
                <a:effectLst/>
                <a:latin typeface="Consolas" panose="020B0609020204030204" pitchFamily="49" charset="0"/>
              </a:rPr>
              <a:t>}</a:t>
            </a:r>
            <a:r>
              <a:rPr lang="fr-FR" sz="1200" b="0" dirty="0">
                <a:solidFill>
                  <a:srgbClr val="475467"/>
                </a:solidFill>
                <a:effectLst/>
                <a:latin typeface="Consolas" panose="020B0609020204030204" pitchFamily="49" charset="0"/>
              </a:rPr>
              <a:t>&lt;/</a:t>
            </a:r>
            <a:r>
              <a:rPr lang="fr-FR" sz="1200" b="0" dirty="0">
                <a:solidFill>
                  <a:srgbClr val="1967B3"/>
                </a:solidFill>
                <a:effectLst/>
                <a:latin typeface="Consolas" panose="020B0609020204030204" pitchFamily="49" charset="0"/>
              </a:rPr>
              <a:t>h1</a:t>
            </a:r>
            <a:r>
              <a:rPr lang="fr-FR" sz="1200" b="0" dirty="0">
                <a:solidFill>
                  <a:srgbClr val="475467"/>
                </a:solidFill>
                <a:effectLst/>
                <a:latin typeface="Consolas" panose="020B0609020204030204" pitchFamily="49" charset="0"/>
              </a:rPr>
              <a:t>&gt;</a:t>
            </a:r>
            <a:r>
              <a:rPr lang="fr-FR" sz="1200" b="0" dirty="0">
                <a:solidFill>
                  <a:srgbClr val="344054"/>
                </a:solidFill>
                <a:effectLst/>
                <a:latin typeface="Consolas" panose="020B0609020204030204" pitchFamily="49" charset="0"/>
              </a:rPr>
              <a:t>;</a:t>
            </a:r>
          </a:p>
          <a:p>
            <a:pPr>
              <a:lnSpc>
                <a:spcPts val="1425"/>
              </a:lnSpc>
              <a:buNone/>
            </a:pPr>
            <a:r>
              <a:rPr lang="fr-FR" sz="1200" b="0" dirty="0">
                <a:solidFill>
                  <a:srgbClr val="344054"/>
                </a:solidFill>
                <a:effectLst/>
                <a:latin typeface="Consolas" panose="020B0609020204030204" pitchFamily="49" charset="0"/>
              </a:rPr>
              <a:t>}</a:t>
            </a:r>
            <a:endParaRPr kumimoji="0" lang="fr-FR" altLang="fr-FR" sz="1800" b="1" i="0" u="none" strike="noStrike" cap="none" normalizeH="0" baseline="0" dirty="0">
              <a:ln>
                <a:noFill/>
              </a:ln>
              <a:solidFill>
                <a:schemeClr val="tx1"/>
              </a:solidFill>
              <a:effectLst/>
              <a:latin typeface="Arial" panose="020B0604020202020204" pitchFamily="34" charset="0"/>
            </a:endParaRPr>
          </a:p>
          <a:p>
            <a:r>
              <a:rPr lang="fr-FR" sz="1400" dirty="0"/>
              <a:t>Peut utiliser des </a:t>
            </a:r>
            <a:r>
              <a:rPr lang="fr-FR" sz="1400" b="1" dirty="0" err="1"/>
              <a:t>hooks</a:t>
            </a:r>
            <a:r>
              <a:rPr lang="fr-FR" sz="1400" dirty="0"/>
              <a:t> pour gérer l’état et les effets (</a:t>
            </a:r>
            <a:r>
              <a:rPr lang="fr-FR" sz="1400" dirty="0" err="1"/>
              <a:t>useState</a:t>
            </a:r>
            <a:r>
              <a:rPr lang="fr-FR" sz="1400" dirty="0"/>
              <a:t>, </a:t>
            </a:r>
            <a:r>
              <a:rPr lang="fr-FR" sz="1400" dirty="0" err="1"/>
              <a:t>useEffect</a:t>
            </a:r>
            <a:r>
              <a:rPr lang="fr-FR" sz="1400" dirty="0"/>
              <a:t>).</a:t>
            </a:r>
          </a:p>
          <a:p>
            <a:r>
              <a:rPr lang="fr-FR" sz="1400" dirty="0"/>
              <a:t>Approche recommandée pour les nouveaux composants.</a:t>
            </a:r>
          </a:p>
          <a:p>
            <a:endParaRPr kumimoji="0" lang="fr-FR" altLang="fr-FR" sz="1400" b="1" i="0" u="none" strike="noStrike" cap="none" normalizeH="0" baseline="0" dirty="0">
              <a:ln>
                <a:noFill/>
              </a:ln>
              <a:solidFill>
                <a:schemeClr val="tx1"/>
              </a:solidFill>
              <a:effectLst/>
              <a:latin typeface="Arial" panose="020B0604020202020204" pitchFamily="34" charset="0"/>
            </a:endParaRPr>
          </a:p>
          <a:p>
            <a:pPr marL="0" indent="0">
              <a:buNone/>
            </a:pPr>
            <a:r>
              <a:rPr lang="fr-FR" sz="1800" b="1" dirty="0"/>
              <a:t>Composants classes (</a:t>
            </a:r>
            <a:r>
              <a:rPr lang="fr-FR" sz="1800" b="1" dirty="0" err="1"/>
              <a:t>React</a:t>
            </a:r>
            <a:r>
              <a:rPr lang="fr-FR" sz="1800" b="1" dirty="0"/>
              <a:t>)</a:t>
            </a:r>
          </a:p>
          <a:p>
            <a:pPr>
              <a:lnSpc>
                <a:spcPts val="1425"/>
              </a:lnSpc>
              <a:buNone/>
            </a:pPr>
            <a:r>
              <a:rPr lang="fr-FR" sz="1200" b="0" dirty="0">
                <a:solidFill>
                  <a:srgbClr val="1967B3"/>
                </a:solidFill>
                <a:effectLst/>
                <a:latin typeface="Consolas" panose="020B0609020204030204" pitchFamily="49" charset="0"/>
              </a:rPr>
              <a:t>class</a:t>
            </a:r>
            <a:r>
              <a:rPr lang="fr-FR" sz="1200" b="0" dirty="0">
                <a:solidFill>
                  <a:srgbClr val="344054"/>
                </a:solidFill>
                <a:effectLst/>
                <a:latin typeface="Consolas" panose="020B0609020204030204" pitchFamily="49" charset="0"/>
              </a:rPr>
              <a:t> </a:t>
            </a:r>
            <a:r>
              <a:rPr lang="fr-FR" sz="1200" b="0" dirty="0" err="1">
                <a:solidFill>
                  <a:srgbClr val="007A68"/>
                </a:solidFill>
                <a:effectLst/>
                <a:latin typeface="Consolas" panose="020B0609020204030204" pitchFamily="49" charset="0"/>
              </a:rPr>
              <a:t>Welcome</a:t>
            </a:r>
            <a:r>
              <a:rPr lang="fr-FR" sz="1200" b="0" dirty="0">
                <a:solidFill>
                  <a:srgbClr val="344054"/>
                </a:solidFill>
                <a:effectLst/>
                <a:latin typeface="Consolas" panose="020B0609020204030204" pitchFamily="49" charset="0"/>
              </a:rPr>
              <a:t> </a:t>
            </a:r>
            <a:r>
              <a:rPr lang="fr-FR" sz="1200" b="0" dirty="0" err="1">
                <a:solidFill>
                  <a:srgbClr val="1967B3"/>
                </a:solidFill>
                <a:effectLst/>
                <a:latin typeface="Consolas" panose="020B0609020204030204" pitchFamily="49" charset="0"/>
              </a:rPr>
              <a:t>extends</a:t>
            </a:r>
            <a:r>
              <a:rPr lang="fr-FR" sz="1200" b="0" dirty="0">
                <a:solidFill>
                  <a:srgbClr val="344054"/>
                </a:solidFill>
                <a:effectLst/>
                <a:latin typeface="Consolas" panose="020B0609020204030204" pitchFamily="49" charset="0"/>
              </a:rPr>
              <a:t> </a:t>
            </a:r>
            <a:r>
              <a:rPr lang="fr-FR" sz="1200" b="0" dirty="0" err="1">
                <a:solidFill>
                  <a:srgbClr val="007A68"/>
                </a:solidFill>
                <a:effectLst/>
                <a:latin typeface="Consolas" panose="020B0609020204030204" pitchFamily="49" charset="0"/>
              </a:rPr>
              <a:t>React</a:t>
            </a:r>
            <a:r>
              <a:rPr lang="fr-FR" sz="1200" b="0" dirty="0" err="1">
                <a:solidFill>
                  <a:srgbClr val="344054"/>
                </a:solidFill>
                <a:effectLst/>
                <a:latin typeface="Consolas" panose="020B0609020204030204" pitchFamily="49" charset="0"/>
              </a:rPr>
              <a:t>.</a:t>
            </a:r>
            <a:r>
              <a:rPr lang="fr-FR" sz="1200" b="0" dirty="0" err="1">
                <a:solidFill>
                  <a:srgbClr val="007A68"/>
                </a:solidFill>
                <a:effectLst/>
                <a:latin typeface="Consolas" panose="020B0609020204030204" pitchFamily="49" charset="0"/>
              </a:rPr>
              <a:t>Component</a:t>
            </a:r>
            <a:r>
              <a:rPr lang="fr-FR" sz="1200" b="0" dirty="0">
                <a:solidFill>
                  <a:srgbClr val="344054"/>
                </a:solidFill>
                <a:effectLst/>
                <a:latin typeface="Consolas" panose="020B0609020204030204" pitchFamily="49" charset="0"/>
              </a:rPr>
              <a:t> {</a:t>
            </a:r>
          </a:p>
          <a:p>
            <a:pPr>
              <a:lnSpc>
                <a:spcPts val="1425"/>
              </a:lnSpc>
              <a:buNone/>
            </a:pP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render</a:t>
            </a:r>
            <a:r>
              <a:rPr lang="fr-FR" sz="1200" b="0" dirty="0">
                <a:solidFill>
                  <a:srgbClr val="344054"/>
                </a:solidFill>
                <a:effectLst/>
                <a:latin typeface="Consolas" panose="020B0609020204030204" pitchFamily="49" charset="0"/>
              </a:rPr>
              <a:t>() {</a:t>
            </a:r>
          </a:p>
          <a:p>
            <a:pPr>
              <a:lnSpc>
                <a:spcPts val="1425"/>
              </a:lnSpc>
              <a:buNone/>
            </a:pPr>
            <a:r>
              <a:rPr lang="fr-FR" sz="1200" b="0" dirty="0">
                <a:solidFill>
                  <a:srgbClr val="344054"/>
                </a:solidFill>
                <a:effectLst/>
                <a:latin typeface="Consolas" panose="020B0609020204030204" pitchFamily="49" charset="0"/>
              </a:rPr>
              <a:t>    </a:t>
            </a:r>
            <a:r>
              <a:rPr lang="fr-FR" sz="1200" b="0" dirty="0">
                <a:solidFill>
                  <a:srgbClr val="814193"/>
                </a:solidFill>
                <a:effectLst/>
                <a:latin typeface="Consolas" panose="020B0609020204030204" pitchFamily="49" charset="0"/>
              </a:rPr>
              <a:t>return</a:t>
            </a:r>
            <a:r>
              <a:rPr lang="fr-FR" sz="1200" b="0" dirty="0">
                <a:solidFill>
                  <a:srgbClr val="344054"/>
                </a:solidFill>
                <a:effectLst/>
                <a:latin typeface="Consolas" panose="020B0609020204030204" pitchFamily="49" charset="0"/>
              </a:rPr>
              <a:t> </a:t>
            </a:r>
            <a:r>
              <a:rPr lang="fr-FR" sz="1200" b="0" dirty="0">
                <a:solidFill>
                  <a:srgbClr val="475467"/>
                </a:solidFill>
                <a:effectLst/>
                <a:latin typeface="Consolas" panose="020B0609020204030204" pitchFamily="49" charset="0"/>
              </a:rPr>
              <a:t>&lt;</a:t>
            </a:r>
            <a:r>
              <a:rPr lang="fr-FR" sz="1200" b="0" dirty="0">
                <a:solidFill>
                  <a:srgbClr val="1967B3"/>
                </a:solidFill>
                <a:effectLst/>
                <a:latin typeface="Consolas" panose="020B0609020204030204" pitchFamily="49" charset="0"/>
              </a:rPr>
              <a:t>h1</a:t>
            </a:r>
            <a:r>
              <a:rPr lang="fr-FR" sz="1200" b="0" dirty="0">
                <a:solidFill>
                  <a:srgbClr val="475467"/>
                </a:solidFill>
                <a:effectLst/>
                <a:latin typeface="Consolas" panose="020B0609020204030204" pitchFamily="49" charset="0"/>
              </a:rPr>
              <a:t>&gt;</a:t>
            </a:r>
            <a:r>
              <a:rPr lang="fr-FR" sz="1200" b="0" dirty="0">
                <a:solidFill>
                  <a:srgbClr val="344054"/>
                </a:solidFill>
                <a:effectLst/>
                <a:latin typeface="Consolas" panose="020B0609020204030204" pitchFamily="49" charset="0"/>
              </a:rPr>
              <a:t>Bonjour </a:t>
            </a:r>
            <a:r>
              <a:rPr lang="fr-FR" sz="1200" b="0" dirty="0">
                <a:solidFill>
                  <a:srgbClr val="1967B3"/>
                </a:solidFill>
                <a:effectLst/>
                <a:latin typeface="Consolas" panose="020B0609020204030204" pitchFamily="49" charset="0"/>
              </a:rPr>
              <a:t>{this</a:t>
            </a:r>
            <a:r>
              <a:rPr lang="fr-FR" sz="1200" b="0" dirty="0">
                <a:solidFill>
                  <a:srgbClr val="475467"/>
                </a:solidFill>
                <a:effectLst/>
                <a:latin typeface="Consolas" panose="020B0609020204030204" pitchFamily="49" charset="0"/>
              </a:rPr>
              <a:t>.</a:t>
            </a:r>
            <a:r>
              <a:rPr lang="fr-FR" sz="1200" b="0" dirty="0">
                <a:solidFill>
                  <a:srgbClr val="006FAB"/>
                </a:solidFill>
                <a:effectLst/>
                <a:latin typeface="Consolas" panose="020B0609020204030204" pitchFamily="49" charset="0"/>
              </a:rPr>
              <a:t>props</a:t>
            </a:r>
            <a:r>
              <a:rPr lang="fr-FR" sz="1200" b="0" dirty="0">
                <a:solidFill>
                  <a:srgbClr val="475467"/>
                </a:solidFill>
                <a:effectLst/>
                <a:latin typeface="Consolas" panose="020B0609020204030204" pitchFamily="49" charset="0"/>
              </a:rPr>
              <a:t>.</a:t>
            </a:r>
            <a:r>
              <a:rPr lang="fr-FR" sz="1200" b="0" dirty="0">
                <a:solidFill>
                  <a:srgbClr val="005A9C"/>
                </a:solidFill>
                <a:effectLst/>
                <a:latin typeface="Consolas" panose="020B0609020204030204" pitchFamily="49" charset="0"/>
              </a:rPr>
              <a:t>name</a:t>
            </a:r>
            <a:r>
              <a:rPr lang="fr-FR" sz="1200" b="0" dirty="0">
                <a:solidFill>
                  <a:srgbClr val="1967B3"/>
                </a:solidFill>
                <a:effectLst/>
                <a:latin typeface="Consolas" panose="020B0609020204030204" pitchFamily="49" charset="0"/>
              </a:rPr>
              <a:t>}</a:t>
            </a:r>
            <a:r>
              <a:rPr lang="fr-FR" sz="1200" b="0" dirty="0">
                <a:solidFill>
                  <a:srgbClr val="475467"/>
                </a:solidFill>
                <a:effectLst/>
                <a:latin typeface="Consolas" panose="020B0609020204030204" pitchFamily="49" charset="0"/>
              </a:rPr>
              <a:t>&lt;/</a:t>
            </a:r>
            <a:r>
              <a:rPr lang="fr-FR" sz="1200" b="0" dirty="0">
                <a:solidFill>
                  <a:srgbClr val="1967B3"/>
                </a:solidFill>
                <a:effectLst/>
                <a:latin typeface="Consolas" panose="020B0609020204030204" pitchFamily="49" charset="0"/>
              </a:rPr>
              <a:t>h1</a:t>
            </a:r>
            <a:r>
              <a:rPr lang="fr-FR" sz="1200" b="0" dirty="0">
                <a:solidFill>
                  <a:srgbClr val="475467"/>
                </a:solidFill>
                <a:effectLst/>
                <a:latin typeface="Consolas" panose="020B0609020204030204" pitchFamily="49" charset="0"/>
              </a:rPr>
              <a:t>&gt;</a:t>
            </a:r>
            <a:r>
              <a:rPr lang="fr-FR" sz="1200" b="0" dirty="0">
                <a:solidFill>
                  <a:srgbClr val="344054"/>
                </a:solidFill>
                <a:effectLst/>
                <a:latin typeface="Consolas" panose="020B0609020204030204" pitchFamily="49" charset="0"/>
              </a:rPr>
              <a:t>;</a:t>
            </a:r>
          </a:p>
          <a:p>
            <a:pPr>
              <a:lnSpc>
                <a:spcPts val="1425"/>
              </a:lnSpc>
              <a:buNone/>
            </a:pPr>
            <a:r>
              <a:rPr lang="fr-FR" sz="1200" b="0" dirty="0">
                <a:solidFill>
                  <a:srgbClr val="344054"/>
                </a:solidFill>
                <a:effectLst/>
                <a:latin typeface="Consolas" panose="020B0609020204030204" pitchFamily="49" charset="0"/>
              </a:rPr>
              <a:t>  }</a:t>
            </a:r>
          </a:p>
          <a:p>
            <a:pPr>
              <a:lnSpc>
                <a:spcPts val="1425"/>
              </a:lnSpc>
              <a:buNone/>
            </a:pPr>
            <a:r>
              <a:rPr lang="fr-FR" sz="1200" b="0" dirty="0">
                <a:solidFill>
                  <a:srgbClr val="344054"/>
                </a:solidFill>
                <a:effectLst/>
                <a:latin typeface="Consolas" panose="020B0609020204030204" pitchFamily="49" charset="0"/>
              </a:rPr>
              <a:t>}</a:t>
            </a:r>
          </a:p>
          <a:p>
            <a:r>
              <a:rPr lang="fr-FR" sz="1600" dirty="0"/>
              <a:t>Modèle historique fondé sur les classes ES6.</a:t>
            </a:r>
          </a:p>
          <a:p>
            <a:r>
              <a:rPr lang="fr-FR" sz="1600" dirty="0"/>
              <a:t>Permet d’utiliser state, </a:t>
            </a:r>
            <a:r>
              <a:rPr lang="fr-FR" sz="1600" dirty="0" err="1"/>
              <a:t>lifecycle</a:t>
            </a:r>
            <a:r>
              <a:rPr lang="fr-FR" sz="1600" dirty="0"/>
              <a:t> </a:t>
            </a:r>
            <a:r>
              <a:rPr lang="fr-FR" sz="1600" dirty="0" err="1"/>
              <a:t>methods</a:t>
            </a:r>
            <a:r>
              <a:rPr lang="fr-FR" sz="1600" dirty="0"/>
              <a:t> (</a:t>
            </a:r>
            <a:r>
              <a:rPr lang="fr-FR" sz="1600" dirty="0" err="1"/>
              <a:t>componentDidMount</a:t>
            </a:r>
            <a:r>
              <a:rPr lang="fr-FR" sz="1600" dirty="0"/>
              <a:t>, etc.).</a:t>
            </a:r>
          </a:p>
          <a:p>
            <a:r>
              <a:rPr lang="fr-FR" sz="1600" dirty="0"/>
              <a:t>Classes toujours prises en charge ; fonctions conseillées pour le nouveau code.</a:t>
            </a: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584BBCAE-F992-D167-15C8-7EAC39ACA64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26520941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DF2875-BB0D-0183-2BD3-35CD88A09FE5}"/>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FC6E67EB-4F23-3022-9CC2-4948AE195D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C878A61F-1E0A-BCE5-AB9C-04F578BD426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97B2259-00E3-86F5-2ED4-1EA7491C7861}"/>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F16D00BE-38B4-D392-CC8A-BD825F6D3759}"/>
              </a:ext>
            </a:extLst>
          </p:cNvPr>
          <p:cNvSpPr>
            <a:spLocks noGrp="1" noChangeArrowheads="1"/>
          </p:cNvSpPr>
          <p:nvPr>
            <p:ph idx="1"/>
          </p:nvPr>
        </p:nvSpPr>
        <p:spPr bwMode="auto">
          <a:xfrm>
            <a:off x="5784962" y="1454370"/>
            <a:ext cx="6407038" cy="34476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Les hooks dans les composants React</a:t>
            </a:r>
          </a:p>
          <a:p>
            <a:pPr marL="0" indent="0" eaLnBrk="0" fontAlgn="base" hangingPunct="0">
              <a:lnSpc>
                <a:spcPct val="200000"/>
              </a:lnSpc>
              <a:spcBef>
                <a:spcPct val="0"/>
              </a:spcBef>
              <a:spcAft>
                <a:spcPct val="0"/>
              </a:spcAft>
              <a:buNone/>
            </a:pPr>
            <a:r>
              <a:rPr lang="fr-FR" sz="1800" b="1" dirty="0"/>
              <a:t>Introduction aux </a:t>
            </a:r>
            <a:r>
              <a:rPr lang="fr-FR" sz="1800" b="1" dirty="0" err="1"/>
              <a:t>Hooks</a:t>
            </a:r>
            <a:r>
              <a:rPr lang="fr-FR" sz="1800" b="1" dirty="0"/>
              <a:t> (</a:t>
            </a:r>
            <a:r>
              <a:rPr lang="fr-FR" sz="1800" b="1" dirty="0" err="1"/>
              <a:t>React</a:t>
            </a:r>
            <a:r>
              <a:rPr lang="fr-FR" sz="1800" b="1" dirty="0"/>
              <a:t>)</a:t>
            </a:r>
          </a:p>
          <a:p>
            <a:r>
              <a:rPr lang="fr-FR" sz="1400" dirty="0"/>
              <a:t>Introduits dans </a:t>
            </a:r>
            <a:r>
              <a:rPr lang="fr-FR" sz="1400" b="1" dirty="0" err="1"/>
              <a:t>React</a:t>
            </a:r>
            <a:r>
              <a:rPr lang="fr-FR" sz="1400" b="1" dirty="0"/>
              <a:t> 16.8.</a:t>
            </a:r>
          </a:p>
          <a:p>
            <a:r>
              <a:rPr lang="fr-FR" sz="1400" dirty="0"/>
              <a:t>Permettent d’utiliser l’état et de synchroniser des systèmes externes.</a:t>
            </a:r>
          </a:p>
          <a:p>
            <a:r>
              <a:rPr lang="fr-FR" sz="1400" dirty="0"/>
              <a:t>Les fonctions sont conseillées pour le nouveau code ; les classes restent prises en charge.</a:t>
            </a:r>
          </a:p>
          <a:p>
            <a:r>
              <a:rPr lang="fr-FR" sz="1400" dirty="0" err="1"/>
              <a:t>Hooks</a:t>
            </a:r>
            <a:r>
              <a:rPr lang="fr-FR" sz="1400" dirty="0"/>
              <a:t> les plus utilisés :</a:t>
            </a:r>
          </a:p>
          <a:p>
            <a:pPr lvl="1"/>
            <a:r>
              <a:rPr lang="fr-FR" sz="1400" b="1" i="1" dirty="0" err="1"/>
              <a:t>useState</a:t>
            </a:r>
            <a:r>
              <a:rPr lang="fr-FR" sz="1400" dirty="0"/>
              <a:t> (état local)</a:t>
            </a:r>
          </a:p>
          <a:p>
            <a:pPr lvl="1"/>
            <a:r>
              <a:rPr lang="fr-FR" sz="1400" b="1" i="1" dirty="0" err="1"/>
              <a:t>useEffect (synchronisation avec l’extérieur)</a:t>
            </a:r>
          </a:p>
          <a:p>
            <a:pPr lvl="1"/>
            <a:r>
              <a:rPr lang="fr-FR" sz="1400" b="1" i="1" dirty="0" err="1"/>
              <a:t>useContext (lecture d’un contexte parent)</a:t>
            </a:r>
            <a:endParaRPr kumimoji="0" lang="fr-FR" altLang="fr-FR" sz="1400" b="1"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7698B3AC-89CE-8BE2-E340-571059A604B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6939304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BA99346-461F-1CB5-E728-9929FFA24A51}"/>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7E31C32-2EE5-718E-8D5F-25BD1DC797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E8572638-115C-FC2A-4662-D59ABEBCA5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08F7A7C-EDE7-9059-ED62-F36ADBBC96C6}"/>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944E0B34-8AD2-5985-731E-E75B434B7384}"/>
              </a:ext>
            </a:extLst>
          </p:cNvPr>
          <p:cNvSpPr>
            <a:spLocks noGrp="1" noChangeArrowheads="1"/>
          </p:cNvSpPr>
          <p:nvPr>
            <p:ph idx="1"/>
          </p:nvPr>
        </p:nvSpPr>
        <p:spPr bwMode="auto">
          <a:xfrm>
            <a:off x="6167348" y="223371"/>
            <a:ext cx="6407038" cy="5729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État local avec useState</a:t>
            </a:r>
          </a:p>
          <a:p>
            <a:pPr marL="0" indent="0" eaLnBrk="0" fontAlgn="base" hangingPunct="0">
              <a:lnSpc>
                <a:spcPct val="200000"/>
              </a:lnSpc>
              <a:spcBef>
                <a:spcPct val="0"/>
              </a:spcBef>
              <a:spcAft>
                <a:spcPct val="0"/>
              </a:spcAft>
              <a:buNone/>
            </a:pPr>
            <a:r>
              <a:rPr lang="fr-FR" sz="1800" b="1" dirty="0" err="1"/>
              <a:t>useState</a:t>
            </a:r>
            <a:r>
              <a:rPr lang="fr-FR" sz="1800" b="1" dirty="0"/>
              <a:t> : gérer un état local</a:t>
            </a:r>
          </a:p>
          <a:p>
            <a:pPr>
              <a:lnSpc>
                <a:spcPct val="100000"/>
              </a:lnSpc>
              <a:buNone/>
            </a:pPr>
            <a:r>
              <a:rPr lang="fr-FR" sz="1200" b="1" dirty="0">
                <a:solidFill>
                  <a:srgbClr val="814193"/>
                </a:solidFill>
                <a:effectLst/>
                <a:latin typeface="Consolas" panose="020B0609020204030204" pitchFamily="49" charset="0"/>
              </a:rPr>
              <a:t>import</a:t>
            </a: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React</a:t>
            </a:r>
            <a:r>
              <a:rPr lang="fr-FR" sz="1200" b="1" dirty="0">
                <a:solidFill>
                  <a:srgbClr val="344054"/>
                </a:solidFill>
                <a:effectLst/>
                <a:latin typeface="Consolas" panose="020B0609020204030204" pitchFamily="49" charset="0"/>
              </a:rPr>
              <a:t>, { </a:t>
            </a:r>
            <a:r>
              <a:rPr lang="fr-FR" sz="1200" b="1" dirty="0" err="1">
                <a:solidFill>
                  <a:srgbClr val="005A9C"/>
                </a:solidFill>
                <a:effectLst/>
                <a:latin typeface="Consolas" panose="020B0609020204030204" pitchFamily="49" charset="0"/>
              </a:rPr>
              <a:t>useState</a:t>
            </a:r>
            <a:r>
              <a:rPr lang="fr-FR" sz="1200" b="1" dirty="0">
                <a:solidFill>
                  <a:srgbClr val="344054"/>
                </a:solidFill>
                <a:effectLst/>
                <a:latin typeface="Consolas" panose="020B0609020204030204" pitchFamily="49" charset="0"/>
              </a:rPr>
              <a:t> } </a:t>
            </a:r>
            <a:r>
              <a:rPr lang="fr-FR" sz="1200" b="1" dirty="0" err="1">
                <a:solidFill>
                  <a:srgbClr val="814193"/>
                </a:solidFill>
                <a:effectLst/>
                <a:latin typeface="Consolas" panose="020B0609020204030204" pitchFamily="49" charset="0"/>
              </a:rPr>
              <a:t>from</a:t>
            </a:r>
            <a:r>
              <a:rPr lang="fr-FR" sz="1200" b="1" dirty="0">
                <a:solidFill>
                  <a:srgbClr val="344054"/>
                </a:solidFill>
                <a:effectLst/>
                <a:latin typeface="Consolas" panose="020B0609020204030204" pitchFamily="49" charset="0"/>
              </a:rPr>
              <a:t> </a:t>
            </a:r>
            <a:r>
              <a:rPr lang="fr-FR" sz="1200" b="1" dirty="0">
                <a:solidFill>
                  <a:srgbClr val="A64B27"/>
                </a:solidFill>
                <a:effectLst/>
                <a:latin typeface="Consolas" panose="020B0609020204030204" pitchFamily="49" charset="0"/>
              </a:rPr>
              <a:t>'</a:t>
            </a:r>
            <a:r>
              <a:rPr lang="fr-FR" sz="1200" b="1" dirty="0" err="1">
                <a:solidFill>
                  <a:srgbClr val="A64B27"/>
                </a:solidFill>
                <a:effectLst/>
                <a:latin typeface="Consolas" panose="020B0609020204030204" pitchFamily="49" charset="0"/>
              </a:rPr>
              <a:t>react</a:t>
            </a:r>
            <a:r>
              <a:rPr lang="fr-FR" sz="1200" b="1" dirty="0">
                <a:solidFill>
                  <a:srgbClr val="A64B27"/>
                </a:solidFill>
                <a:effectLst/>
                <a:latin typeface="Consolas" panose="020B0609020204030204" pitchFamily="49" charset="0"/>
              </a:rPr>
              <a:t>'</a:t>
            </a:r>
            <a:r>
              <a:rPr lang="fr-FR" sz="1200" b="1" dirty="0">
                <a:solidFill>
                  <a:srgbClr val="344054"/>
                </a:solidFill>
                <a:effectLst/>
                <a:latin typeface="Consolas" panose="020B0609020204030204" pitchFamily="49" charset="0"/>
              </a:rPr>
              <a:t>;</a:t>
            </a:r>
          </a:p>
          <a:p>
            <a:pPr>
              <a:lnSpc>
                <a:spcPct val="100000"/>
              </a:lnSpc>
              <a:buNone/>
            </a:pPr>
            <a:r>
              <a:rPr lang="fr-FR" sz="1200" b="1" dirty="0" err="1">
                <a:solidFill>
                  <a:srgbClr val="1967B3"/>
                </a:solidFill>
                <a:effectLst/>
                <a:latin typeface="Consolas" panose="020B0609020204030204" pitchFamily="49" charset="0"/>
              </a:rPr>
              <a:t>function</a:t>
            </a:r>
            <a:r>
              <a:rPr lang="fr-FR" sz="1200" b="1" dirty="0">
                <a:solidFill>
                  <a:srgbClr val="344054"/>
                </a:solidFill>
                <a:effectLst/>
                <a:latin typeface="Consolas" panose="020B0609020204030204" pitchFamily="49" charset="0"/>
              </a:rPr>
              <a:t> </a:t>
            </a:r>
            <a:r>
              <a:rPr lang="fr-FR" sz="1200" b="1" dirty="0">
                <a:effectLst/>
                <a:latin typeface="Consolas" panose="020B0609020204030204" pitchFamily="49" charset="0"/>
              </a:rPr>
              <a:t>Counter</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1967B3"/>
                </a:solidFill>
                <a:effectLst/>
                <a:latin typeface="Consolas" panose="020B0609020204030204" pitchFamily="49" charset="0"/>
              </a:rPr>
              <a:t>const</a:t>
            </a:r>
            <a:r>
              <a:rPr lang="fr-FR" sz="1200" b="1" dirty="0">
                <a:solidFill>
                  <a:srgbClr val="344054"/>
                </a:solidFill>
                <a:effectLst/>
                <a:latin typeface="Consolas" panose="020B0609020204030204" pitchFamily="49" charset="0"/>
              </a:rPr>
              <a:t> [</a:t>
            </a:r>
            <a:r>
              <a:rPr lang="fr-FR" sz="1200" b="1" dirty="0">
                <a:solidFill>
                  <a:srgbClr val="006FAB"/>
                </a:solidFill>
                <a:effectLst/>
                <a:latin typeface="Consolas" panose="020B0609020204030204" pitchFamily="49" charset="0"/>
              </a:rPr>
              <a:t>count</a:t>
            </a: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setCount</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useState</a:t>
            </a:r>
            <a:r>
              <a:rPr lang="fr-FR" sz="1200" b="1" dirty="0">
                <a:solidFill>
                  <a:srgbClr val="344054"/>
                </a:solidFill>
                <a:effectLst/>
                <a:latin typeface="Consolas" panose="020B0609020204030204" pitchFamily="49" charset="0"/>
              </a:rPr>
              <a:t>(</a:t>
            </a:r>
            <a:r>
              <a:rPr lang="fr-FR" sz="1200" b="1" dirty="0">
                <a:solidFill>
                  <a:srgbClr val="52731B"/>
                </a:solidFill>
                <a:effectLst/>
                <a:latin typeface="Consolas" panose="020B0609020204030204" pitchFamily="49" charset="0"/>
              </a:rPr>
              <a:t>0</a:t>
            </a:r>
            <a:r>
              <a:rPr lang="fr-FR" sz="1200" b="1" dirty="0">
                <a:solidFill>
                  <a:srgbClr val="344054"/>
                </a:solidFill>
                <a:effectLst/>
                <a:latin typeface="Consolas" panose="020B0609020204030204" pitchFamily="49" charset="0"/>
              </a:rPr>
              <a:t>);</a:t>
            </a:r>
            <a:br>
              <a:rPr lang="fr-FR" sz="1200" b="1" dirty="0">
                <a:solidFill>
                  <a:srgbClr val="344054"/>
                </a:solidFill>
                <a:effectLst/>
                <a:latin typeface="Consolas" panose="020B0609020204030204" pitchFamily="49" charset="0"/>
              </a:rPr>
            </a:b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814193"/>
                </a:solidFill>
                <a:effectLst/>
                <a:latin typeface="Consolas" panose="020B0609020204030204" pitchFamily="49" charset="0"/>
              </a:rPr>
              <a:t>return</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a:solidFill>
                  <a:srgbClr val="1967B3"/>
                </a:solidFill>
                <a:effectLst/>
                <a:latin typeface="Consolas" panose="020B0609020204030204" pitchFamily="49" charset="0"/>
              </a:rPr>
              <a:t>div</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a:solidFill>
                  <a:srgbClr val="1967B3"/>
                </a:solidFill>
                <a:effectLst/>
                <a:latin typeface="Consolas" panose="020B0609020204030204" pitchFamily="49" charset="0"/>
              </a:rPr>
              <a:t>p</a:t>
            </a:r>
            <a:r>
              <a:rPr lang="fr-FR" sz="1200" b="1" dirty="0">
                <a:solidFill>
                  <a:srgbClr val="475467"/>
                </a:solidFill>
                <a:effectLst/>
                <a:latin typeface="Consolas" panose="020B0609020204030204" pitchFamily="49" charset="0"/>
              </a:rPr>
              <a:t>&gt;</a:t>
            </a:r>
            <a:r>
              <a:rPr lang="fr-FR" sz="1200" b="1" dirty="0">
                <a:solidFill>
                  <a:srgbClr val="344054"/>
                </a:solidFill>
                <a:effectLst/>
                <a:latin typeface="Consolas" panose="020B0609020204030204" pitchFamily="49" charset="0"/>
              </a:rPr>
              <a:t>Compteur : </a:t>
            </a:r>
            <a:r>
              <a:rPr lang="fr-FR" sz="1200" b="1" dirty="0">
                <a:solidFill>
                  <a:srgbClr val="1967B3"/>
                </a:solidFill>
                <a:effectLst/>
                <a:latin typeface="Consolas" panose="020B0609020204030204" pitchFamily="49" charset="0"/>
              </a:rPr>
              <a:t>{</a:t>
            </a:r>
            <a:r>
              <a:rPr lang="fr-FR" sz="1200" b="1" dirty="0">
                <a:solidFill>
                  <a:srgbClr val="006FAB"/>
                </a:solidFill>
                <a:effectLst/>
                <a:latin typeface="Consolas" panose="020B0609020204030204" pitchFamily="49" charset="0"/>
              </a:rPr>
              <a:t>count</a:t>
            </a:r>
            <a:r>
              <a:rPr lang="fr-FR" sz="1200" b="1" dirty="0">
                <a:solidFill>
                  <a:srgbClr val="1967B3"/>
                </a:solidFill>
                <a:effectLst/>
                <a:latin typeface="Consolas" panose="020B0609020204030204" pitchFamily="49" charset="0"/>
              </a:rPr>
              <a:t>}</a:t>
            </a:r>
            <a:r>
              <a:rPr lang="fr-FR" sz="1200" b="1" dirty="0">
                <a:solidFill>
                  <a:srgbClr val="475467"/>
                </a:solidFill>
                <a:effectLst/>
                <a:latin typeface="Consolas" panose="020B0609020204030204" pitchFamily="49" charset="0"/>
              </a:rPr>
              <a:t>&lt;/</a:t>
            </a:r>
            <a:r>
              <a:rPr lang="fr-FR" sz="1200" b="1" dirty="0">
                <a:solidFill>
                  <a:srgbClr val="1967B3"/>
                </a:solidFill>
                <a:effectLst/>
                <a:latin typeface="Consolas" panose="020B0609020204030204" pitchFamily="49" charset="0"/>
              </a:rPr>
              <a:t>p</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onClick</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a:solidFill>
                  <a:srgbClr val="475467"/>
                </a:solidFill>
                <a:effectLst/>
                <a:latin typeface="Consolas" panose="020B0609020204030204" pitchFamily="49" charset="0"/>
              </a:rPr>
              <a:t>() </a:t>
            </a:r>
            <a:r>
              <a:rPr lang="fr-FR" sz="1200" b="1" dirty="0">
                <a:solidFill>
                  <a:srgbClr val="1967B3"/>
                </a:solidFill>
                <a:effectLst/>
                <a:latin typeface="Consolas" panose="020B0609020204030204" pitchFamily="49" charset="0"/>
              </a:rPr>
              <a:t>=&gt;</a:t>
            </a:r>
            <a:r>
              <a:rPr lang="fr-FR" sz="1200" b="1" dirty="0">
                <a:solidFill>
                  <a:srgbClr val="475467"/>
                </a:solidFill>
                <a:effectLst/>
                <a:latin typeface="Consolas" panose="020B0609020204030204" pitchFamily="49" charset="0"/>
              </a:rPr>
              <a:t> </a:t>
            </a:r>
            <a:r>
              <a:rPr lang="fr-FR" sz="1200" b="1" dirty="0" err="1">
                <a:effectLst/>
                <a:latin typeface="Consolas" panose="020B0609020204030204" pitchFamily="49" charset="0"/>
              </a:rPr>
              <a:t>setCount</a:t>
            </a:r>
            <a:r>
              <a:rPr lang="fr-FR" sz="1200" b="1" dirty="0">
                <a:solidFill>
                  <a:srgbClr val="475467"/>
                </a:solidFill>
                <a:effectLst/>
                <a:latin typeface="Consolas" panose="020B0609020204030204" pitchFamily="49" charset="0"/>
              </a:rPr>
              <a:t>(</a:t>
            </a:r>
            <a:r>
              <a:rPr lang="fr-FR" sz="1200" b="1" dirty="0">
                <a:solidFill>
                  <a:srgbClr val="006FAB"/>
                </a:solidFill>
                <a:effectLst/>
                <a:latin typeface="Consolas" panose="020B0609020204030204" pitchFamily="49" charset="0"/>
              </a:rPr>
              <a:t>count</a:t>
            </a:r>
            <a:r>
              <a:rPr lang="fr-FR" sz="1200" b="1" dirty="0">
                <a:solidFill>
                  <a:srgbClr val="475467"/>
                </a:solidFill>
                <a:effectLst/>
                <a:latin typeface="Consolas" panose="020B0609020204030204" pitchFamily="49" charset="0"/>
              </a:rPr>
              <a:t> + </a:t>
            </a:r>
            <a:r>
              <a:rPr lang="fr-FR" sz="1200" b="1" dirty="0">
                <a:solidFill>
                  <a:srgbClr val="52731B"/>
                </a:solidFill>
                <a:effectLst/>
                <a:latin typeface="Consolas" panose="020B0609020204030204" pitchFamily="49" charset="0"/>
              </a:rPr>
              <a:t>1</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a:solidFill>
                  <a:srgbClr val="475467"/>
                </a:solidFill>
                <a:effectLst/>
                <a:latin typeface="Consolas" panose="020B0609020204030204" pitchFamily="49" charset="0"/>
              </a:rPr>
              <a:t>&gt;</a:t>
            </a:r>
            <a:r>
              <a:rPr lang="fr-FR" sz="1200" b="1" dirty="0">
                <a:solidFill>
                  <a:srgbClr val="344054"/>
                </a:solidFill>
                <a:effectLst/>
                <a:latin typeface="Consolas" panose="020B0609020204030204" pitchFamily="49" charset="0"/>
              </a:rPr>
              <a:t>+1</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a:solidFill>
                  <a:srgbClr val="1967B3"/>
                </a:solidFill>
                <a:effectLst/>
                <a:latin typeface="Consolas" panose="020B0609020204030204" pitchFamily="49" charset="0"/>
              </a:rPr>
              <a:t>div</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a:t>
            </a:r>
          </a:p>
          <a:p>
            <a:pPr>
              <a:lnSpc>
                <a:spcPct val="100000"/>
              </a:lnSpc>
            </a:pPr>
            <a:r>
              <a:rPr lang="fr-FR" sz="1400" dirty="0"/>
              <a:t>Initialise count à 0 au premier rendu.</a:t>
            </a:r>
          </a:p>
          <a:p>
            <a:pPr>
              <a:lnSpc>
                <a:spcPct val="100000"/>
              </a:lnSpc>
            </a:pPr>
            <a:r>
              <a:rPr lang="fr-FR" sz="1400" b="1" i="1" dirty="0" err="1"/>
              <a:t>setCount demande une mise à jour de l’état.</a:t>
            </a:r>
          </a:p>
          <a:p>
            <a:pPr>
              <a:lnSpc>
                <a:spcPct val="100000"/>
              </a:lnSpc>
            </a:pPr>
            <a:r>
              <a:rPr lang="fr-FR" sz="1400" dirty="0"/>
              <a:t>Si la valeur change, React effectue un nouveau rendu.</a:t>
            </a:r>
          </a:p>
        </p:txBody>
      </p:sp>
      <p:sp>
        <p:nvSpPr>
          <p:cNvPr id="3" name="Espace réservé du numéro de diapositive 2">
            <a:extLst>
              <a:ext uri="{FF2B5EF4-FFF2-40B4-BE49-F238E27FC236}">
                <a16:creationId xmlns:a16="http://schemas.microsoft.com/office/drawing/2014/main" id="{416B8804-A572-E5E9-D085-8817AB56F8FE}"/>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3247658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7FE9E29-5C71-0BAF-0339-DB10BB25A48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54825AB-D693-BF2C-1A2D-A92C834765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0CCC2A73-C1D6-E67F-DFE5-BE592893CF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FDA8C85-9824-95AD-6FEB-83F6594BA91E}"/>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7319E2D6-6B10-D4E2-CE56-F7FDB302F91E}"/>
              </a:ext>
            </a:extLst>
          </p:cNvPr>
          <p:cNvSpPr>
            <a:spLocks noGrp="1" noChangeArrowheads="1"/>
          </p:cNvSpPr>
          <p:nvPr>
            <p:ph idx="1"/>
          </p:nvPr>
        </p:nvSpPr>
        <p:spPr bwMode="auto">
          <a:xfrm>
            <a:off x="6167348" y="225934"/>
            <a:ext cx="6407038" cy="57246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Synchroniser avec useEffect</a:t>
            </a:r>
          </a:p>
          <a:p>
            <a:pPr marL="0" indent="0" eaLnBrk="0" fontAlgn="base" hangingPunct="0">
              <a:lnSpc>
                <a:spcPct val="200000"/>
              </a:lnSpc>
              <a:spcBef>
                <a:spcPct val="0"/>
              </a:spcBef>
              <a:spcAft>
                <a:spcPct val="0"/>
              </a:spcAft>
              <a:buNone/>
            </a:pPr>
            <a:r>
              <a:rPr lang="fr-FR" sz="1800" b="1" dirty="0" err="1"/>
              <a:t>useEffect : synchroniser un système externe</a:t>
            </a:r>
          </a:p>
          <a:p>
            <a:pPr>
              <a:lnSpc>
                <a:spcPct val="100000"/>
              </a:lnSpc>
              <a:buNone/>
            </a:pPr>
            <a:r>
              <a:rPr lang="fr-FR" sz="1200" b="0" dirty="0">
                <a:solidFill>
                  <a:srgbClr val="814193"/>
                </a:solidFill>
                <a:effectLst/>
                <a:latin typeface="Consolas" panose="020B0609020204030204" pitchFamily="49" charset="0"/>
              </a:rPr>
              <a:t>import</a:t>
            </a:r>
            <a:r>
              <a:rPr lang="fr-FR" sz="1200" b="0" dirty="0">
                <a:solidFill>
                  <a:srgbClr val="344054"/>
                </a:solidFill>
                <a:effectLst/>
                <a:latin typeface="Consolas" panose="020B0609020204030204" pitchFamily="49" charset="0"/>
              </a:rPr>
              <a:t> </a:t>
            </a:r>
            <a:r>
              <a:rPr lang="fr-FR" sz="1200" b="0" dirty="0" err="1">
                <a:solidFill>
                  <a:srgbClr val="005A9C"/>
                </a:solidFill>
                <a:effectLst/>
                <a:latin typeface="Consolas" panose="020B0609020204030204" pitchFamily="49" charset="0"/>
              </a:rPr>
              <a:t>React</a:t>
            </a:r>
            <a:r>
              <a:rPr lang="fr-FR" sz="1200" b="0" dirty="0">
                <a:solidFill>
                  <a:srgbClr val="344054"/>
                </a:solidFill>
                <a:effectLst/>
                <a:latin typeface="Consolas" panose="020B0609020204030204" pitchFamily="49" charset="0"/>
              </a:rPr>
              <a:t>, { </a:t>
            </a:r>
            <a:r>
              <a:rPr lang="fr-FR" sz="1200" b="0" dirty="0" err="1">
                <a:solidFill>
                  <a:srgbClr val="005A9C"/>
                </a:solidFill>
                <a:effectLst/>
                <a:latin typeface="Consolas" panose="020B0609020204030204" pitchFamily="49" charset="0"/>
              </a:rPr>
              <a:t>useState</a:t>
            </a:r>
            <a:r>
              <a:rPr lang="fr-FR" sz="1200" b="0" dirty="0">
                <a:solidFill>
                  <a:srgbClr val="344054"/>
                </a:solidFill>
                <a:effectLst/>
                <a:latin typeface="Consolas" panose="020B0609020204030204" pitchFamily="49" charset="0"/>
              </a:rPr>
              <a:t>, </a:t>
            </a:r>
            <a:r>
              <a:rPr lang="fr-FR" sz="1200" b="0" dirty="0" err="1">
                <a:solidFill>
                  <a:srgbClr val="005A9C"/>
                </a:solidFill>
                <a:effectLst/>
                <a:latin typeface="Consolas" panose="020B0609020204030204" pitchFamily="49" charset="0"/>
              </a:rPr>
              <a:t>useEffect</a:t>
            </a:r>
            <a:r>
              <a:rPr lang="fr-FR" sz="1200" b="0" dirty="0">
                <a:solidFill>
                  <a:srgbClr val="344054"/>
                </a:solidFill>
                <a:effectLst/>
                <a:latin typeface="Consolas" panose="020B0609020204030204" pitchFamily="49" charset="0"/>
              </a:rPr>
              <a:t> } </a:t>
            </a:r>
            <a:r>
              <a:rPr lang="fr-FR" sz="1200" b="0" dirty="0" err="1">
                <a:solidFill>
                  <a:srgbClr val="814193"/>
                </a:solidFill>
                <a:effectLst/>
                <a:latin typeface="Consolas" panose="020B0609020204030204" pitchFamily="49" charset="0"/>
              </a:rPr>
              <a:t>from</a:t>
            </a:r>
            <a:r>
              <a:rPr lang="fr-FR" sz="1200" b="0" dirty="0">
                <a:solidFill>
                  <a:srgbClr val="344054"/>
                </a:solidFill>
                <a:effectLst/>
                <a:latin typeface="Consolas" panose="020B0609020204030204" pitchFamily="49" charset="0"/>
              </a:rPr>
              <a:t> </a:t>
            </a:r>
            <a:r>
              <a:rPr lang="fr-FR" sz="1200" b="0" dirty="0">
                <a:solidFill>
                  <a:srgbClr val="A64B27"/>
                </a:solidFill>
                <a:effectLst/>
                <a:latin typeface="Consolas" panose="020B0609020204030204" pitchFamily="49" charset="0"/>
              </a:rPr>
              <a:t>'</a:t>
            </a:r>
            <a:r>
              <a:rPr lang="fr-FR" sz="1200" b="0" dirty="0" err="1">
                <a:solidFill>
                  <a:srgbClr val="A64B27"/>
                </a:solidFill>
                <a:effectLst/>
                <a:latin typeface="Consolas" panose="020B0609020204030204" pitchFamily="49" charset="0"/>
              </a:rPr>
              <a:t>react</a:t>
            </a:r>
            <a:r>
              <a:rPr lang="fr-FR" sz="1200" b="0" dirty="0">
                <a:solidFill>
                  <a:srgbClr val="A64B27"/>
                </a:solidFill>
                <a:effectLst/>
                <a:latin typeface="Consolas" panose="020B0609020204030204" pitchFamily="49" charset="0"/>
              </a:rPr>
              <a:t>'</a:t>
            </a:r>
            <a:r>
              <a:rPr lang="fr-FR" sz="1200" b="0" dirty="0">
                <a:solidFill>
                  <a:srgbClr val="344054"/>
                </a:solidFill>
                <a:effectLst/>
                <a:latin typeface="Consolas" panose="020B0609020204030204" pitchFamily="49" charset="0"/>
              </a:rPr>
              <a:t>;</a:t>
            </a:r>
            <a:br>
              <a:rPr lang="fr-FR" sz="1200" b="0" dirty="0">
                <a:solidFill>
                  <a:srgbClr val="344054"/>
                </a:solidFill>
                <a:effectLst/>
                <a:latin typeface="Consolas" panose="020B0609020204030204" pitchFamily="49" charset="0"/>
              </a:rPr>
            </a:br>
            <a:endParaRPr lang="fr-FR" sz="1200" b="0" dirty="0">
              <a:solidFill>
                <a:srgbClr val="344054"/>
              </a:solidFill>
              <a:effectLst/>
              <a:latin typeface="Consolas" panose="020B0609020204030204" pitchFamily="49" charset="0"/>
            </a:endParaRPr>
          </a:p>
          <a:p>
            <a:pPr>
              <a:lnSpc>
                <a:spcPct val="100000"/>
              </a:lnSpc>
              <a:buNone/>
            </a:pPr>
            <a:r>
              <a:rPr lang="fr-FR" sz="1200" b="0" dirty="0" err="1">
                <a:solidFill>
                  <a:srgbClr val="1967B3"/>
                </a:solidFill>
                <a:effectLst/>
                <a:latin typeface="Consolas" panose="020B0609020204030204" pitchFamily="49" charset="0"/>
              </a:rPr>
              <a:t>function</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Timer</a:t>
            </a:r>
            <a:r>
              <a:rPr lang="fr-FR" sz="1200" b="0" dirty="0">
                <a:solidFill>
                  <a:srgbClr val="344054"/>
                </a:solidFill>
                <a:effectLst/>
                <a:latin typeface="Consolas" panose="020B0609020204030204" pitchFamily="49" charset="0"/>
              </a:rPr>
              <a:t>() {</a:t>
            </a:r>
          </a:p>
          <a:p>
            <a:pPr>
              <a:lnSpc>
                <a:spcPct val="100000"/>
              </a:lnSpc>
              <a:buNone/>
            </a:pPr>
            <a:r>
              <a:rPr lang="fr-FR" sz="1200" b="0" dirty="0">
                <a:solidFill>
                  <a:srgbClr val="344054"/>
                </a:solidFill>
                <a:effectLst/>
                <a:latin typeface="Consolas" panose="020B0609020204030204" pitchFamily="49" charset="0"/>
              </a:rPr>
              <a:t>  </a:t>
            </a:r>
            <a:r>
              <a:rPr lang="fr-FR" sz="1200" b="0" dirty="0" err="1">
                <a:solidFill>
                  <a:srgbClr val="1967B3"/>
                </a:solidFill>
                <a:effectLst/>
                <a:latin typeface="Consolas" panose="020B0609020204030204" pitchFamily="49" charset="0"/>
              </a:rPr>
              <a:t>const</a:t>
            </a:r>
            <a:r>
              <a:rPr lang="fr-FR" sz="1200" b="0" dirty="0">
                <a:solidFill>
                  <a:srgbClr val="344054"/>
                </a:solidFill>
                <a:effectLst/>
                <a:latin typeface="Consolas" panose="020B0609020204030204" pitchFamily="49" charset="0"/>
              </a:rPr>
              <a:t> [</a:t>
            </a:r>
            <a:r>
              <a:rPr lang="fr-FR" sz="1200" b="0" dirty="0">
                <a:solidFill>
                  <a:srgbClr val="006FAB"/>
                </a:solidFill>
                <a:effectLst/>
                <a:latin typeface="Consolas" panose="020B0609020204030204" pitchFamily="49" charset="0"/>
              </a:rPr>
              <a:t>seconds</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setSeconds</a:t>
            </a:r>
            <a:r>
              <a:rPr lang="fr-FR" sz="1200" b="0" dirty="0">
                <a:solidFill>
                  <a:srgbClr val="344054"/>
                </a:solidFill>
                <a:effectLst/>
                <a:latin typeface="Consolas" panose="020B0609020204030204" pitchFamily="49" charset="0"/>
              </a:rPr>
              <a:t>] </a:t>
            </a:r>
            <a:r>
              <a:rPr lang="fr-FR" sz="1200" b="0" dirty="0">
                <a:solidFill>
                  <a:srgbClr val="475467"/>
                </a:solidFill>
                <a:effectLst/>
                <a:latin typeface="Consolas" panose="020B0609020204030204" pitchFamily="49" charset="0"/>
              </a:rPr>
              <a:t>=</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useState</a:t>
            </a:r>
            <a:r>
              <a:rPr lang="fr-FR" sz="1200" b="0" dirty="0">
                <a:solidFill>
                  <a:srgbClr val="344054"/>
                </a:solidFill>
                <a:effectLst/>
                <a:latin typeface="Consolas" panose="020B0609020204030204" pitchFamily="49" charset="0"/>
              </a:rPr>
              <a:t>(</a:t>
            </a:r>
            <a:r>
              <a:rPr lang="fr-FR" sz="1200" b="0" dirty="0">
                <a:solidFill>
                  <a:srgbClr val="52731B"/>
                </a:solidFill>
                <a:effectLst/>
                <a:latin typeface="Consolas" panose="020B0609020204030204" pitchFamily="49" charset="0"/>
              </a:rPr>
              <a:t>0</a:t>
            </a:r>
            <a:r>
              <a:rPr lang="fr-FR" sz="1200" b="0" dirty="0">
                <a:solidFill>
                  <a:srgbClr val="344054"/>
                </a:solidFill>
                <a:effectLst/>
                <a:latin typeface="Consolas" panose="020B0609020204030204" pitchFamily="49" charset="0"/>
              </a:rPr>
              <a:t>);</a:t>
            </a:r>
          </a:p>
          <a:p>
            <a:pPr>
              <a:lnSpc>
                <a:spcPct val="100000"/>
              </a:lnSpc>
              <a:buNone/>
            </a:pP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useEffect</a:t>
            </a:r>
            <a:r>
              <a:rPr lang="fr-FR" sz="1200" b="0" dirty="0">
                <a:solidFill>
                  <a:srgbClr val="344054"/>
                </a:solidFill>
                <a:effectLst/>
                <a:latin typeface="Consolas" panose="020B0609020204030204" pitchFamily="49" charset="0"/>
              </a:rPr>
              <a:t>(() </a:t>
            </a:r>
            <a:r>
              <a:rPr lang="fr-FR" sz="1200" b="0" dirty="0">
                <a:solidFill>
                  <a:srgbClr val="1967B3"/>
                </a:solidFill>
                <a:effectLst/>
                <a:latin typeface="Consolas" panose="020B0609020204030204" pitchFamily="49" charset="0"/>
              </a:rPr>
              <a:t>=&gt;</a:t>
            </a:r>
            <a:r>
              <a:rPr lang="fr-FR" sz="1200" b="0" dirty="0">
                <a:solidFill>
                  <a:srgbClr val="344054"/>
                </a:solidFill>
                <a:effectLst/>
                <a:latin typeface="Consolas" panose="020B0609020204030204" pitchFamily="49" charset="0"/>
              </a:rPr>
              <a:t> {</a:t>
            </a:r>
          </a:p>
          <a:p>
            <a:pPr>
              <a:lnSpc>
                <a:spcPct val="100000"/>
              </a:lnSpc>
              <a:buNone/>
            </a:pPr>
            <a:r>
              <a:rPr lang="fr-FR" sz="1200" b="0" dirty="0">
                <a:solidFill>
                  <a:srgbClr val="344054"/>
                </a:solidFill>
                <a:effectLst/>
                <a:latin typeface="Consolas" panose="020B0609020204030204" pitchFamily="49" charset="0"/>
              </a:rPr>
              <a:t>    </a:t>
            </a:r>
            <a:r>
              <a:rPr lang="fr-FR" sz="1200" b="0" dirty="0" err="1">
                <a:solidFill>
                  <a:srgbClr val="1967B3"/>
                </a:solidFill>
                <a:effectLst/>
                <a:latin typeface="Consolas" panose="020B0609020204030204" pitchFamily="49" charset="0"/>
              </a:rPr>
              <a:t>const</a:t>
            </a:r>
            <a:r>
              <a:rPr lang="fr-FR" sz="1200" b="0" dirty="0">
                <a:solidFill>
                  <a:srgbClr val="344054"/>
                </a:solidFill>
                <a:effectLst/>
                <a:latin typeface="Consolas" panose="020B0609020204030204" pitchFamily="49" charset="0"/>
              </a:rPr>
              <a:t> </a:t>
            </a:r>
            <a:r>
              <a:rPr lang="fr-FR" sz="1200" b="0" dirty="0" err="1">
                <a:solidFill>
                  <a:srgbClr val="006FAB"/>
                </a:solidFill>
                <a:effectLst/>
                <a:latin typeface="Consolas" panose="020B0609020204030204" pitchFamily="49" charset="0"/>
              </a:rPr>
              <a:t>interval</a:t>
            </a:r>
            <a:r>
              <a:rPr lang="fr-FR" sz="1200" b="0" dirty="0">
                <a:solidFill>
                  <a:srgbClr val="344054"/>
                </a:solidFill>
                <a:effectLst/>
                <a:latin typeface="Consolas" panose="020B0609020204030204" pitchFamily="49" charset="0"/>
              </a:rPr>
              <a:t> </a:t>
            </a:r>
            <a:r>
              <a:rPr lang="fr-FR" sz="1200" b="0" dirty="0">
                <a:solidFill>
                  <a:srgbClr val="475467"/>
                </a:solidFill>
                <a:effectLst/>
                <a:latin typeface="Consolas" panose="020B0609020204030204" pitchFamily="49" charset="0"/>
              </a:rPr>
              <a:t>=</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setInterval</a:t>
            </a:r>
            <a:r>
              <a:rPr lang="fr-FR" sz="1200" b="0" dirty="0">
                <a:solidFill>
                  <a:srgbClr val="344054"/>
                </a:solidFill>
                <a:effectLst/>
                <a:latin typeface="Consolas" panose="020B0609020204030204" pitchFamily="49" charset="0"/>
              </a:rPr>
              <a:t>(() </a:t>
            </a:r>
            <a:r>
              <a:rPr lang="fr-FR" sz="1200" b="0" dirty="0">
                <a:solidFill>
                  <a:srgbClr val="1967B3"/>
                </a:solidFill>
                <a:effectLst/>
                <a:latin typeface="Consolas" panose="020B0609020204030204" pitchFamily="49" charset="0"/>
              </a:rPr>
              <a:t>=&gt;</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setSeconds</a:t>
            </a:r>
            <a:r>
              <a:rPr lang="fr-FR" sz="1200" b="0" dirty="0">
                <a:solidFill>
                  <a:srgbClr val="344054"/>
                </a:solidFill>
                <a:effectLst/>
                <a:latin typeface="Consolas" panose="020B0609020204030204" pitchFamily="49" charset="0"/>
              </a:rPr>
              <a:t>(</a:t>
            </a:r>
            <a:r>
              <a:rPr lang="fr-FR" sz="1200" b="0" dirty="0">
                <a:solidFill>
                  <a:srgbClr val="005A9C"/>
                </a:solidFill>
                <a:effectLst/>
                <a:latin typeface="Consolas" panose="020B0609020204030204" pitchFamily="49" charset="0"/>
              </a:rPr>
              <a:t>s</a:t>
            </a:r>
            <a:r>
              <a:rPr lang="fr-FR" sz="1200" b="0" dirty="0">
                <a:solidFill>
                  <a:srgbClr val="344054"/>
                </a:solidFill>
                <a:effectLst/>
                <a:latin typeface="Consolas" panose="020B0609020204030204" pitchFamily="49" charset="0"/>
              </a:rPr>
              <a:t> </a:t>
            </a:r>
            <a:r>
              <a:rPr lang="fr-FR" sz="1200" b="0" dirty="0">
                <a:solidFill>
                  <a:srgbClr val="1967B3"/>
                </a:solidFill>
                <a:effectLst/>
                <a:latin typeface="Consolas" panose="020B0609020204030204" pitchFamily="49" charset="0"/>
              </a:rPr>
              <a:t>=&gt;</a:t>
            </a:r>
            <a:r>
              <a:rPr lang="fr-FR" sz="1200" b="0" dirty="0">
                <a:solidFill>
                  <a:srgbClr val="344054"/>
                </a:solidFill>
                <a:effectLst/>
                <a:latin typeface="Consolas" panose="020B0609020204030204" pitchFamily="49" charset="0"/>
              </a:rPr>
              <a:t> </a:t>
            </a:r>
            <a:r>
              <a:rPr lang="fr-FR" sz="1200" b="0" dirty="0">
                <a:solidFill>
                  <a:srgbClr val="005A9C"/>
                </a:solidFill>
                <a:effectLst/>
                <a:latin typeface="Consolas" panose="020B0609020204030204" pitchFamily="49" charset="0"/>
              </a:rPr>
              <a:t>s</a:t>
            </a:r>
            <a:r>
              <a:rPr lang="fr-FR" sz="1200" b="0" dirty="0">
                <a:solidFill>
                  <a:srgbClr val="344054"/>
                </a:solidFill>
                <a:effectLst/>
                <a:latin typeface="Consolas" panose="020B0609020204030204" pitchFamily="49" charset="0"/>
              </a:rPr>
              <a:t> </a:t>
            </a:r>
            <a:r>
              <a:rPr lang="fr-FR" sz="1200" b="0" dirty="0">
                <a:solidFill>
                  <a:srgbClr val="475467"/>
                </a:solidFill>
                <a:effectLst/>
                <a:latin typeface="Consolas" panose="020B0609020204030204" pitchFamily="49" charset="0"/>
              </a:rPr>
              <a:t>+</a:t>
            </a:r>
            <a:r>
              <a:rPr lang="fr-FR" sz="1200" b="0" dirty="0">
                <a:solidFill>
                  <a:srgbClr val="344054"/>
                </a:solidFill>
                <a:effectLst/>
                <a:latin typeface="Consolas" panose="020B0609020204030204" pitchFamily="49" charset="0"/>
              </a:rPr>
              <a:t> </a:t>
            </a:r>
            <a:r>
              <a:rPr lang="fr-FR" sz="1200" b="0" dirty="0">
                <a:solidFill>
                  <a:srgbClr val="52731B"/>
                </a:solidFill>
                <a:effectLst/>
                <a:latin typeface="Consolas" panose="020B0609020204030204" pitchFamily="49" charset="0"/>
              </a:rPr>
              <a:t>1</a:t>
            </a:r>
            <a:r>
              <a:rPr lang="fr-FR" sz="1200" b="0" dirty="0">
                <a:solidFill>
                  <a:srgbClr val="344054"/>
                </a:solidFill>
                <a:effectLst/>
                <a:latin typeface="Consolas" panose="020B0609020204030204" pitchFamily="49" charset="0"/>
              </a:rPr>
              <a:t>), </a:t>
            </a:r>
            <a:r>
              <a:rPr lang="fr-FR" sz="1200" b="0" dirty="0">
                <a:solidFill>
                  <a:srgbClr val="52731B"/>
                </a:solidFill>
                <a:effectLst/>
                <a:latin typeface="Consolas" panose="020B0609020204030204" pitchFamily="49" charset="0"/>
              </a:rPr>
              <a:t>1000</a:t>
            </a:r>
            <a:r>
              <a:rPr lang="fr-FR" sz="1200" b="0" dirty="0">
                <a:solidFill>
                  <a:srgbClr val="344054"/>
                </a:solidFill>
                <a:effectLst/>
                <a:latin typeface="Consolas" panose="020B0609020204030204" pitchFamily="49" charset="0"/>
              </a:rPr>
              <a:t>);</a:t>
            </a:r>
          </a:p>
          <a:p>
            <a:pPr>
              <a:lnSpc>
                <a:spcPct val="100000"/>
              </a:lnSpc>
              <a:buNone/>
            </a:pPr>
            <a:r>
              <a:rPr lang="fr-FR" sz="1200" b="0" dirty="0">
                <a:solidFill>
                  <a:srgbClr val="344054"/>
                </a:solidFill>
                <a:effectLst/>
                <a:latin typeface="Consolas" panose="020B0609020204030204" pitchFamily="49" charset="0"/>
              </a:rPr>
              <a:t>    </a:t>
            </a:r>
            <a:r>
              <a:rPr lang="fr-FR" sz="1200" b="0" dirty="0">
                <a:solidFill>
                  <a:srgbClr val="814193"/>
                </a:solidFill>
                <a:effectLst/>
                <a:latin typeface="Consolas" panose="020B0609020204030204" pitchFamily="49" charset="0"/>
              </a:rPr>
              <a:t>return</a:t>
            </a:r>
            <a:r>
              <a:rPr lang="fr-FR" sz="1200" b="0" dirty="0">
                <a:solidFill>
                  <a:srgbClr val="344054"/>
                </a:solidFill>
                <a:effectLst/>
                <a:latin typeface="Consolas" panose="020B0609020204030204" pitchFamily="49" charset="0"/>
              </a:rPr>
              <a:t> () </a:t>
            </a:r>
            <a:r>
              <a:rPr lang="fr-FR" sz="1200" b="0" dirty="0">
                <a:solidFill>
                  <a:srgbClr val="1967B3"/>
                </a:solidFill>
                <a:effectLst/>
                <a:latin typeface="Consolas" panose="020B0609020204030204" pitchFamily="49" charset="0"/>
              </a:rPr>
              <a:t>=&gt;</a:t>
            </a:r>
            <a:r>
              <a:rPr lang="fr-FR" sz="1200" b="0" dirty="0">
                <a:solidFill>
                  <a:srgbClr val="344054"/>
                </a:solidFill>
                <a:effectLst/>
                <a:latin typeface="Consolas" panose="020B0609020204030204" pitchFamily="49" charset="0"/>
              </a:rPr>
              <a:t> </a:t>
            </a:r>
            <a:r>
              <a:rPr lang="fr-FR" sz="1200" b="0" dirty="0" err="1">
                <a:effectLst/>
                <a:latin typeface="Consolas" panose="020B0609020204030204" pitchFamily="49" charset="0"/>
              </a:rPr>
              <a:t>clearInterval</a:t>
            </a:r>
            <a:r>
              <a:rPr lang="fr-FR" sz="1200" b="0" dirty="0">
                <a:solidFill>
                  <a:srgbClr val="344054"/>
                </a:solidFill>
                <a:effectLst/>
                <a:latin typeface="Consolas" panose="020B0609020204030204" pitchFamily="49" charset="0"/>
              </a:rPr>
              <a:t>(</a:t>
            </a:r>
            <a:r>
              <a:rPr lang="fr-FR" sz="1200" b="0" dirty="0" err="1">
                <a:solidFill>
                  <a:srgbClr val="006FAB"/>
                </a:solidFill>
                <a:effectLst/>
                <a:latin typeface="Consolas" panose="020B0609020204030204" pitchFamily="49" charset="0"/>
              </a:rPr>
              <a:t>interval</a:t>
            </a:r>
            <a:r>
              <a:rPr lang="fr-FR" sz="1200" b="0" dirty="0">
                <a:solidFill>
                  <a:srgbClr val="344054"/>
                </a:solidFill>
                <a:effectLst/>
                <a:latin typeface="Consolas" panose="020B0609020204030204" pitchFamily="49" charset="0"/>
              </a:rPr>
              <a:t>); </a:t>
            </a:r>
            <a:r>
              <a:rPr lang="fr-FR" sz="1200" b="0" dirty="0">
                <a:solidFill>
                  <a:srgbClr val="3E6B30"/>
                </a:solidFill>
                <a:effectLst/>
                <a:latin typeface="Consolas" panose="020B0609020204030204" pitchFamily="49" charset="0"/>
              </a:rPr>
              <a:t>// nettoyage</a:t>
            </a:r>
            <a:endParaRPr lang="fr-FR" sz="1200" b="0" dirty="0">
              <a:solidFill>
                <a:srgbClr val="344054"/>
              </a:solidFill>
              <a:effectLst/>
              <a:latin typeface="Consolas" panose="020B0609020204030204" pitchFamily="49" charset="0"/>
            </a:endParaRPr>
          </a:p>
          <a:p>
            <a:pPr>
              <a:lnSpc>
                <a:spcPct val="100000"/>
              </a:lnSpc>
              <a:buNone/>
            </a:pPr>
            <a:r>
              <a:rPr lang="fr-FR" sz="1200" b="0" dirty="0">
                <a:solidFill>
                  <a:srgbClr val="344054"/>
                </a:solidFill>
                <a:effectLst/>
                <a:latin typeface="Consolas" panose="020B0609020204030204" pitchFamily="49" charset="0"/>
              </a:rPr>
              <a:t>  }, []);</a:t>
            </a:r>
          </a:p>
          <a:p>
            <a:pPr>
              <a:lnSpc>
                <a:spcPct val="100000"/>
              </a:lnSpc>
              <a:buNone/>
            </a:pPr>
            <a:r>
              <a:rPr lang="fr-FR" sz="1200" b="0" dirty="0">
                <a:solidFill>
                  <a:srgbClr val="344054"/>
                </a:solidFill>
                <a:effectLst/>
                <a:latin typeface="Consolas" panose="020B0609020204030204" pitchFamily="49" charset="0"/>
              </a:rPr>
              <a:t>  </a:t>
            </a:r>
            <a:r>
              <a:rPr lang="fr-FR" sz="1200" b="0" dirty="0">
                <a:solidFill>
                  <a:srgbClr val="814193"/>
                </a:solidFill>
                <a:effectLst/>
                <a:latin typeface="Consolas" panose="020B0609020204030204" pitchFamily="49" charset="0"/>
              </a:rPr>
              <a:t>return</a:t>
            </a:r>
            <a:r>
              <a:rPr lang="fr-FR" sz="1200" b="0" dirty="0">
                <a:solidFill>
                  <a:srgbClr val="344054"/>
                </a:solidFill>
                <a:effectLst/>
                <a:latin typeface="Consolas" panose="020B0609020204030204" pitchFamily="49" charset="0"/>
              </a:rPr>
              <a:t> </a:t>
            </a:r>
            <a:r>
              <a:rPr lang="fr-FR" sz="1200" b="0" dirty="0">
                <a:solidFill>
                  <a:srgbClr val="475467"/>
                </a:solidFill>
                <a:effectLst/>
                <a:latin typeface="Consolas" panose="020B0609020204030204" pitchFamily="49" charset="0"/>
              </a:rPr>
              <a:t>&lt;</a:t>
            </a:r>
            <a:r>
              <a:rPr lang="fr-FR" sz="1200" b="0" dirty="0">
                <a:solidFill>
                  <a:srgbClr val="1967B3"/>
                </a:solidFill>
                <a:effectLst/>
                <a:latin typeface="Consolas" panose="020B0609020204030204" pitchFamily="49" charset="0"/>
              </a:rPr>
              <a:t>p</a:t>
            </a:r>
            <a:r>
              <a:rPr lang="fr-FR" sz="1200" b="0" dirty="0">
                <a:solidFill>
                  <a:srgbClr val="475467"/>
                </a:solidFill>
                <a:effectLst/>
                <a:latin typeface="Consolas" panose="020B0609020204030204" pitchFamily="49" charset="0"/>
              </a:rPr>
              <a:t>&gt;</a:t>
            </a:r>
            <a:r>
              <a:rPr lang="fr-FR" sz="1200" b="0" dirty="0">
                <a:solidFill>
                  <a:srgbClr val="344054"/>
                </a:solidFill>
                <a:effectLst/>
                <a:latin typeface="Consolas" panose="020B0609020204030204" pitchFamily="49" charset="0"/>
              </a:rPr>
              <a:t>Temps écoulé : </a:t>
            </a:r>
            <a:r>
              <a:rPr lang="fr-FR" sz="1200" b="0" dirty="0">
                <a:solidFill>
                  <a:srgbClr val="1967B3"/>
                </a:solidFill>
                <a:effectLst/>
                <a:latin typeface="Consolas" panose="020B0609020204030204" pitchFamily="49" charset="0"/>
              </a:rPr>
              <a:t>{</a:t>
            </a:r>
            <a:r>
              <a:rPr lang="fr-FR" sz="1200" b="0" dirty="0">
                <a:solidFill>
                  <a:srgbClr val="006FAB"/>
                </a:solidFill>
                <a:effectLst/>
                <a:latin typeface="Consolas" panose="020B0609020204030204" pitchFamily="49" charset="0"/>
              </a:rPr>
              <a:t>seconds</a:t>
            </a:r>
            <a:r>
              <a:rPr lang="fr-FR" sz="1200" b="0" dirty="0">
                <a:solidFill>
                  <a:srgbClr val="1967B3"/>
                </a:solidFill>
                <a:effectLst/>
                <a:latin typeface="Consolas" panose="020B0609020204030204" pitchFamily="49" charset="0"/>
              </a:rPr>
              <a:t>}</a:t>
            </a:r>
            <a:r>
              <a:rPr lang="fr-FR" sz="1200" b="0" dirty="0">
                <a:solidFill>
                  <a:srgbClr val="344054"/>
                </a:solidFill>
                <a:effectLst/>
                <a:latin typeface="Consolas" panose="020B0609020204030204" pitchFamily="49" charset="0"/>
              </a:rPr>
              <a:t>s</a:t>
            </a:r>
            <a:r>
              <a:rPr lang="fr-FR" sz="1200" b="0" dirty="0">
                <a:solidFill>
                  <a:srgbClr val="475467"/>
                </a:solidFill>
                <a:effectLst/>
                <a:latin typeface="Consolas" panose="020B0609020204030204" pitchFamily="49" charset="0"/>
              </a:rPr>
              <a:t>&lt;/</a:t>
            </a:r>
            <a:r>
              <a:rPr lang="fr-FR" sz="1200" b="0" dirty="0">
                <a:solidFill>
                  <a:srgbClr val="1967B3"/>
                </a:solidFill>
                <a:effectLst/>
                <a:latin typeface="Consolas" panose="020B0609020204030204" pitchFamily="49" charset="0"/>
              </a:rPr>
              <a:t>p</a:t>
            </a:r>
            <a:r>
              <a:rPr lang="fr-FR" sz="1200" b="0" dirty="0">
                <a:solidFill>
                  <a:srgbClr val="475467"/>
                </a:solidFill>
                <a:effectLst/>
                <a:latin typeface="Consolas" panose="020B0609020204030204" pitchFamily="49" charset="0"/>
              </a:rPr>
              <a:t>&gt;</a:t>
            </a:r>
            <a:r>
              <a:rPr lang="fr-FR" sz="1200" b="0" dirty="0">
                <a:solidFill>
                  <a:srgbClr val="344054"/>
                </a:solidFill>
                <a:effectLst/>
                <a:latin typeface="Consolas" panose="020B0609020204030204" pitchFamily="49" charset="0"/>
              </a:rPr>
              <a:t>;</a:t>
            </a:r>
          </a:p>
          <a:p>
            <a:pPr>
              <a:lnSpc>
                <a:spcPct val="100000"/>
              </a:lnSpc>
              <a:buNone/>
            </a:pPr>
            <a:r>
              <a:rPr lang="fr-FR" sz="1200" b="0" dirty="0">
                <a:solidFill>
                  <a:srgbClr val="344054"/>
                </a:solidFill>
                <a:effectLst/>
                <a:latin typeface="Consolas" panose="020B0609020204030204" pitchFamily="49" charset="0"/>
              </a:rPr>
              <a:t>}</a:t>
            </a:r>
          </a:p>
          <a:p>
            <a:pPr>
              <a:lnSpc>
                <a:spcPts val="1425"/>
              </a:lnSpc>
              <a:buNone/>
            </a:pPr>
            <a:endParaRPr lang="fr-FR" sz="1000" b="0" dirty="0">
              <a:solidFill>
                <a:srgbClr val="344054"/>
              </a:solidFill>
              <a:effectLst/>
              <a:latin typeface="Consolas" panose="020B0609020204030204" pitchFamily="49" charset="0"/>
            </a:endParaRPr>
          </a:p>
          <a:p>
            <a:pPr>
              <a:lnSpc>
                <a:spcPct val="100000"/>
              </a:lnSpc>
            </a:pPr>
            <a:r>
              <a:rPr lang="fr-FR" sz="1400" dirty="0"/>
              <a:t>Avec [] : s’exécute au montage (en développement, React peut rejouer l’effet).</a:t>
            </a:r>
          </a:p>
          <a:p>
            <a:pPr>
              <a:lnSpc>
                <a:spcPct val="100000"/>
              </a:lnSpc>
            </a:pPr>
            <a:r>
              <a:rPr lang="fr-FR" sz="1400" dirty="0"/>
              <a:t>Sert à synchroniser minuteurs, abonnements et autres systèmes externes.</a:t>
            </a:r>
          </a:p>
          <a:p>
            <a:pPr>
              <a:lnSpc>
                <a:spcPct val="100000"/>
              </a:lnSpc>
            </a:pPr>
            <a:r>
              <a:rPr lang="fr-FR" sz="1400" dirty="0"/>
              <a:t>La fonction retournée nettoie l’effet avant une relance ou au démontage.</a:t>
            </a:r>
          </a:p>
        </p:txBody>
      </p:sp>
      <p:sp>
        <p:nvSpPr>
          <p:cNvPr id="3" name="Espace réservé du numéro de diapositive 2">
            <a:extLst>
              <a:ext uri="{FF2B5EF4-FFF2-40B4-BE49-F238E27FC236}">
                <a16:creationId xmlns:a16="http://schemas.microsoft.com/office/drawing/2014/main" id="{F5B711B7-2988-2A67-3853-3F27A02E815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57746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95EE1998-EE31-5533-D49F-68A4907D818D}"/>
              </a:ext>
            </a:extLst>
          </p:cNvPr>
          <p:cNvSpPr>
            <a:spLocks noGrp="1" noChangeArrowheads="1"/>
          </p:cNvSpPr>
          <p:nvPr>
            <p:ph idx="1"/>
          </p:nvPr>
        </p:nvSpPr>
        <p:spPr bwMode="auto">
          <a:xfrm>
            <a:off x="5940802" y="324705"/>
            <a:ext cx="6019138" cy="581184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Composant Angular : classe et template</a:t>
            </a:r>
          </a:p>
          <a:p>
            <a:pPr marL="0" indent="0" eaLnBrk="0" fontAlgn="base" hangingPunct="0">
              <a:lnSpc>
                <a:spcPct val="200000"/>
              </a:lnSpc>
              <a:spcBef>
                <a:spcPct val="0"/>
              </a:spcBef>
              <a:spcAft>
                <a:spcPct val="0"/>
              </a:spcAft>
              <a:buNone/>
            </a:pPr>
            <a:r>
              <a:rPr lang="fr-FR" sz="1800" b="1" dirty="0"/>
              <a:t>Exemple : le composant Welcome</a:t>
            </a:r>
          </a:p>
          <a:p>
            <a:pPr>
              <a:lnSpc>
                <a:spcPct val="100000"/>
              </a:lnSpc>
              <a:buNone/>
            </a:pPr>
            <a:r>
              <a:rPr lang="fr-FR" sz="1200" b="1" dirty="0">
                <a:effectLst/>
                <a:latin typeface="Consolas" panose="020B0609020204030204" pitchFamily="49" charset="0"/>
              </a:rPr>
              <a:t>import { Component } from '@angular/core';</a:t>
            </a:r>
          </a:p>
          <a:p>
            <a:pPr>
              <a:lnSpc>
                <a:spcPct val="100000"/>
              </a:lnSpc>
              <a:buNone/>
            </a:pPr>
            <a:r>
              <a:rPr lang="fr-FR" sz="1200" b="1" dirty="0">
                <a:effectLst/>
                <a:latin typeface="Consolas" panose="020B0609020204030204" pitchFamily="49" charset="0"/>
              </a:rPr>
              <a:t>@Component({</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selector</a:t>
            </a:r>
            <a:r>
              <a:rPr lang="fr-FR" sz="1200" b="1" dirty="0">
                <a:solidFill>
                  <a:srgbClr val="005A9C"/>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A64B27"/>
                </a:solidFill>
                <a:effectLst/>
                <a:latin typeface="Consolas" panose="020B0609020204030204" pitchFamily="49" charset="0"/>
              </a:rPr>
              <a:t>'app-</a:t>
            </a:r>
            <a:r>
              <a:rPr lang="fr-FR" sz="1200" b="1" dirty="0" err="1">
                <a:solidFill>
                  <a:srgbClr val="A64B27"/>
                </a:solidFill>
                <a:effectLst/>
                <a:latin typeface="Consolas" panose="020B0609020204030204" pitchFamily="49" charset="0"/>
              </a:rPr>
              <a:t>welcome</a:t>
            </a:r>
            <a:r>
              <a:rPr lang="fr-FR" sz="1200" b="1" dirty="0">
                <a:solidFill>
                  <a:srgbClr val="A64B27"/>
                </a:solidFill>
                <a:effectLst/>
                <a:latin typeface="Consolas" panose="020B0609020204030204" pitchFamily="49" charset="0"/>
              </a:rPr>
              <a:t>'</a:t>
            </a:r>
            <a:r>
              <a:rPr lang="fr-FR" sz="1200" b="1" dirty="0">
                <a:solidFill>
                  <a:srgbClr val="344054"/>
                </a:solidFill>
                <a:effectLst/>
                <a:latin typeface="Consolas" panose="020B0609020204030204" pitchFamily="49" charset="0"/>
              </a:rPr>
              <a:t>,</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template</a:t>
            </a:r>
            <a:r>
              <a:rPr lang="fr-FR" sz="1200" b="1" dirty="0">
                <a:solidFill>
                  <a:srgbClr val="005A9C"/>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A64B27"/>
                </a:solidFill>
                <a:effectLst/>
                <a:latin typeface="Consolas" panose="020B0609020204030204" pitchFamily="49" charset="0"/>
              </a:rPr>
              <a:t>`&lt;h1&gt;Bonjour {{ </a:t>
            </a:r>
            <a:r>
              <a:rPr lang="fr-FR" sz="1200" b="1" dirty="0" err="1">
                <a:solidFill>
                  <a:srgbClr val="A64B27"/>
                </a:solidFill>
                <a:effectLst/>
                <a:latin typeface="Consolas" panose="020B0609020204030204" pitchFamily="49" charset="0"/>
              </a:rPr>
              <a:t>name</a:t>
            </a:r>
            <a:r>
              <a:rPr lang="fr-FR" sz="1200" b="1" dirty="0">
                <a:solidFill>
                  <a:srgbClr val="A64B27"/>
                </a:solidFill>
                <a:effectLst/>
                <a:latin typeface="Consolas" panose="020B0609020204030204" pitchFamily="49" charset="0"/>
              </a:rPr>
              <a:t> }}&lt;/h1&gt;`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a:t>
            </a:r>
          </a:p>
          <a:p>
            <a:pPr>
              <a:lnSpc>
                <a:spcPct val="100000"/>
              </a:lnSpc>
              <a:buNone/>
            </a:pPr>
            <a:r>
              <a:rPr lang="fr-FR" sz="1200" b="1" dirty="0">
                <a:solidFill>
                  <a:srgbClr val="814193"/>
                </a:solidFill>
                <a:effectLst/>
                <a:latin typeface="Consolas" panose="020B0609020204030204" pitchFamily="49" charset="0"/>
              </a:rPr>
              <a:t>export</a:t>
            </a:r>
            <a:r>
              <a:rPr lang="fr-FR" sz="1200" b="1" dirty="0">
                <a:solidFill>
                  <a:srgbClr val="344054"/>
                </a:solidFill>
                <a:effectLst/>
                <a:latin typeface="Consolas" panose="020B0609020204030204" pitchFamily="49" charset="0"/>
              </a:rPr>
              <a:t> </a:t>
            </a:r>
            <a:r>
              <a:rPr lang="fr-FR" sz="1200" b="1" dirty="0">
                <a:solidFill>
                  <a:srgbClr val="1967B3"/>
                </a:solidFill>
                <a:effectLst/>
                <a:latin typeface="Consolas" panose="020B0609020204030204" pitchFamily="49" charset="0"/>
              </a:rPr>
              <a:t>class</a:t>
            </a:r>
            <a:r>
              <a:rPr lang="fr-FR" sz="1200" b="1" dirty="0">
                <a:solidFill>
                  <a:srgbClr val="344054"/>
                </a:solidFill>
                <a:effectLst/>
                <a:latin typeface="Consolas" panose="020B0609020204030204" pitchFamily="49" charset="0"/>
              </a:rPr>
              <a:t> </a:t>
            </a:r>
            <a:r>
              <a:rPr lang="fr-FR" sz="1200" b="1" dirty="0" err="1">
                <a:solidFill>
                  <a:srgbClr val="007A68"/>
                </a:solidFill>
                <a:effectLst/>
                <a:latin typeface="Consolas" panose="020B0609020204030204" pitchFamily="49" charset="0"/>
              </a:rPr>
              <a:t>WelcomeComponent</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name</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007A68"/>
                </a:solidFill>
                <a:effectLst/>
                <a:latin typeface="Consolas" panose="020B0609020204030204" pitchFamily="49" charset="0"/>
              </a:rPr>
              <a:t>string</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A64B27"/>
                </a:solidFill>
                <a:effectLst/>
                <a:latin typeface="Consolas" panose="020B0609020204030204" pitchFamily="49" charset="0"/>
              </a:rPr>
              <a:t>'Alice'</a:t>
            </a:r>
            <a:r>
              <a:rPr lang="fr-FR" sz="1200" b="1" dirty="0">
                <a:solidFill>
                  <a:srgbClr val="344054"/>
                </a:solidFill>
                <a:effectLst/>
                <a:latin typeface="Consolas" panose="020B0609020204030204" pitchFamily="49" charset="0"/>
              </a:rPr>
              <a:t>;</a:t>
            </a:r>
          </a:p>
          <a:p>
            <a:pPr>
              <a:lnSpc>
                <a:spcPct val="100000"/>
              </a:lnSpc>
              <a:buNone/>
            </a:pPr>
            <a:r>
              <a:rPr lang="fr-FR" sz="1200" b="1" dirty="0">
                <a:solidFill>
                  <a:srgbClr val="344054"/>
                </a:solidFill>
                <a:effectLst/>
                <a:latin typeface="Consolas" panose="020B0609020204030204" pitchFamily="49" charset="0"/>
              </a:rPr>
              <a:t>}</a:t>
            </a:r>
          </a:p>
          <a:p>
            <a:pPr>
              <a:lnSpc>
                <a:spcPts val="1425"/>
              </a:lnSpc>
              <a:buNone/>
            </a:pPr>
            <a:endParaRPr lang="fr-FR" sz="1000" b="0" dirty="0">
              <a:solidFill>
                <a:srgbClr val="344054"/>
              </a:solidFill>
              <a:effectLst/>
              <a:latin typeface="Consolas" panose="020B0609020204030204" pitchFamily="49" charset="0"/>
            </a:endParaRPr>
          </a:p>
          <a:p>
            <a:r>
              <a:rPr lang="fr-FR" sz="1400" dirty="0"/>
              <a:t>Défini par une </a:t>
            </a:r>
            <a:r>
              <a:rPr lang="fr-FR" sz="1400" b="1" dirty="0"/>
              <a:t>classe </a:t>
            </a:r>
            <a:r>
              <a:rPr lang="fr-FR" sz="1400" b="1" dirty="0" err="1"/>
              <a:t>TypeScript</a:t>
            </a:r>
            <a:r>
              <a:rPr lang="fr-FR" sz="1400" b="1" dirty="0"/>
              <a:t> </a:t>
            </a:r>
            <a:r>
              <a:rPr lang="fr-FR" sz="1400" dirty="0"/>
              <a:t>décorée avec </a:t>
            </a:r>
            <a:r>
              <a:rPr lang="fr-FR" sz="1400" b="1" dirty="0"/>
              <a:t>@Component.</a:t>
            </a:r>
          </a:p>
          <a:p>
            <a:r>
              <a:rPr lang="fr-FR" sz="1400" dirty="0"/>
              <a:t>La propriété name fournit la valeur affichée par {{ name }}.</a:t>
            </a:r>
          </a:p>
          <a:p>
            <a:r>
              <a:rPr lang="fr-FR" sz="1400" dirty="0"/>
              <a:t>Rendu via un </a:t>
            </a:r>
            <a:r>
              <a:rPr lang="fr-FR" sz="1400" b="1" dirty="0" err="1"/>
              <a:t>template</a:t>
            </a:r>
            <a:r>
              <a:rPr lang="fr-FR" sz="1400" b="1" dirty="0"/>
              <a:t> HTML </a:t>
            </a:r>
            <a:r>
              <a:rPr lang="fr-FR" sz="1400" dirty="0"/>
              <a:t>(</a:t>
            </a:r>
            <a:r>
              <a:rPr lang="fr-FR" sz="1400" dirty="0" err="1"/>
              <a:t>inline</a:t>
            </a:r>
            <a:r>
              <a:rPr lang="fr-FR" sz="1400" dirty="0"/>
              <a:t> ou fichier séparé).</a:t>
            </a:r>
          </a:p>
          <a:p>
            <a:r>
              <a:rPr lang="fr-FR" sz="1400" dirty="0" err="1"/>
              <a:t>Le sélecteur app-welcome permet de l’insérer dans un autre template.</a:t>
            </a:r>
            <a:endParaRPr kumimoji="0" lang="fr-FR" altLang="fr-FR" sz="1400" b="1" i="0" u="none" strike="noStrike" cap="none" normalizeH="0" baseline="0" dirty="0">
              <a:ln>
                <a:noFill/>
              </a:ln>
              <a:solidFill>
                <a:schemeClr val="tx1"/>
              </a:solidFill>
              <a:effectLst/>
              <a:latin typeface="Arial" panose="020B0604020202020204" pitchFamily="34" charset="0"/>
            </a:endParaRPr>
          </a:p>
          <a:p>
            <a:pPr marL="0" indent="0">
              <a:buNone/>
            </a:pP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07643886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EB14D798-AC41-4FA2-AEE9-CC7415261801}"/>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Angular : un état local avec signal()</a:t>
            </a:r>
          </a:p>
        </p:txBody>
      </p:sp>
      <p:sp>
        <p:nvSpPr>
          <p:cNvPr id="101" name="example-label">
            <a:extLst>
              <a:ext uri="{FF2B5EF4-FFF2-40B4-BE49-F238E27FC236}">
                <a16:creationId xmlns:a16="http://schemas.microsoft.com/office/drawing/2014/main" id="{32CD626B-59B1-4178-B3C0-29823622F696}"/>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Compteur standalone</a:t>
            </a:r>
          </a:p>
        </p:txBody>
      </p:sp>
      <p:sp>
        <p:nvSpPr>
          <p:cNvPr id="102" name="angular-code">
            <a:extLst>
              <a:ext uri="{FF2B5EF4-FFF2-40B4-BE49-F238E27FC236}">
                <a16:creationId xmlns:a16="http://schemas.microsoft.com/office/drawing/2014/main" id="{E7688D34-1C5C-4991-8B7B-108F8BB8C0D8}"/>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Component</a:t>
            </a:r>
            <a:r>
              <a:t>, </a:t>
            </a:r>
            <a:r>
              <a:rPr>
                <a:solidFill>
                  <a:srgbClr val="008977"/>
                </a:solidFill>
              </a:rPr>
              <a:t>signal</a:t>
            </a:r>
            <a:r>
              <a:t> }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t>@</a:t>
            </a:r>
            <a:r>
              <a:rPr>
                <a:solidFill>
                  <a:srgbClr val="008977"/>
                </a:solidFill>
              </a:rPr>
              <a:t>Component</a:t>
            </a:r>
            <a:r>
              <a:t>({</a:t>
            </a:r>
          </a:p>
          <a:p>
            <a:pPr>
              <a:spcAft>
                <a:spcPts val="0"/>
              </a:spcAft>
              <a:defRPr sz="1350" b="0">
                <a:solidFill>
                  <a:srgbClr val="000000"/>
                </a:solidFill>
                <a:latin typeface="Consolas"/>
                <a:ea typeface="Consolas"/>
                <a:cs typeface="Consolas"/>
              </a:defRPr>
            </a:pPr>
            <a:r>
              <a:t>  selector: </a:t>
            </a:r>
            <a:r>
              <a:rPr>
                <a:solidFill>
                  <a:srgbClr val="B44520"/>
                </a:solidFill>
              </a:rPr>
              <a:t>'app-counter'</a:t>
            </a:r>
            <a:r>
              <a:t>, standalone: </a:t>
            </a:r>
            <a:r>
              <a:rPr>
                <a:solidFill>
                  <a:srgbClr val="8D36A8"/>
                </a:solidFill>
              </a:rPr>
              <a:t>true</a:t>
            </a:r>
            <a:r>
              <a:t>,</a:t>
            </a:r>
          </a:p>
          <a:p>
            <a:pPr>
              <a:spcAft>
                <a:spcPts val="0"/>
              </a:spcAft>
              <a:defRPr sz="1350" b="0">
                <a:solidFill>
                  <a:srgbClr val="000000"/>
                </a:solidFill>
                <a:latin typeface="Consolas"/>
                <a:ea typeface="Consolas"/>
                <a:cs typeface="Consolas"/>
              </a:defRPr>
            </a:pPr>
            <a:r>
              <a:t>  template: `</a:t>
            </a:r>
          </a:p>
          <a:p>
            <a:pPr>
              <a:spcAft>
                <a:spcPts val="0"/>
              </a:spcAft>
              <a:defRPr sz="1350" b="0">
                <a:solidFill>
                  <a:srgbClr val="000000"/>
                </a:solidFill>
                <a:latin typeface="Consolas"/>
                <a:ea typeface="Consolas"/>
                <a:cs typeface="Consolas"/>
              </a:defRPr>
            </a:pPr>
            <a:r>
              <a:t>    &lt;p&gt;Compteur : {{ count() }}&lt;/p&gt;</a:t>
            </a:r>
          </a:p>
          <a:p>
            <a:pPr>
              <a:spcAft>
                <a:spcPts val="0"/>
              </a:spcAft>
              <a:defRPr sz="1350" b="0">
                <a:solidFill>
                  <a:srgbClr val="000000"/>
                </a:solidFill>
                <a:latin typeface="Consolas"/>
                <a:ea typeface="Consolas"/>
                <a:cs typeface="Consolas"/>
              </a:defRPr>
            </a:pPr>
            <a:r>
              <a:t>    &lt;button (click)=</a:t>
            </a:r>
            <a:r>
              <a:rPr>
                <a:solidFill>
                  <a:srgbClr val="B44520"/>
                </a:solidFill>
              </a:rPr>
              <a:t>"increment()"</a:t>
            </a:r>
            <a:r>
              <a:t>&gt;+</a:t>
            </a:r>
            <a:r>
              <a:rPr>
                <a:solidFill>
                  <a:srgbClr val="558B2F"/>
                </a:solidFill>
              </a:rPr>
              <a:t>1</a:t>
            </a:r>
            <a:r>
              <a:t>&lt;/button&gt;</a:t>
            </a:r>
          </a:p>
          <a:p>
            <a:pPr>
              <a:spcAft>
                <a:spcPts val="0"/>
              </a:spcAft>
              <a:defRPr sz="1350" b="0">
                <a:solidFill>
                  <a:srgbClr val="000000"/>
                </a:solidFill>
                <a:latin typeface="Consolas"/>
                <a:ea typeface="Consolas"/>
                <a:cs typeface="Consolas"/>
              </a:defRPr>
            </a:pPr>
            <a:r>
              <a:t>    &lt;button (click)=</a:t>
            </a:r>
            <a:r>
              <a:rPr>
                <a:solidFill>
                  <a:srgbClr val="B44520"/>
                </a:solidFill>
              </a:rPr>
              <a:t>"reset()"</a:t>
            </a:r>
            <a:r>
              <a:t>&gt;Remise à zéro&lt;/button&gt;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Counter {</a:t>
            </a:r>
          </a:p>
          <a:p>
            <a:pPr>
              <a:spcAft>
                <a:spcPts val="0"/>
              </a:spcAft>
              <a:defRPr sz="1350" b="0">
                <a:solidFill>
                  <a:srgbClr val="000000"/>
                </a:solidFill>
                <a:latin typeface="Consolas"/>
                <a:ea typeface="Consolas"/>
                <a:cs typeface="Consolas"/>
              </a:defRPr>
            </a:pPr>
            <a:r>
              <a:t>  </a:t>
            </a:r>
            <a:r>
              <a:rPr>
                <a:solidFill>
                  <a:srgbClr val="8D36A8"/>
                </a:solidFill>
              </a:rPr>
              <a:t>readonly</a:t>
            </a:r>
            <a:r>
              <a:t> count = </a:t>
            </a:r>
            <a:r>
              <a:rPr>
                <a:solidFill>
                  <a:srgbClr val="008977"/>
                </a:solidFill>
              </a:rPr>
              <a:t>signal</a:t>
            </a:r>
            <a:r>
              <a:t>(</a:t>
            </a:r>
            <a:r>
              <a:rPr>
                <a:solidFill>
                  <a:srgbClr val="558B2F"/>
                </a:solidFill>
              </a:rPr>
              <a:t>0</a:t>
            </a:r>
            <a:r>
              <a:t>);</a:t>
            </a:r>
          </a:p>
          <a:p>
            <a:pPr>
              <a:spcAft>
                <a:spcPts val="0"/>
              </a:spcAft>
              <a:defRPr sz="1350" b="0">
                <a:solidFill>
                  <a:srgbClr val="000000"/>
                </a:solidFill>
                <a:latin typeface="Consolas"/>
                <a:ea typeface="Consolas"/>
                <a:cs typeface="Consolas"/>
              </a:defRPr>
            </a:pPr>
            <a:r>
              <a:t>  increment() {</a:t>
            </a:r>
          </a:p>
          <a:p>
            <a:pPr>
              <a:spcAft>
                <a:spcPts val="0"/>
              </a:spcAft>
              <a:defRPr sz="1350" b="0">
                <a:solidFill>
                  <a:srgbClr val="000000"/>
                </a:solidFill>
                <a:latin typeface="Consolas"/>
                <a:ea typeface="Consolas"/>
                <a:cs typeface="Consolas"/>
              </a:defRPr>
            </a:pPr>
            <a:r>
              <a:t>    this.count.update(n =&gt; n + </a:t>
            </a:r>
            <a:r>
              <a:rPr>
                <a:solidFill>
                  <a:srgbClr val="558B2F"/>
                </a:solidFill>
              </a:rPr>
              <a:t>1</a:t>
            </a:r>
            <a:r>
              <a: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reset() { this.count.set(</a:t>
            </a:r>
            <a:r>
              <a:rPr>
                <a:solidFill>
                  <a:srgbClr val="558B2F"/>
                </a:solidFill>
              </a:rPr>
              <a:t>0</a:t>
            </a:r>
            <a:r>
              <a:t>); }</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06874DB5-0E3B-4B60-8C81-A573E67AB58D}"/>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7689C972-A7F6-437C-ABD0-E52B034D355F}"/>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count() lit la valeur courante.</a:t>
            </a:r>
          </a:p>
          <a:p>
            <a:pPr marL="152400" indent="-114300">
              <a:spcAft>
                <a:spcPts val="500"/>
              </a:spcAft>
              <a:buChar char="•"/>
              <a:defRPr sz="1500" b="0">
                <a:solidFill>
                  <a:srgbClr val="000000"/>
                </a:solidFill>
                <a:latin typeface="Calibri"/>
                <a:ea typeface="Calibri"/>
                <a:cs typeface="Calibri"/>
              </a:defRPr>
            </a:pPr>
            <a:r>
              <a:t>set(0) remplace la valeur.</a:t>
            </a:r>
          </a:p>
          <a:p>
            <a:pPr marL="152400" indent="-114300">
              <a:spcAft>
                <a:spcPts val="500"/>
              </a:spcAft>
              <a:buChar char="•"/>
              <a:defRPr sz="1500" b="0">
                <a:solidFill>
                  <a:srgbClr val="000000"/>
                </a:solidFill>
                <a:latin typeface="Calibri"/>
                <a:ea typeface="Calibri"/>
                <a:cs typeface="Calibri"/>
              </a:defRPr>
            </a:pPr>
            <a:r>
              <a:t>update(n =&gt; n + 1) utilise la valeur précédente.</a:t>
            </a:r>
          </a:p>
          <a:p>
            <a:pPr marL="152400" indent="-114300">
              <a:spcAft>
                <a:spcPts val="500"/>
              </a:spcAft>
              <a:buChar char="•"/>
              <a:defRPr sz="1500" b="0">
                <a:solidFill>
                  <a:srgbClr val="000000"/>
                </a:solidFill>
                <a:latin typeface="Calibri"/>
                <a:ea typeface="Calibri"/>
                <a:cs typeface="Calibri"/>
              </a:defRPr>
            </a:pPr>
            <a:r>
              <a:t>Le template suit le signal qu’il lit.</a:t>
            </a:r>
          </a:p>
        </p:txBody>
      </p:sp>
    </p:spTree>
    <p:extLst>
      <p:ext uri="{BB962C8B-B14F-4D97-AF65-F5344CB8AC3E}">
        <p14:creationId xmlns:p14="http://schemas.microsoft.com/office/powerpoint/2010/main" val="207643886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77A4D5DA-01B5-4251-86DE-0ACCBA5BD642}"/>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useState et signal() : repères</a:t>
            </a:r>
          </a:p>
        </p:txBody>
      </p:sp>
      <p:sp>
        <p:nvSpPr>
          <p:cNvPr id="101" name="example-label">
            <a:extLst>
              <a:ext uri="{FF2B5EF4-FFF2-40B4-BE49-F238E27FC236}">
                <a16:creationId xmlns:a16="http://schemas.microsoft.com/office/drawing/2014/main" id="{BF056C23-2CA5-4854-9975-B517F3562FBC}"/>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 objectif commun, deux mécanismes</a:t>
            </a:r>
          </a:p>
        </p:txBody>
      </p:sp>
      <p:sp>
        <p:nvSpPr>
          <p:cNvPr id="102" name="angular-code">
            <a:extLst>
              <a:ext uri="{FF2B5EF4-FFF2-40B4-BE49-F238E27FC236}">
                <a16:creationId xmlns:a16="http://schemas.microsoft.com/office/drawing/2014/main" id="{C10CA13C-C561-4100-9815-AC40809C14B5}"/>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558B2F"/>
                </a:solidFill>
              </a:rPr>
              <a:t>// React : dans une fonction composant</a:t>
            </a:r>
          </a:p>
          <a:p>
            <a:pPr>
              <a:spcAft>
                <a:spcPts val="0"/>
              </a:spcAft>
              <a:defRPr sz="1350" b="0">
                <a:solidFill>
                  <a:srgbClr val="000000"/>
                </a:solidFill>
                <a:latin typeface="Consolas"/>
                <a:ea typeface="Consolas"/>
                <a:cs typeface="Consolas"/>
              </a:defRPr>
            </a:pPr>
            <a:r>
              <a:rPr>
                <a:solidFill>
                  <a:srgbClr val="8D36A8"/>
                </a:solidFill>
              </a:rPr>
              <a:t>const</a:t>
            </a:r>
            <a:r>
              <a:t> [count, setCount] = useState(</a:t>
            </a:r>
            <a:r>
              <a:rPr>
                <a:solidFill>
                  <a:srgbClr val="558B2F"/>
                </a:solidFill>
              </a:rPr>
              <a:t>0</a:t>
            </a:r>
            <a:r>
              <a:t>);</a:t>
            </a:r>
          </a:p>
          <a:p>
            <a:pPr>
              <a:spcAft>
                <a:spcPts val="0"/>
              </a:spcAft>
              <a:defRPr sz="1350" b="0">
                <a:solidFill>
                  <a:srgbClr val="000000"/>
                </a:solidFill>
                <a:latin typeface="Consolas"/>
                <a:ea typeface="Consolas"/>
                <a:cs typeface="Consolas"/>
              </a:defRPr>
            </a:pPr>
            <a:r>
              <a:t>setCount(n =&gt; n + </a:t>
            </a:r>
            <a:r>
              <a:rPr>
                <a:solidFill>
                  <a:srgbClr val="558B2F"/>
                </a:solidFill>
              </a:rPr>
              <a:t>1</a:t>
            </a:r>
            <a:r>
              <a:t>);</a:t>
            </a:r>
          </a:p>
          <a:p>
            <a:pPr>
              <a:spcAft>
                <a:spcPts val="0"/>
              </a:spcAft>
              <a:defRPr sz="1350" b="0">
                <a:solidFill>
                  <a:srgbClr val="000000"/>
                </a:solidFill>
                <a:latin typeface="Consolas"/>
                <a:ea typeface="Consolas"/>
                <a:cs typeface="Consolas"/>
              </a:defRPr>
            </a:pPr>
            <a:r>
              <a:rPr>
                <a:solidFill>
                  <a:srgbClr val="558B2F"/>
                </a:solidFill>
              </a:rPr>
              <a:t>// JSX : &lt;p&gt;{count}&lt;/p&gt;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rPr>
                <a:solidFill>
                  <a:srgbClr val="558B2F"/>
                </a:solidFill>
              </a:rPr>
              <a:t>// Angular : champ d’une classe composant</a:t>
            </a:r>
          </a:p>
          <a:p>
            <a:pPr>
              <a:spcAft>
                <a:spcPts val="0"/>
              </a:spcAft>
              <a:defRPr sz="1350" b="0">
                <a:solidFill>
                  <a:srgbClr val="000000"/>
                </a:solidFill>
                <a:latin typeface="Consolas"/>
                <a:ea typeface="Consolas"/>
                <a:cs typeface="Consolas"/>
              </a:defRPr>
            </a:pPr>
            <a:r>
              <a:rPr>
                <a:solidFill>
                  <a:srgbClr val="8D36A8"/>
                </a:solidFill>
              </a:rPr>
              <a:t>readonly</a:t>
            </a:r>
            <a:r>
              <a:t> count = </a:t>
            </a:r>
            <a:r>
              <a:rPr>
                <a:solidFill>
                  <a:srgbClr val="008977"/>
                </a:solidFill>
              </a:rPr>
              <a:t>signal</a:t>
            </a:r>
            <a:r>
              <a:t>(</a:t>
            </a:r>
            <a:r>
              <a:rPr>
                <a:solidFill>
                  <a:srgbClr val="558B2F"/>
                </a:solidFill>
              </a:rPr>
              <a:t>0</a:t>
            </a:r>
            <a:r>
              <a:t>);</a:t>
            </a:r>
          </a:p>
          <a:p>
            <a:pPr>
              <a:spcAft>
                <a:spcPts val="0"/>
              </a:spcAft>
              <a:defRPr sz="1350" b="0">
                <a:solidFill>
                  <a:srgbClr val="000000"/>
                </a:solidFill>
                <a:latin typeface="Consolas"/>
                <a:ea typeface="Consolas"/>
                <a:cs typeface="Consolas"/>
              </a:defRPr>
            </a:pPr>
            <a:r>
              <a:t>increment() {</a:t>
            </a:r>
          </a:p>
          <a:p>
            <a:pPr>
              <a:spcAft>
                <a:spcPts val="0"/>
              </a:spcAft>
              <a:defRPr sz="1350" b="0">
                <a:solidFill>
                  <a:srgbClr val="000000"/>
                </a:solidFill>
                <a:latin typeface="Consolas"/>
                <a:ea typeface="Consolas"/>
                <a:cs typeface="Consolas"/>
              </a:defRPr>
            </a:pPr>
            <a:r>
              <a:t>  this.count.update(n =&gt; n + </a:t>
            </a:r>
            <a:r>
              <a:rPr>
                <a:solidFill>
                  <a:srgbClr val="558B2F"/>
                </a:solidFill>
              </a:rPr>
              <a:t>1</a:t>
            </a:r>
            <a:r>
              <a:t>);</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558B2F"/>
                </a:solidFill>
              </a:rPr>
              <a:t>// Template : &lt;p&gt;{{ count() }}&lt;/p&gt;</a:t>
            </a:r>
          </a:p>
        </p:txBody>
      </p:sp>
      <p:sp>
        <p:nvSpPr>
          <p:cNvPr id="103" name="takeaways-heading">
            <a:extLst>
              <a:ext uri="{FF2B5EF4-FFF2-40B4-BE49-F238E27FC236}">
                <a16:creationId xmlns:a16="http://schemas.microsoft.com/office/drawing/2014/main" id="{9E626333-52A1-4CF9-9CCD-FA8E3574E881}"/>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89C2D222-3565-4431-8ED0-41029679DE80}"/>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Les deux expriment un état qui pilote l’interface.</a:t>
            </a:r>
          </a:p>
          <a:p>
            <a:pPr marL="152400" indent="-114300">
              <a:spcAft>
                <a:spcPts val="500"/>
              </a:spcAft>
              <a:buChar char="•"/>
              <a:defRPr sz="1500" b="0">
                <a:solidFill>
                  <a:srgbClr val="000000"/>
                </a:solidFill>
                <a:latin typeface="Calibri"/>
                <a:ea typeface="Calibri"/>
                <a:cs typeface="Calibri"/>
              </a:defRPr>
            </a:pPr>
            <a:r>
              <a:t>React fournit une valeur et un setter.</a:t>
            </a:r>
          </a:p>
          <a:p>
            <a:pPr marL="152400" indent="-114300">
              <a:spcAft>
                <a:spcPts val="500"/>
              </a:spcAft>
              <a:buChar char="•"/>
              <a:defRPr sz="1500" b="0">
                <a:solidFill>
                  <a:srgbClr val="000000"/>
                </a:solidFill>
                <a:latin typeface="Calibri"/>
                <a:ea typeface="Calibri"/>
                <a:cs typeface="Calibri"/>
              </a:defRPr>
            </a:pPr>
            <a:r>
              <a:t>Angular fournit un signal avec une fonction de lecture.</a:t>
            </a:r>
          </a:p>
        </p:txBody>
      </p:sp>
    </p:spTree>
    <p:extLst>
      <p:ext uri="{BB962C8B-B14F-4D97-AF65-F5344CB8AC3E}">
        <p14:creationId xmlns:p14="http://schemas.microsoft.com/office/powerpoint/2010/main" val="20764388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AD16B7BD-A075-49C0-965A-25F687482CD8}"/>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computed() : une valeur dérivée</a:t>
            </a:r>
          </a:p>
        </p:txBody>
      </p:sp>
      <p:sp>
        <p:nvSpPr>
          <p:cNvPr id="101" name="example-label">
            <a:extLst>
              <a:ext uri="{FF2B5EF4-FFF2-40B4-BE49-F238E27FC236}">
                <a16:creationId xmlns:a16="http://schemas.microsoft.com/office/drawing/2014/main" id="{238C0FC6-D5DC-4AF4-B00F-42DD4030B01D}"/>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Compteur et pourcentage du TP</a:t>
            </a:r>
          </a:p>
        </p:txBody>
      </p:sp>
      <p:sp>
        <p:nvSpPr>
          <p:cNvPr id="102" name="angular-code">
            <a:extLst>
              <a:ext uri="{FF2B5EF4-FFF2-40B4-BE49-F238E27FC236}">
                <a16:creationId xmlns:a16="http://schemas.microsoft.com/office/drawing/2014/main" id="{7384DF85-2939-4111-80A8-0B17C4467EE8}"/>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computed</a:t>
            </a:r>
            <a:r>
              <a:t>, </a:t>
            </a:r>
            <a:r>
              <a:rPr>
                <a:solidFill>
                  <a:srgbClr val="008977"/>
                </a:solidFill>
              </a:rPr>
              <a:t>signal</a:t>
            </a:r>
            <a:r>
              <a:t> }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rPr>
                <a:solidFill>
                  <a:srgbClr val="558B2F"/>
                </a:solidFill>
              </a:rPr>
              <a:t>// Champs d’une classe composant ou service</a:t>
            </a:r>
          </a:p>
          <a:p>
            <a:pPr>
              <a:spcAft>
                <a:spcPts val="0"/>
              </a:spcAft>
              <a:defRPr sz="1350" b="0">
                <a:solidFill>
                  <a:srgbClr val="000000"/>
                </a:solidFill>
                <a:latin typeface="Consolas"/>
                <a:ea typeface="Consolas"/>
                <a:cs typeface="Consolas"/>
              </a:defRPr>
            </a:pPr>
            <a:r>
              <a:rPr>
                <a:solidFill>
                  <a:srgbClr val="8D36A8"/>
                </a:solidFill>
              </a:rPr>
              <a:t>readonly</a:t>
            </a:r>
            <a:r>
              <a:t> tasks = </a:t>
            </a:r>
            <a:r>
              <a:rPr>
                <a:solidFill>
                  <a:srgbClr val="008977"/>
                </a:solidFill>
              </a:rPr>
              <a:t>signal</a:t>
            </a:r>
            <a:r>
              <a:t>&lt;</a:t>
            </a:r>
            <a:r>
              <a:rPr>
                <a:solidFill>
                  <a:srgbClr val="008977"/>
                </a:solidFill>
              </a:rPr>
              <a:t>Task</a:t>
            </a:r>
            <a:r>
              <a:t>[]&gt;([]);</a:t>
            </a:r>
          </a:p>
          <a:p>
            <a:pPr>
              <a:spcAft>
                <a:spcPts val="0"/>
              </a:spcAft>
              <a:defRPr sz="1350" b="0">
                <a:solidFill>
                  <a:srgbClr val="000000"/>
                </a:solidFill>
                <a:latin typeface="Consolas"/>
                <a:ea typeface="Consolas"/>
                <a:cs typeface="Consolas"/>
              </a:defRPr>
            </a:pPr>
            <a:r>
              <a:rPr>
                <a:solidFill>
                  <a:srgbClr val="8D36A8"/>
                </a:solidFill>
              </a:rPr>
              <a:t>readonly</a:t>
            </a:r>
            <a:r>
              <a:t> total = </a:t>
            </a:r>
            <a:r>
              <a:rPr>
                <a:solidFill>
                  <a:srgbClr val="008977"/>
                </a:solidFill>
              </a:rPr>
              <a:t>computed</a:t>
            </a:r>
            <a:r>
              <a:t>(() =&gt; this.tasks().length);</a:t>
            </a:r>
          </a:p>
          <a:p>
            <a:pPr>
              <a:spcAft>
                <a:spcPts val="0"/>
              </a:spcAft>
              <a:defRPr sz="1350" b="0">
                <a:solidFill>
                  <a:srgbClr val="000000"/>
                </a:solidFill>
                <a:latin typeface="Consolas"/>
                <a:ea typeface="Consolas"/>
                <a:cs typeface="Consolas"/>
              </a:defRPr>
            </a:pPr>
            <a:r>
              <a:rPr>
                <a:solidFill>
                  <a:srgbClr val="8D36A8"/>
                </a:solidFill>
              </a:rPr>
              <a:t>readonly</a:t>
            </a:r>
            <a:r>
              <a:t> done = </a:t>
            </a:r>
            <a:r>
              <a:rPr>
                <a:solidFill>
                  <a:srgbClr val="008977"/>
                </a:solidFill>
              </a:rPr>
              <a:t>computed</a:t>
            </a:r>
            <a:r>
              <a:t>(() =&gt;</a:t>
            </a:r>
          </a:p>
          <a:p>
            <a:pPr>
              <a:spcAft>
                <a:spcPts val="0"/>
              </a:spcAft>
              <a:defRPr sz="1350" b="0">
                <a:solidFill>
                  <a:srgbClr val="000000"/>
                </a:solidFill>
                <a:latin typeface="Consolas"/>
                <a:ea typeface="Consolas"/>
                <a:cs typeface="Consolas"/>
              </a:defRPr>
            </a:pPr>
            <a:r>
              <a:t>  this.tasks().filter(t =&gt; t.done).length</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readonly</a:t>
            </a:r>
            <a:r>
              <a:t> remaining = </a:t>
            </a:r>
            <a:r>
              <a:rPr>
                <a:solidFill>
                  <a:srgbClr val="008977"/>
                </a:solidFill>
              </a:rPr>
              <a:t>computed</a:t>
            </a:r>
            <a:r>
              <a:t>(() =&gt;</a:t>
            </a:r>
          </a:p>
          <a:p>
            <a:pPr>
              <a:spcAft>
                <a:spcPts val="0"/>
              </a:spcAft>
              <a:defRPr sz="1350" b="0">
                <a:solidFill>
                  <a:srgbClr val="000000"/>
                </a:solidFill>
                <a:latin typeface="Consolas"/>
                <a:ea typeface="Consolas"/>
                <a:cs typeface="Consolas"/>
              </a:defRPr>
            </a:pPr>
            <a:r>
              <a:t>  this.total() - this.done()</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readonly</a:t>
            </a:r>
            <a:r>
              <a:t> percent = </a:t>
            </a:r>
            <a:r>
              <a:rPr>
                <a:solidFill>
                  <a:srgbClr val="008977"/>
                </a:solidFill>
              </a:rPr>
              <a:t>computed</a:t>
            </a:r>
            <a:r>
              <a:t>(() =&gt;</a:t>
            </a:r>
          </a:p>
          <a:p>
            <a:pPr>
              <a:spcAft>
                <a:spcPts val="0"/>
              </a:spcAft>
              <a:defRPr sz="1350" b="0">
                <a:solidFill>
                  <a:srgbClr val="000000"/>
                </a:solidFill>
                <a:latin typeface="Consolas"/>
                <a:ea typeface="Consolas"/>
                <a:cs typeface="Consolas"/>
              </a:defRPr>
            </a:pPr>
            <a:r>
              <a:t>  this.total() === </a:t>
            </a:r>
            <a:r>
              <a:rPr>
                <a:solidFill>
                  <a:srgbClr val="558B2F"/>
                </a:solidFill>
              </a:rPr>
              <a:t>0</a:t>
            </a:r>
            <a:r>
              <a:t> ? </a:t>
            </a:r>
            <a:r>
              <a:rPr>
                <a:solidFill>
                  <a:srgbClr val="558B2F"/>
                </a:solidFill>
              </a:rPr>
              <a:t>0</a:t>
            </a:r>
            <a:r>
              <a:t> :</a:t>
            </a:r>
          </a:p>
          <a:p>
            <a:pPr>
              <a:spcAft>
                <a:spcPts val="0"/>
              </a:spcAft>
              <a:defRPr sz="1350" b="0">
                <a:solidFill>
                  <a:srgbClr val="000000"/>
                </a:solidFill>
                <a:latin typeface="Consolas"/>
                <a:ea typeface="Consolas"/>
                <a:cs typeface="Consolas"/>
              </a:defRPr>
            </a:pPr>
            <a:r>
              <a:t>  Math.round(</a:t>
            </a:r>
            <a:r>
              <a:rPr>
                <a:solidFill>
                  <a:srgbClr val="558B2F"/>
                </a:solidFill>
              </a:rPr>
              <a:t>100</a:t>
            </a:r>
            <a:r>
              <a:t> * this.done() / this.total())</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558B2F"/>
                </a:solidFill>
              </a:rPr>
              <a:t>// Template : {{ remaining() }} à faire</a:t>
            </a:r>
          </a:p>
        </p:txBody>
      </p:sp>
      <p:sp>
        <p:nvSpPr>
          <p:cNvPr id="103" name="takeaways-heading">
            <a:extLst>
              <a:ext uri="{FF2B5EF4-FFF2-40B4-BE49-F238E27FC236}">
                <a16:creationId xmlns:a16="http://schemas.microsoft.com/office/drawing/2014/main" id="{C7B20A1B-68C6-4E52-9B8B-9D827AEA6B35}"/>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65BBB844-085E-4C98-AE65-AE5DFB26187E}"/>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Une seule source de vérité : tasks.</a:t>
            </a:r>
          </a:p>
          <a:p>
            <a:pPr marL="152400" indent="-114300">
              <a:spcAft>
                <a:spcPts val="500"/>
              </a:spcAft>
              <a:buChar char="•"/>
              <a:defRPr sz="1500" b="0">
                <a:solidFill>
                  <a:srgbClr val="000000"/>
                </a:solidFill>
                <a:latin typeface="Calibri"/>
                <a:ea typeface="Calibri"/>
                <a:cs typeface="Calibri"/>
              </a:defRPr>
            </a:pPr>
            <a:r>
              <a:t>computed() calcule et mémorise une valeur en lecture seule.</a:t>
            </a:r>
          </a:p>
          <a:p>
            <a:pPr marL="152400" indent="-114300">
              <a:spcAft>
                <a:spcPts val="500"/>
              </a:spcAft>
              <a:buChar char="•"/>
              <a:defRPr sz="1500" b="0">
                <a:solidFill>
                  <a:srgbClr val="000000"/>
                </a:solidFill>
                <a:latin typeface="Calibri"/>
                <a:ea typeface="Calibri"/>
                <a:cs typeface="Calibri"/>
              </a:defRPr>
            </a:pPr>
            <a:r>
              <a:t>Angular suit les signals lus pendant le calcul.</a:t>
            </a:r>
          </a:p>
          <a:p>
            <a:pPr marL="152400" indent="-114300">
              <a:spcAft>
                <a:spcPts val="500"/>
              </a:spcAft>
              <a:buChar char="•"/>
              <a:defRPr sz="1500" b="0">
                <a:solidFill>
                  <a:srgbClr val="000000"/>
                </a:solidFill>
                <a:latin typeface="Calibri"/>
                <a:ea typeface="Calibri"/>
                <a:cs typeface="Calibri"/>
              </a:defRPr>
            </a:pPr>
            <a:r>
              <a:t>Une liste vide donne 0 %.</a:t>
            </a:r>
          </a:p>
        </p:txBody>
      </p:sp>
    </p:spTree>
    <p:extLst>
      <p:ext uri="{BB962C8B-B14F-4D97-AF65-F5344CB8AC3E}">
        <p14:creationId xmlns:p14="http://schemas.microsoft.com/office/powerpoint/2010/main" val="2076438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2D161309-565B-41FF-8FE5-7E98BFFACBE5}"/>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Signals : objets et collections</a:t>
            </a:r>
          </a:p>
        </p:txBody>
      </p:sp>
      <p:sp>
        <p:nvSpPr>
          <p:cNvPr id="101" name="example-label">
            <a:extLst>
              <a:ext uri="{FF2B5EF4-FFF2-40B4-BE49-F238E27FC236}">
                <a16:creationId xmlns:a16="http://schemas.microsoft.com/office/drawing/2014/main" id="{4354B4A8-4ACC-41A0-B666-62E91DD694A1}"/>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rPr lang="fr-FR" sz="1650" b="1" dirty="0">
                <a:solidFill>
                  <a:srgbClr val="000000"/>
                </a:solidFill>
                <a:latin typeface="Calibri"/>
              </a:rPr>
              <a:t> Créer un nouveau tableau pour notifier les changements</a:t>
            </a:r>
            <a:endParaRPr dirty="0"/>
          </a:p>
        </p:txBody>
      </p:sp>
      <p:sp>
        <p:nvSpPr>
          <p:cNvPr id="102" name="angular-code">
            <a:extLst>
              <a:ext uri="{FF2B5EF4-FFF2-40B4-BE49-F238E27FC236}">
                <a16:creationId xmlns:a16="http://schemas.microsoft.com/office/drawing/2014/main" id="{B02F4A4D-2316-47CD-B83A-56B82969A724}"/>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558B2F"/>
                </a:solidFill>
              </a:rPr>
              <a:t>// Champs et méthodes du composant</a:t>
            </a:r>
          </a:p>
          <a:p>
            <a:pPr>
              <a:spcAft>
                <a:spcPts val="0"/>
              </a:spcAft>
              <a:defRPr sz="1350" b="0">
                <a:solidFill>
                  <a:srgbClr val="000000"/>
                </a:solidFill>
                <a:latin typeface="Consolas"/>
                <a:ea typeface="Consolas"/>
                <a:cs typeface="Consolas"/>
              </a:defRPr>
            </a:pPr>
            <a:r>
              <a:rPr>
                <a:solidFill>
                  <a:srgbClr val="8D36A8"/>
                </a:solidFill>
              </a:rPr>
              <a:t>readonly</a:t>
            </a:r>
            <a:r>
              <a:t> tasks = </a:t>
            </a:r>
            <a:r>
              <a:rPr>
                <a:solidFill>
                  <a:srgbClr val="008977"/>
                </a:solidFill>
              </a:rPr>
              <a:t>signal</a:t>
            </a:r>
            <a:r>
              <a:t>&lt;</a:t>
            </a:r>
            <a:r>
              <a:rPr>
                <a:solidFill>
                  <a:srgbClr val="008977"/>
                </a:solidFill>
              </a:rPr>
              <a:t>Task</a:t>
            </a:r>
            <a:r>
              <a:t>[]&gt;([]);</a:t>
            </a:r>
          </a:p>
          <a:p>
            <a:pPr>
              <a:spcAft>
                <a:spcPts val="0"/>
              </a:spcAft>
              <a:defRPr sz="1350" b="0">
                <a:solidFill>
                  <a:srgbClr val="000000"/>
                </a:solidFill>
                <a:latin typeface="Consolas"/>
                <a:ea typeface="Consolas"/>
                <a:cs typeface="Consolas"/>
              </a:defRPr>
            </a:pPr>
            <a:r>
              <a:t>add(task: </a:t>
            </a:r>
            <a:r>
              <a:rPr>
                <a:solidFill>
                  <a:srgbClr val="008977"/>
                </a:solidFill>
              </a:rPr>
              <a:t>Task</a:t>
            </a:r>
            <a:r>
              <a:t>) {</a:t>
            </a:r>
          </a:p>
          <a:p>
            <a:pPr>
              <a:spcAft>
                <a:spcPts val="0"/>
              </a:spcAft>
              <a:defRPr sz="1350" b="0">
                <a:solidFill>
                  <a:srgbClr val="000000"/>
                </a:solidFill>
                <a:latin typeface="Consolas"/>
                <a:ea typeface="Consolas"/>
                <a:cs typeface="Consolas"/>
              </a:defRPr>
            </a:pPr>
            <a:r>
              <a:t>  this.tasks.update(list =&gt; [...list, task]);</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t>toggle(id: string) {</a:t>
            </a:r>
          </a:p>
          <a:p>
            <a:pPr>
              <a:spcAft>
                <a:spcPts val="0"/>
              </a:spcAft>
              <a:defRPr sz="1350" b="0">
                <a:solidFill>
                  <a:srgbClr val="000000"/>
                </a:solidFill>
                <a:latin typeface="Consolas"/>
                <a:ea typeface="Consolas"/>
                <a:cs typeface="Consolas"/>
              </a:defRPr>
            </a:pPr>
            <a:r>
              <a:t>  this.tasks.update(list =&gt; list.map(t =&gt;</a:t>
            </a:r>
          </a:p>
          <a:p>
            <a:pPr>
              <a:spcAft>
                <a:spcPts val="0"/>
              </a:spcAft>
              <a:defRPr sz="1350" b="0">
                <a:solidFill>
                  <a:srgbClr val="000000"/>
                </a:solidFill>
                <a:latin typeface="Consolas"/>
                <a:ea typeface="Consolas"/>
                <a:cs typeface="Consolas"/>
              </a:defRPr>
            </a:pPr>
            <a:r>
              <a:t>    t.id === id ? { ...t, done: !t.done } : 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t>remove(id: string) {</a:t>
            </a:r>
          </a:p>
          <a:p>
            <a:pPr>
              <a:spcAft>
                <a:spcPts val="0"/>
              </a:spcAft>
              <a:defRPr sz="1350" b="0">
                <a:solidFill>
                  <a:srgbClr val="000000"/>
                </a:solidFill>
                <a:latin typeface="Consolas"/>
                <a:ea typeface="Consolas"/>
                <a:cs typeface="Consolas"/>
              </a:defRPr>
            </a:pPr>
            <a:r>
              <a:t>  this.tasks.update(list =&gt;</a:t>
            </a:r>
          </a:p>
          <a:p>
            <a:pPr>
              <a:spcAft>
                <a:spcPts val="0"/>
              </a:spcAft>
              <a:defRPr sz="1350" b="0">
                <a:solidFill>
                  <a:srgbClr val="000000"/>
                </a:solidFill>
                <a:latin typeface="Consolas"/>
                <a:ea typeface="Consolas"/>
                <a:cs typeface="Consolas"/>
              </a:defRPr>
            </a:pPr>
            <a:r>
              <a:t>    list.filter(t =&gt; t.id !== id)</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97CD5D4C-7812-4E5D-A99C-BB7595FDC28C}"/>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67A9AA6C-584D-4CF7-AD09-0CA091383B8F}"/>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Créer un nouveau tableau pour chaque mise à jour.</a:t>
            </a:r>
          </a:p>
          <a:p>
            <a:pPr marL="152400" indent="-114300">
              <a:spcAft>
                <a:spcPts val="500"/>
              </a:spcAft>
              <a:buChar char="•"/>
              <a:defRPr sz="1500" b="0">
                <a:solidFill>
                  <a:srgbClr val="000000"/>
                </a:solidFill>
                <a:latin typeface="Calibri"/>
                <a:ea typeface="Calibri"/>
                <a:cs typeface="Calibri"/>
              </a:defRPr>
            </a:pPr>
            <a:r>
              <a:t>Copier aussi l’objet modifié avec { ...t }.</a:t>
            </a:r>
          </a:p>
          <a:p>
            <a:pPr marL="152400" indent="-114300">
              <a:spcAft>
                <a:spcPts val="500"/>
              </a:spcAft>
              <a:buChar char="•"/>
              <a:defRPr sz="1500" b="0">
                <a:solidFill>
                  <a:srgbClr val="000000"/>
                </a:solidFill>
                <a:latin typeface="Calibri"/>
                <a:ea typeface="Calibri"/>
                <a:cs typeface="Calibri"/>
              </a:defRPr>
            </a:pPr>
            <a:r>
              <a:t>tasks().push(...) contourne la notification du signal.</a:t>
            </a:r>
          </a:p>
          <a:p>
            <a:pPr marL="152400" indent="-114300">
              <a:spcAft>
                <a:spcPts val="500"/>
              </a:spcAft>
              <a:buChar char="•"/>
              <a:defRPr sz="1500" b="0">
                <a:solidFill>
                  <a:srgbClr val="000000"/>
                </a:solidFill>
                <a:latin typeface="Calibri"/>
                <a:ea typeface="Calibri"/>
                <a:cs typeface="Calibri"/>
              </a:defRPr>
            </a:pPr>
            <a:r>
              <a:t>Le même principe aide à mettre à jour un state React.</a:t>
            </a:r>
          </a:p>
        </p:txBody>
      </p:sp>
    </p:spTree>
    <p:extLst>
      <p:ext uri="{BB962C8B-B14F-4D97-AF65-F5344CB8AC3E}">
        <p14:creationId xmlns:p14="http://schemas.microsoft.com/office/powerpoint/2010/main" val="20764388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8F47CE66-C2C8-4DE8-AAB0-A4F70472B32B}"/>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effect() : synchroniser l’extérieur</a:t>
            </a:r>
          </a:p>
        </p:txBody>
      </p:sp>
      <p:sp>
        <p:nvSpPr>
          <p:cNvPr id="101" name="example-label">
            <a:extLst>
              <a:ext uri="{FF2B5EF4-FFF2-40B4-BE49-F238E27FC236}">
                <a16:creationId xmlns:a16="http://schemas.microsoft.com/office/drawing/2014/main" id="{61315DD9-644F-4676-9C9F-3ED5DFE453E9}"/>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 journal différé avec nettoyage</a:t>
            </a:r>
          </a:p>
        </p:txBody>
      </p:sp>
      <p:sp>
        <p:nvSpPr>
          <p:cNvPr id="102" name="angular-code">
            <a:extLst>
              <a:ext uri="{FF2B5EF4-FFF2-40B4-BE49-F238E27FC236}">
                <a16:creationId xmlns:a16="http://schemas.microsoft.com/office/drawing/2014/main" id="{142EFB9E-4847-44CD-9064-190135E85693}"/>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Component</a:t>
            </a:r>
            <a:r>
              <a:t>, </a:t>
            </a:r>
            <a:r>
              <a:rPr>
                <a:solidFill>
                  <a:srgbClr val="008977"/>
                </a:solidFill>
              </a:rPr>
              <a:t>effect</a:t>
            </a:r>
            <a:r>
              <a:t>, </a:t>
            </a:r>
            <a:r>
              <a:rPr>
                <a:solidFill>
                  <a:srgbClr val="008977"/>
                </a:solidFill>
              </a:rPr>
              <a:t>signal</a:t>
            </a:r>
            <a:r>
              <a:t> }</a:t>
            </a:r>
          </a:p>
          <a:p>
            <a:pPr>
              <a:spcAft>
                <a:spcPts val="0"/>
              </a:spcAft>
              <a:defRPr sz="1350" b="0">
                <a:solidFill>
                  <a:srgbClr val="000000"/>
                </a:solidFill>
                <a:latin typeface="Consolas"/>
                <a:ea typeface="Consolas"/>
                <a:cs typeface="Consolas"/>
              </a:defRPr>
            </a:pPr>
            <a:r>
              <a:t>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t>@</a:t>
            </a:r>
            <a:r>
              <a:rPr>
                <a:solidFill>
                  <a:srgbClr val="008977"/>
                </a:solidFill>
              </a:rPr>
              <a:t>Component</a:t>
            </a:r>
            <a:r>
              <a:t>({</a:t>
            </a:r>
          </a:p>
          <a:p>
            <a:pPr>
              <a:spcAft>
                <a:spcPts val="0"/>
              </a:spcAft>
              <a:defRPr sz="1350" b="0">
                <a:solidFill>
                  <a:srgbClr val="000000"/>
                </a:solidFill>
                <a:latin typeface="Consolas"/>
                <a:ea typeface="Consolas"/>
                <a:cs typeface="Consolas"/>
              </a:defRPr>
            </a:pPr>
            <a:r>
              <a:t>  selector: </a:t>
            </a:r>
            <a:r>
              <a:rPr>
                <a:solidFill>
                  <a:srgbClr val="B44520"/>
                </a:solidFill>
              </a:rPr>
              <a:t>'app-search'</a:t>
            </a:r>
            <a:r>
              <a:t>, standalone: </a:t>
            </a:r>
            <a:r>
              <a:rPr>
                <a:solidFill>
                  <a:srgbClr val="8D36A8"/>
                </a:solidFill>
              </a:rPr>
              <a:t>true</a:t>
            </a:r>
            <a:r>
              <a:t>,</a:t>
            </a:r>
          </a:p>
          <a:p>
            <a:pPr>
              <a:spcAft>
                <a:spcPts val="0"/>
              </a:spcAft>
              <a:defRPr sz="1350" b="0">
                <a:solidFill>
                  <a:srgbClr val="000000"/>
                </a:solidFill>
                <a:latin typeface="Consolas"/>
                <a:ea typeface="Consolas"/>
                <a:cs typeface="Consolas"/>
              </a:defRPr>
            </a:pPr>
            <a:r>
              <a:t>  template: `&lt;</a:t>
            </a:r>
            <a:r>
              <a:rPr>
                <a:solidFill>
                  <a:srgbClr val="008977"/>
                </a:solidFill>
              </a:rPr>
              <a:t>input</a:t>
            </a:r>
            <a:r>
              <a:t> #q aria-label=</a:t>
            </a:r>
            <a:r>
              <a:rPr>
                <a:solidFill>
                  <a:srgbClr val="B44520"/>
                </a:solidFill>
              </a:rPr>
              <a:t>"Recherche"</a:t>
            </a:r>
          </a:p>
          <a:p>
            <a:pPr>
              <a:spcAft>
                <a:spcPts val="0"/>
              </a:spcAft>
              <a:defRPr sz="1350" b="0">
                <a:solidFill>
                  <a:srgbClr val="000000"/>
                </a:solidFill>
                <a:latin typeface="Consolas"/>
                <a:ea typeface="Consolas"/>
                <a:cs typeface="Consolas"/>
              </a:defRPr>
            </a:pPr>
            <a:r>
              <a:t>    (</a:t>
            </a:r>
            <a:r>
              <a:rPr>
                <a:solidFill>
                  <a:srgbClr val="008977"/>
                </a:solidFill>
              </a:rPr>
              <a:t>input</a:t>
            </a:r>
            <a:r>
              <a:t>)=</a:t>
            </a:r>
            <a:r>
              <a:rPr>
                <a:solidFill>
                  <a:srgbClr val="B44520"/>
                </a:solidFill>
              </a:rPr>
              <a:t>"query.set(q.value)"</a:t>
            </a:r>
            <a:r>
              <a:t>&gt;`</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Search {</a:t>
            </a:r>
          </a:p>
          <a:p>
            <a:pPr>
              <a:spcAft>
                <a:spcPts val="0"/>
              </a:spcAft>
              <a:defRPr sz="1350" b="0">
                <a:solidFill>
                  <a:srgbClr val="000000"/>
                </a:solidFill>
                <a:latin typeface="Consolas"/>
                <a:ea typeface="Consolas"/>
                <a:cs typeface="Consolas"/>
              </a:defRPr>
            </a:pPr>
            <a:r>
              <a:t>  </a:t>
            </a:r>
            <a:r>
              <a:rPr>
                <a:solidFill>
                  <a:srgbClr val="8D36A8"/>
                </a:solidFill>
              </a:rPr>
              <a:t>readonly</a:t>
            </a:r>
            <a:r>
              <a:t> query = </a:t>
            </a:r>
            <a:r>
              <a:rPr>
                <a:solidFill>
                  <a:srgbClr val="008977"/>
                </a:solidFill>
              </a:rPr>
              <a:t>signal</a:t>
            </a:r>
            <a:r>
              <a:t>(</a:t>
            </a:r>
            <a:r>
              <a:rPr>
                <a:solidFill>
                  <a:srgbClr val="B44520"/>
                </a:solidFill>
              </a:rPr>
              <a:t>''</a:t>
            </a:r>
            <a:r>
              <a:t>);</a:t>
            </a:r>
          </a:p>
          <a:p>
            <a:pPr>
              <a:spcAft>
                <a:spcPts val="0"/>
              </a:spcAft>
              <a:defRPr sz="1350" b="0">
                <a:solidFill>
                  <a:srgbClr val="000000"/>
                </a:solidFill>
                <a:latin typeface="Consolas"/>
                <a:ea typeface="Consolas"/>
                <a:cs typeface="Consolas"/>
              </a:defRPr>
            </a:pPr>
            <a:r>
              <a:t>  </a:t>
            </a:r>
            <a:r>
              <a:rPr>
                <a:solidFill>
                  <a:srgbClr val="8D36A8"/>
                </a:solidFill>
              </a:rPr>
              <a:t>constructor</a:t>
            </a:r>
            <a:r>
              <a:t>() {</a:t>
            </a:r>
          </a:p>
          <a:p>
            <a:pPr>
              <a:spcAft>
                <a:spcPts val="0"/>
              </a:spcAft>
              <a:defRPr sz="1350" b="0">
                <a:solidFill>
                  <a:srgbClr val="000000"/>
                </a:solidFill>
                <a:latin typeface="Consolas"/>
                <a:ea typeface="Consolas"/>
                <a:cs typeface="Consolas"/>
              </a:defRPr>
            </a:pPr>
            <a:r>
              <a:t>    </a:t>
            </a:r>
            <a:r>
              <a:rPr>
                <a:solidFill>
                  <a:srgbClr val="008977"/>
                </a:solidFill>
              </a:rPr>
              <a:t>effect</a:t>
            </a:r>
            <a:r>
              <a:t>(onCleanup =&gt; {</a:t>
            </a:r>
          </a:p>
          <a:p>
            <a:pPr>
              <a:spcAft>
                <a:spcPts val="0"/>
              </a:spcAft>
              <a:defRPr sz="1350" b="0">
                <a:solidFill>
                  <a:srgbClr val="000000"/>
                </a:solidFill>
                <a:latin typeface="Consolas"/>
                <a:ea typeface="Consolas"/>
                <a:cs typeface="Consolas"/>
              </a:defRPr>
            </a:pPr>
            <a:r>
              <a:t>      </a:t>
            </a:r>
            <a:r>
              <a:rPr>
                <a:solidFill>
                  <a:srgbClr val="8D36A8"/>
                </a:solidFill>
              </a:rPr>
              <a:t>const</a:t>
            </a:r>
            <a:r>
              <a:t> value = this.query();</a:t>
            </a:r>
          </a:p>
          <a:p>
            <a:pPr>
              <a:spcAft>
                <a:spcPts val="0"/>
              </a:spcAft>
              <a:defRPr sz="1350" b="0">
                <a:solidFill>
                  <a:srgbClr val="000000"/>
                </a:solidFill>
                <a:latin typeface="Consolas"/>
                <a:ea typeface="Consolas"/>
                <a:cs typeface="Consolas"/>
              </a:defRPr>
            </a:pPr>
            <a:r>
              <a:t>      </a:t>
            </a:r>
            <a:r>
              <a:rPr>
                <a:solidFill>
                  <a:srgbClr val="8D36A8"/>
                </a:solidFill>
              </a:rPr>
              <a:t>const</a:t>
            </a:r>
            <a:r>
              <a:t> timer = setTimeout(() =&gt;</a:t>
            </a:r>
          </a:p>
          <a:p>
            <a:pPr>
              <a:spcAft>
                <a:spcPts val="0"/>
              </a:spcAft>
              <a:defRPr sz="1350" b="0">
                <a:solidFill>
                  <a:srgbClr val="000000"/>
                </a:solidFill>
                <a:latin typeface="Consolas"/>
                <a:ea typeface="Consolas"/>
                <a:cs typeface="Consolas"/>
              </a:defRPr>
            </a:pPr>
            <a:r>
              <a:t>        console.log(</a:t>
            </a:r>
            <a:r>
              <a:rPr>
                <a:solidFill>
                  <a:srgbClr val="B44520"/>
                </a:solidFill>
              </a:rPr>
              <a:t>'Recherche :'</a:t>
            </a:r>
            <a:r>
              <a:t>, value), </a:t>
            </a:r>
            <a:r>
              <a:rPr>
                <a:solidFill>
                  <a:srgbClr val="558B2F"/>
                </a:solidFill>
              </a:rPr>
              <a:t>300</a:t>
            </a:r>
            <a:r>
              <a:t>);</a:t>
            </a:r>
          </a:p>
          <a:p>
            <a:pPr>
              <a:spcAft>
                <a:spcPts val="0"/>
              </a:spcAft>
              <a:defRPr sz="1350" b="0">
                <a:solidFill>
                  <a:srgbClr val="000000"/>
                </a:solidFill>
                <a:latin typeface="Consolas"/>
                <a:ea typeface="Consolas"/>
                <a:cs typeface="Consolas"/>
              </a:defRPr>
            </a:pPr>
            <a:r>
              <a:t>      onCleanup(() =&gt; clearTimeout(timer));</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96B6DD53-C504-4AD3-A96B-94B5B3F640CF}"/>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9F5EDF67-F5D4-4548-A209-D73C5EDC4D5C}"/>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L’effet suit les signals lus, sans tableau de dépendances.</a:t>
            </a:r>
          </a:p>
          <a:p>
            <a:pPr marL="152400" indent="-114300">
              <a:spcAft>
                <a:spcPts val="500"/>
              </a:spcAft>
              <a:buChar char="•"/>
              <a:defRPr sz="1500" b="0">
                <a:solidFill>
                  <a:srgbClr val="000000"/>
                </a:solidFill>
                <a:latin typeface="Calibri"/>
                <a:ea typeface="Calibri"/>
                <a:cs typeface="Calibri"/>
              </a:defRPr>
            </a:pPr>
            <a:r>
              <a:t>onCleanup nettoie avant une relance ou la destruction.</a:t>
            </a:r>
          </a:p>
          <a:p>
            <a:pPr marL="152400" indent="-114300">
              <a:spcAft>
                <a:spcPts val="500"/>
              </a:spcAft>
              <a:buChar char="•"/>
              <a:defRPr sz="1500" b="0">
                <a:solidFill>
                  <a:srgbClr val="000000"/>
                </a:solidFill>
                <a:latin typeface="Calibri"/>
                <a:ea typeface="Calibri"/>
                <a:cs typeface="Calibri"/>
              </a:defRPr>
            </a:pPr>
            <a:r>
              <a:t>Le constructeur fournit un contexte d’injection.</a:t>
            </a:r>
          </a:p>
          <a:p>
            <a:pPr marL="152400" indent="-114300">
              <a:spcAft>
                <a:spcPts val="500"/>
              </a:spcAft>
              <a:buChar char="•"/>
              <a:defRPr sz="1500" b="0">
                <a:solidFill>
                  <a:srgbClr val="000000"/>
                </a:solidFill>
                <a:latin typeface="Calibri"/>
                <a:ea typeface="Calibri"/>
                <a:cs typeface="Calibri"/>
              </a:defRPr>
            </a:pPr>
            <a:r>
              <a:t>Pour une valeur dérivée, choisir computed().</a:t>
            </a:r>
          </a:p>
        </p:txBody>
      </p:sp>
    </p:spTree>
    <p:extLst>
      <p:ext uri="{BB962C8B-B14F-4D97-AF65-F5344CB8AC3E}">
        <p14:creationId xmlns:p14="http://schemas.microsoft.com/office/powerpoint/2010/main" val="20764388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2E4C68-5C17-D7D9-55E0-1652DD29FB6E}"/>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CE1E7B1E-B182-D3DF-F6B1-8C91939840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9EA32B7-45EC-5DA7-82FB-17428E4AC2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F8CD2D7-1E95-E4FF-B504-FC72DB8A2BA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3" name="Espace réservé du numéro de diapositive 2">
            <a:extLst>
              <a:ext uri="{FF2B5EF4-FFF2-40B4-BE49-F238E27FC236}">
                <a16:creationId xmlns:a16="http://schemas.microsoft.com/office/drawing/2014/main" id="{796B7440-B951-08C3-E9E3-91D348E29C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B4D5CBFB-D7F2-4E4F-A637-B09E1BCF134A}"/>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Service, inject() et état partagé</a:t>
            </a:r>
          </a:p>
        </p:txBody>
      </p:sp>
      <p:sp>
        <p:nvSpPr>
          <p:cNvPr id="101" name="example-label">
            <a:extLst>
              <a:ext uri="{FF2B5EF4-FFF2-40B4-BE49-F238E27FC236}">
                <a16:creationId xmlns:a16="http://schemas.microsoft.com/office/drawing/2014/main" id="{ACEF0BD8-E930-4D0C-8847-DBF64841237E}"/>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Une instance de thème fournie à la racine</a:t>
            </a:r>
          </a:p>
        </p:txBody>
      </p:sp>
      <p:sp>
        <p:nvSpPr>
          <p:cNvPr id="102" name="angular-code">
            <a:extLst>
              <a:ext uri="{FF2B5EF4-FFF2-40B4-BE49-F238E27FC236}">
                <a16:creationId xmlns:a16="http://schemas.microsoft.com/office/drawing/2014/main" id="{5BCE8A99-9301-4F85-8C66-52E6B736631F}"/>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Injectable</a:t>
            </a:r>
            <a:r>
              <a:t>, </a:t>
            </a:r>
            <a:r>
              <a:rPr>
                <a:solidFill>
                  <a:srgbClr val="008977"/>
                </a:solidFill>
              </a:rPr>
              <a:t>inject</a:t>
            </a:r>
            <a:r>
              <a:t>, </a:t>
            </a:r>
            <a:r>
              <a:rPr>
                <a:solidFill>
                  <a:srgbClr val="008977"/>
                </a:solidFill>
              </a:rPr>
              <a:t>signal</a:t>
            </a:r>
            <a:r>
              <a:t> }</a:t>
            </a:r>
          </a:p>
          <a:p>
            <a:pPr>
              <a:spcAft>
                <a:spcPts val="0"/>
              </a:spcAft>
              <a:defRPr sz="1350" b="0">
                <a:solidFill>
                  <a:srgbClr val="000000"/>
                </a:solidFill>
                <a:latin typeface="Consolas"/>
                <a:ea typeface="Consolas"/>
                <a:cs typeface="Consolas"/>
              </a:defRPr>
            </a:pPr>
            <a:r>
              <a:t>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t>@</a:t>
            </a:r>
            <a:r>
              <a:rPr>
                <a:solidFill>
                  <a:srgbClr val="008977"/>
                </a:solidFill>
              </a:rPr>
              <a:t>Injectable</a:t>
            </a:r>
            <a:r>
              <a:t>({ providedIn: </a:t>
            </a:r>
            <a:r>
              <a:rPr>
                <a:solidFill>
                  <a:srgbClr val="B44520"/>
                </a:solidFill>
              </a:rPr>
              <a:t>'root'</a:t>
            </a:r>
            <a:r>
              <a:t> })</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ThemeStore {</a:t>
            </a:r>
          </a:p>
          <a:p>
            <a:pPr>
              <a:spcAft>
                <a:spcPts val="0"/>
              </a:spcAft>
              <a:defRPr sz="1350" b="0">
                <a:solidFill>
                  <a:srgbClr val="000000"/>
                </a:solidFill>
                <a:latin typeface="Consolas"/>
                <a:ea typeface="Consolas"/>
                <a:cs typeface="Consolas"/>
              </a:defRPr>
            </a:pPr>
            <a:r>
              <a:t>  </a:t>
            </a:r>
            <a:r>
              <a:rPr>
                <a:solidFill>
                  <a:srgbClr val="8D36A8"/>
                </a:solidFill>
              </a:rPr>
              <a:t>private</a:t>
            </a:r>
            <a:r>
              <a:t> </a:t>
            </a:r>
            <a:r>
              <a:rPr>
                <a:solidFill>
                  <a:srgbClr val="8D36A8"/>
                </a:solidFill>
              </a:rPr>
              <a:t>readonly</a:t>
            </a:r>
            <a:r>
              <a:t> state = </a:t>
            </a:r>
            <a:r>
              <a:rPr>
                <a:solidFill>
                  <a:srgbClr val="008977"/>
                </a:solidFill>
              </a:rPr>
              <a:t>signal</a:t>
            </a:r>
            <a:r>
              <a:t>(</a:t>
            </a:r>
            <a:r>
              <a:rPr>
                <a:solidFill>
                  <a:srgbClr val="B44520"/>
                </a:solidFill>
              </a:rPr>
              <a:t>'light'</a:t>
            </a:r>
            <a:r>
              <a:t>);</a:t>
            </a:r>
          </a:p>
          <a:p>
            <a:pPr>
              <a:spcAft>
                <a:spcPts val="0"/>
              </a:spcAft>
              <a:defRPr sz="1350" b="0">
                <a:solidFill>
                  <a:srgbClr val="000000"/>
                </a:solidFill>
                <a:latin typeface="Consolas"/>
                <a:ea typeface="Consolas"/>
                <a:cs typeface="Consolas"/>
              </a:defRPr>
            </a:pPr>
            <a:r>
              <a:t>  </a:t>
            </a:r>
            <a:r>
              <a:rPr>
                <a:solidFill>
                  <a:srgbClr val="8D36A8"/>
                </a:solidFill>
              </a:rPr>
              <a:t>readonly</a:t>
            </a:r>
            <a:r>
              <a:t> theme = this.state.asReadonly();</a:t>
            </a:r>
          </a:p>
          <a:p>
            <a:pPr>
              <a:spcAft>
                <a:spcPts val="0"/>
              </a:spcAft>
              <a:defRPr sz="1350" b="0">
                <a:solidFill>
                  <a:srgbClr val="000000"/>
                </a:solidFill>
                <a:latin typeface="Consolas"/>
                <a:ea typeface="Consolas"/>
                <a:cs typeface="Consolas"/>
              </a:defRPr>
            </a:pPr>
            <a:r>
              <a:t>  toggle() {</a:t>
            </a:r>
          </a:p>
          <a:p>
            <a:pPr>
              <a:spcAft>
                <a:spcPts val="0"/>
              </a:spcAft>
              <a:defRPr sz="1350" b="0">
                <a:solidFill>
                  <a:srgbClr val="000000"/>
                </a:solidFill>
                <a:latin typeface="Consolas"/>
                <a:ea typeface="Consolas"/>
                <a:cs typeface="Consolas"/>
              </a:defRPr>
            </a:pPr>
            <a:r>
              <a:t>    this.state.update(t =&gt;</a:t>
            </a:r>
          </a:p>
          <a:p>
            <a:pPr>
              <a:spcAft>
                <a:spcPts val="0"/>
              </a:spcAft>
              <a:defRPr sz="1350" b="0">
                <a:solidFill>
                  <a:srgbClr val="000000"/>
                </a:solidFill>
                <a:latin typeface="Consolas"/>
                <a:ea typeface="Consolas"/>
                <a:cs typeface="Consolas"/>
              </a:defRPr>
            </a:pPr>
            <a:r>
              <a:t>      t === </a:t>
            </a:r>
            <a:r>
              <a:rPr>
                <a:solidFill>
                  <a:srgbClr val="B44520"/>
                </a:solidFill>
              </a:rPr>
              <a:t>'light'</a:t>
            </a:r>
            <a:r>
              <a:t> ? </a:t>
            </a:r>
            <a:r>
              <a:rPr>
                <a:solidFill>
                  <a:srgbClr val="B44520"/>
                </a:solidFill>
              </a:rPr>
              <a:t>'dark'</a:t>
            </a:r>
            <a:r>
              <a:t> : </a:t>
            </a:r>
            <a:r>
              <a:rPr>
                <a:solidFill>
                  <a:srgbClr val="B44520"/>
                </a:solidFill>
              </a:rPr>
              <a:t>'light'</a:t>
            </a:r>
            <a:r>
              <a: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558B2F"/>
                </a:solidFill>
              </a:rPr>
              <a:t>// Dans la classe d’un composant</a:t>
            </a:r>
          </a:p>
          <a:p>
            <a:pPr>
              <a:spcAft>
                <a:spcPts val="0"/>
              </a:spcAft>
              <a:defRPr sz="1350" b="0">
                <a:solidFill>
                  <a:srgbClr val="000000"/>
                </a:solidFill>
                <a:latin typeface="Consolas"/>
                <a:ea typeface="Consolas"/>
                <a:cs typeface="Consolas"/>
              </a:defRPr>
            </a:pPr>
            <a:r>
              <a:rPr>
                <a:solidFill>
                  <a:srgbClr val="8D36A8"/>
                </a:solidFill>
              </a:rPr>
              <a:t>readonly</a:t>
            </a:r>
            <a:r>
              <a:t> themeStore = </a:t>
            </a:r>
            <a:r>
              <a:rPr>
                <a:solidFill>
                  <a:srgbClr val="008977"/>
                </a:solidFill>
              </a:rPr>
              <a:t>inject</a:t>
            </a:r>
            <a:r>
              <a:t>(ThemeStore);</a:t>
            </a:r>
          </a:p>
          <a:p>
            <a:pPr>
              <a:spcAft>
                <a:spcPts val="0"/>
              </a:spcAft>
              <a:defRPr sz="1350" b="0">
                <a:solidFill>
                  <a:srgbClr val="000000"/>
                </a:solidFill>
                <a:latin typeface="Consolas"/>
                <a:ea typeface="Consolas"/>
                <a:cs typeface="Consolas"/>
              </a:defRPr>
            </a:pPr>
            <a:r>
              <a:rPr>
                <a:solidFill>
                  <a:srgbClr val="558B2F"/>
                </a:solidFill>
              </a:rPr>
              <a:t>// Template :</a:t>
            </a:r>
          </a:p>
          <a:p>
            <a:pPr>
              <a:spcAft>
                <a:spcPts val="0"/>
              </a:spcAft>
              <a:defRPr sz="1350" b="0">
                <a:solidFill>
                  <a:srgbClr val="000000"/>
                </a:solidFill>
                <a:latin typeface="Consolas"/>
                <a:ea typeface="Consolas"/>
                <a:cs typeface="Consolas"/>
              </a:defRPr>
            </a:pPr>
            <a:r>
              <a:rPr>
                <a:solidFill>
                  <a:srgbClr val="558B2F"/>
                </a:solidFill>
              </a:rPr>
              <a:t>// {{ themeStore.theme() }}</a:t>
            </a:r>
          </a:p>
          <a:p>
            <a:pPr>
              <a:spcAft>
                <a:spcPts val="0"/>
              </a:spcAft>
              <a:defRPr sz="1350" b="0">
                <a:solidFill>
                  <a:srgbClr val="000000"/>
                </a:solidFill>
                <a:latin typeface="Consolas"/>
                <a:ea typeface="Consolas"/>
                <a:cs typeface="Consolas"/>
              </a:defRPr>
            </a:pPr>
            <a:r>
              <a:rPr>
                <a:solidFill>
                  <a:srgbClr val="558B2F"/>
                </a:solidFill>
              </a:rPr>
              <a:t>// &lt;button (click)="themeStore.toggle()"&gt;Thème&lt;/button&gt;</a:t>
            </a:r>
          </a:p>
        </p:txBody>
      </p:sp>
      <p:sp>
        <p:nvSpPr>
          <p:cNvPr id="103" name="takeaways-heading">
            <a:extLst>
              <a:ext uri="{FF2B5EF4-FFF2-40B4-BE49-F238E27FC236}">
                <a16:creationId xmlns:a16="http://schemas.microsoft.com/office/drawing/2014/main" id="{7C7EDE66-F137-46D0-BCEA-83DA3A3CC2A3}"/>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36A93704-873A-452D-A900-1AB58FE90955}"/>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Le service expose la lecture et centralise les mutations.</a:t>
            </a:r>
          </a:p>
          <a:p>
            <a:pPr marL="152400" indent="-114300">
              <a:spcAft>
                <a:spcPts val="500"/>
              </a:spcAft>
              <a:buChar char="•"/>
              <a:defRPr sz="1500" b="0">
                <a:solidFill>
                  <a:srgbClr val="000000"/>
                </a:solidFill>
                <a:latin typeface="Calibri"/>
                <a:ea typeface="Calibri"/>
                <a:cs typeface="Calibri"/>
              </a:defRPr>
            </a:pPr>
            <a:r>
              <a:t>inject() récupère le service fourni.</a:t>
            </a:r>
          </a:p>
          <a:p>
            <a:pPr marL="152400" indent="-114300">
              <a:spcAft>
                <a:spcPts val="500"/>
              </a:spcAft>
              <a:buChar char="•"/>
              <a:defRPr sz="1500" b="0">
                <a:solidFill>
                  <a:srgbClr val="000000"/>
                </a:solidFill>
                <a:latin typeface="Calibri"/>
                <a:ea typeface="Calibri"/>
                <a:cs typeface="Calibri"/>
              </a:defRPr>
            </a:pPr>
            <a:r>
              <a:t>providedIn: root permet de partager la même instance.</a:t>
            </a:r>
          </a:p>
        </p:txBody>
      </p:sp>
    </p:spTree>
    <p:extLst>
      <p:ext uri="{BB962C8B-B14F-4D97-AF65-F5344CB8AC3E}">
        <p14:creationId xmlns:p14="http://schemas.microsoft.com/office/powerpoint/2010/main" val="207643886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4FBD586-9E15-F7BA-D7FD-E93BA9054DC7}"/>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AF249AA9-93C0-7749-F396-16A22934A2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6BB21507-9BBB-E2F7-CBCE-461F2FAC9A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CE6C60A-938D-0A85-36C5-12DEA2CBA587}"/>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Modèle de Composant</a:t>
            </a:r>
          </a:p>
        </p:txBody>
      </p:sp>
      <p:sp>
        <p:nvSpPr>
          <p:cNvPr id="4" name="Rectangle 1">
            <a:extLst>
              <a:ext uri="{FF2B5EF4-FFF2-40B4-BE49-F238E27FC236}">
                <a16:creationId xmlns:a16="http://schemas.microsoft.com/office/drawing/2014/main" id="{B7C76F47-40F5-9523-1E2E-3192D4E2B060}"/>
              </a:ext>
            </a:extLst>
          </p:cNvPr>
          <p:cNvSpPr>
            <a:spLocks noGrp="1" noChangeArrowheads="1"/>
          </p:cNvSpPr>
          <p:nvPr>
            <p:ph idx="1"/>
          </p:nvPr>
        </p:nvSpPr>
        <p:spPr bwMode="auto">
          <a:xfrm>
            <a:off x="6094476" y="226928"/>
            <a:ext cx="6019138" cy="622016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Comparer les modèles React et Angular</a:t>
            </a:r>
          </a:p>
          <a:p>
            <a:pPr marL="0" indent="0" eaLnBrk="0" fontAlgn="base" hangingPunct="0">
              <a:lnSpc>
                <a:spcPct val="200000"/>
              </a:lnSpc>
              <a:spcBef>
                <a:spcPct val="0"/>
              </a:spcBef>
              <a:spcAft>
                <a:spcPct val="0"/>
              </a:spcAft>
              <a:buNone/>
            </a:pPr>
            <a:r>
              <a:rPr lang="fr-FR" sz="1800" b="1" dirty="0"/>
              <a:t>Concepts communs </a:t>
            </a:r>
            <a:r>
              <a:rPr lang="fr-FR" sz="1800" b="1" dirty="0" err="1"/>
              <a:t>React</a:t>
            </a:r>
            <a:r>
              <a:rPr lang="fr-FR" sz="1800" b="1" dirty="0"/>
              <a:t> / </a:t>
            </a:r>
            <a:r>
              <a:rPr lang="fr-FR" sz="1800" b="1" dirty="0" err="1"/>
              <a:t>Angular</a:t>
            </a:r>
            <a:endParaRPr lang="fr-FR" sz="1800" b="0" dirty="0">
              <a:solidFill>
                <a:srgbClr val="CCCCCC"/>
              </a:solidFill>
              <a:effectLst/>
              <a:latin typeface="Consolas" panose="020B0609020204030204" pitchFamily="49" charset="0"/>
            </a:endParaRPr>
          </a:p>
          <a:p>
            <a:r>
              <a:rPr lang="fr-FR" sz="1400" b="0" dirty="0"/>
              <a:t>Entrées (props / input() ou @Input()) : données du parent vers l’enfant.</a:t>
            </a:r>
          </a:p>
          <a:p>
            <a:r>
              <a:rPr lang="fr-FR" sz="1400" b="1" dirty="0"/>
              <a:t>État local </a:t>
            </a:r>
            <a:r>
              <a:rPr lang="fr-FR" sz="1400" dirty="0"/>
              <a:t>: useState (React) ; signal().</a:t>
            </a:r>
          </a:p>
          <a:p>
            <a:r>
              <a:rPr lang="fr-FR" sz="1400" b="1" dirty="0"/>
              <a:t>Rendu dynamique </a:t>
            </a:r>
            <a:r>
              <a:rPr lang="fr-FR" sz="1400" dirty="0"/>
              <a:t>: affichage conditionnel, listes, etc.</a:t>
            </a:r>
          </a:p>
          <a:p>
            <a:r>
              <a:rPr lang="fr-FR" sz="1400" b="1" dirty="0"/>
              <a:t>Réutilisables</a:t>
            </a:r>
            <a:r>
              <a:rPr lang="fr-FR" sz="1400" dirty="0"/>
              <a:t> : composants utilisés plusieurs fois dans une app.</a:t>
            </a:r>
          </a:p>
          <a:p>
            <a:endParaRPr kumimoji="0" lang="fr-FR" altLang="fr-FR" sz="1400" b="1" i="0" u="none" strike="noStrike" cap="none" normalizeH="0" baseline="0" dirty="0">
              <a:ln>
                <a:noFill/>
              </a:ln>
              <a:solidFill>
                <a:schemeClr val="tx1"/>
              </a:solidFill>
              <a:effectLst/>
              <a:latin typeface="Arial" panose="020B0604020202020204" pitchFamily="34" charset="0"/>
            </a:endParaRPr>
          </a:p>
          <a:p>
            <a:pPr marL="0" indent="0">
              <a:buNone/>
            </a:pPr>
            <a:r>
              <a:rPr lang="fr-FR" sz="1800" b="1" dirty="0"/>
              <a:t>Différences clés</a:t>
            </a:r>
          </a:p>
          <a:p>
            <a:r>
              <a:rPr lang="fr-FR" sz="1400" b="1" dirty="0" err="1"/>
              <a:t>React</a:t>
            </a:r>
            <a:endParaRPr lang="fr-FR" sz="1400" b="1" dirty="0"/>
          </a:p>
          <a:p>
            <a:pPr lvl="1"/>
            <a:r>
              <a:rPr lang="fr-FR" sz="1400" b="0" dirty="0"/>
              <a:t>JSX décrit l’interface en JavaScript, avec logique associée.</a:t>
            </a:r>
          </a:p>
          <a:p>
            <a:pPr lvl="1"/>
            <a:r>
              <a:rPr lang="fr-FR" sz="1400" b="0" dirty="0" err="1"/>
              <a:t>Hooks dans les fonctions ; classes toujours prises en charge.</a:t>
            </a:r>
          </a:p>
          <a:p>
            <a:pPr lvl="1"/>
            <a:r>
              <a:rPr lang="fr-FR" sz="1400" b="0" dirty="0"/>
              <a:t>Bibliothèque UI flexible ; structure définie par le projet.</a:t>
            </a:r>
          </a:p>
          <a:p>
            <a:r>
              <a:rPr lang="fr-FR" sz="1400" b="1" dirty="0" err="1"/>
              <a:t>Angular</a:t>
            </a:r>
            <a:endParaRPr lang="fr-FR" sz="1400" b="1" dirty="0"/>
          </a:p>
          <a:p>
            <a:pPr lvl="1"/>
            <a:r>
              <a:rPr lang="fr-FR" sz="1400" b="0" dirty="0"/>
              <a:t>Classe et template distincts ; le template peut aussi contenir des expressions.</a:t>
            </a:r>
          </a:p>
          <a:p>
            <a:pPr lvl="1"/>
            <a:r>
              <a:rPr lang="fr-FR" sz="1400" b="0" dirty="0"/>
              <a:t>Projets Angular développés en TypeScript.</a:t>
            </a:r>
          </a:p>
          <a:p>
            <a:pPr lvl="1"/>
            <a:r>
              <a:rPr lang="fr-FR" sz="1400" b="0" dirty="0"/>
              <a:t>Framework avec conventions et outils intégrés.</a:t>
            </a:r>
          </a:p>
          <a:p>
            <a:pPr marL="0" indent="0">
              <a:buNone/>
            </a:pP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58AE6A22-B60B-496A-6884-6BCAEEBBD1D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875523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F6DFACB-7CEE-65FC-0C19-8F1D952BDA14}"/>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709AECA-52D6-91FB-6796-9EA9237662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7E9BB269-7D36-809C-F133-4E710C8033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F3365A7E-3F54-CE3C-E8A6-2556ECA9EB2A}"/>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688988A4-7FD4-B775-15A5-3C86105A61E7}"/>
              </a:ext>
            </a:extLst>
          </p:cNvPr>
          <p:cNvSpPr>
            <a:spLocks noGrp="1" noChangeArrowheads="1"/>
          </p:cNvSpPr>
          <p:nvPr>
            <p:ph idx="1"/>
          </p:nvPr>
        </p:nvSpPr>
        <p:spPr bwMode="auto">
          <a:xfrm>
            <a:off x="5847343" y="658928"/>
            <a:ext cx="6019138" cy="50384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Réagir aux interactions utilisateur</a:t>
            </a:r>
          </a:p>
          <a:p>
            <a:pPr marL="0" indent="0" eaLnBrk="0" fontAlgn="base" hangingPunct="0">
              <a:lnSpc>
                <a:spcPct val="200000"/>
              </a:lnSpc>
              <a:spcBef>
                <a:spcPct val="0"/>
              </a:spcBef>
              <a:spcAft>
                <a:spcPct val="0"/>
              </a:spcAft>
              <a:buNone/>
            </a:pPr>
            <a:r>
              <a:rPr lang="fr-FR" sz="1800" b="1" dirty="0"/>
              <a:t>Introduction à la gestion des événements</a:t>
            </a:r>
          </a:p>
          <a:p>
            <a:pPr eaLnBrk="0" fontAlgn="base" hangingPunct="0">
              <a:lnSpc>
                <a:spcPct val="150000"/>
              </a:lnSpc>
              <a:spcBef>
                <a:spcPct val="0"/>
              </a:spcBef>
              <a:spcAft>
                <a:spcPct val="0"/>
              </a:spcAft>
            </a:pPr>
            <a:r>
              <a:rPr lang="fr-FR" sz="1600" dirty="0"/>
              <a:t>Un événement peut venir de l’utilisateur (clic, saisie) ou du navigateur.</a:t>
            </a:r>
          </a:p>
          <a:p>
            <a:pPr eaLnBrk="0" fontAlgn="base" hangingPunct="0">
              <a:lnSpc>
                <a:spcPct val="150000"/>
              </a:lnSpc>
              <a:spcBef>
                <a:spcPct val="0"/>
              </a:spcBef>
              <a:spcAft>
                <a:spcPct val="0"/>
              </a:spcAft>
            </a:pPr>
            <a:r>
              <a:rPr lang="fr-FR" sz="1600" dirty="0"/>
              <a:t>Dans un </a:t>
            </a:r>
            <a:r>
              <a:rPr lang="fr-FR" sz="1600" dirty="0" err="1"/>
              <a:t>framework</a:t>
            </a:r>
            <a:r>
              <a:rPr lang="fr-FR" sz="1600" dirty="0"/>
              <a:t> frontend :</a:t>
            </a:r>
          </a:p>
          <a:p>
            <a:pPr lvl="1" eaLnBrk="0" fontAlgn="base" hangingPunct="0">
              <a:lnSpc>
                <a:spcPct val="150000"/>
              </a:lnSpc>
              <a:spcBef>
                <a:spcPct val="0"/>
              </a:spcBef>
              <a:spcAft>
                <a:spcPct val="0"/>
              </a:spcAft>
            </a:pPr>
            <a:r>
              <a:rPr lang="fr-FR" sz="1600" dirty="0"/>
              <a:t>On associe un gestionnaire à l’événement.</a:t>
            </a:r>
          </a:p>
          <a:p>
            <a:pPr lvl="1" eaLnBrk="0" fontAlgn="base" hangingPunct="0">
              <a:lnSpc>
                <a:spcPct val="150000"/>
              </a:lnSpc>
              <a:spcBef>
                <a:spcPct val="0"/>
              </a:spcBef>
              <a:spcAft>
                <a:spcPct val="0"/>
              </a:spcAft>
            </a:pPr>
            <a:r>
              <a:rPr lang="fr-FR" sz="1600" dirty="0"/>
              <a:t>Le gestionnaire exécute la logique de réponse.</a:t>
            </a:r>
          </a:p>
          <a:p>
            <a:pPr eaLnBrk="0" fontAlgn="base" hangingPunct="0">
              <a:lnSpc>
                <a:spcPct val="150000"/>
              </a:lnSpc>
              <a:spcBef>
                <a:spcPct val="0"/>
              </a:spcBef>
              <a:spcAft>
                <a:spcPct val="0"/>
              </a:spcAft>
            </a:pPr>
            <a:r>
              <a:rPr lang="fr-FR" sz="1600" dirty="0"/>
              <a:t>Différences principales :</a:t>
            </a:r>
          </a:p>
          <a:p>
            <a:pPr lvl="1" eaLnBrk="0" fontAlgn="base" hangingPunct="0">
              <a:lnSpc>
                <a:spcPct val="150000"/>
              </a:lnSpc>
              <a:spcBef>
                <a:spcPct val="0"/>
              </a:spcBef>
              <a:spcAft>
                <a:spcPct val="0"/>
              </a:spcAft>
            </a:pPr>
            <a:r>
              <a:rPr lang="fr-FR" sz="1600" b="1" dirty="0" err="1"/>
              <a:t>React</a:t>
            </a:r>
            <a:r>
              <a:rPr lang="fr-FR" sz="1600" dirty="0"/>
              <a:t> → événements en </a:t>
            </a:r>
            <a:r>
              <a:rPr lang="fr-FR" sz="1600" dirty="0" err="1"/>
              <a:t>camelCase</a:t>
            </a:r>
            <a:r>
              <a:rPr lang="fr-FR" sz="1600" dirty="0"/>
              <a:t>, attachés directement dans JSX.</a:t>
            </a:r>
          </a:p>
          <a:p>
            <a:pPr lvl="1" eaLnBrk="0" fontAlgn="base" hangingPunct="0">
              <a:lnSpc>
                <a:spcPct val="150000"/>
              </a:lnSpc>
              <a:spcBef>
                <a:spcPct val="0"/>
              </a:spcBef>
              <a:spcAft>
                <a:spcPct val="0"/>
              </a:spcAft>
            </a:pPr>
            <a:r>
              <a:rPr lang="fr-FR" sz="1600" b="1" dirty="0" err="1"/>
              <a:t>Angular</a:t>
            </a:r>
            <a:r>
              <a:rPr lang="fr-FR" sz="1600" dirty="0"/>
              <a:t> → événements liés dans le </a:t>
            </a:r>
            <a:r>
              <a:rPr lang="fr-FR" sz="1600" dirty="0" err="1"/>
              <a:t>template</a:t>
            </a:r>
            <a:r>
              <a:rPr lang="fr-FR" sz="1600" dirty="0"/>
              <a:t> via (</a:t>
            </a:r>
            <a:r>
              <a:rPr lang="fr-FR" sz="1600" dirty="0" err="1"/>
              <a:t>event</a:t>
            </a:r>
            <a:r>
              <a:rPr lang="fr-FR" sz="1600" dirty="0"/>
              <a:t>)="handler()".</a:t>
            </a:r>
            <a:endParaRPr kumimoji="0" lang="fr-FR" altLang="fr-FR" sz="16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B5090D67-A4EA-D576-1750-4AF8874A462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95791374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A6A01E-2EDC-73A4-1864-75E519D4A34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97FD9A9-A5B2-824E-8298-504E724D76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776FD2B5-FD48-160D-A046-CD165FD933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AEB0900-53D0-CC77-73F3-D710CB9BC6C0}"/>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6ACBC86D-F95C-CE6E-E5E1-00D9ED6EA93E}"/>
              </a:ext>
            </a:extLst>
          </p:cNvPr>
          <p:cNvSpPr>
            <a:spLocks noGrp="1" noChangeArrowheads="1"/>
          </p:cNvSpPr>
          <p:nvPr>
            <p:ph idx="1"/>
          </p:nvPr>
        </p:nvSpPr>
        <p:spPr bwMode="auto">
          <a:xfrm>
            <a:off x="5847343" y="853212"/>
            <a:ext cx="6019138" cy="46499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React : un clic appelle le gestionnaire</a:t>
            </a:r>
          </a:p>
          <a:p>
            <a:pPr marL="0" indent="0" eaLnBrk="0" fontAlgn="base" hangingPunct="0">
              <a:lnSpc>
                <a:spcPct val="200000"/>
              </a:lnSpc>
              <a:spcBef>
                <a:spcPct val="0"/>
              </a:spcBef>
              <a:spcAft>
                <a:spcPct val="0"/>
              </a:spcAft>
              <a:buNone/>
            </a:pPr>
            <a:r>
              <a:rPr lang="fr-FR" sz="1800" b="1" dirty="0"/>
              <a:t>Gestion d’événements en </a:t>
            </a:r>
            <a:r>
              <a:rPr lang="fr-FR" sz="1800" b="1" dirty="0" err="1"/>
              <a:t>React</a:t>
            </a:r>
            <a:endParaRPr lang="fr-FR" sz="1800" b="1" dirty="0"/>
          </a:p>
          <a:p>
            <a:pPr marL="0" indent="0" eaLnBrk="0" fontAlgn="base" hangingPunct="0">
              <a:lnSpc>
                <a:spcPct val="200000"/>
              </a:lnSpc>
              <a:spcBef>
                <a:spcPct val="0"/>
              </a:spcBef>
              <a:spcAft>
                <a:spcPct val="0"/>
              </a:spcAft>
              <a:buNone/>
            </a:pPr>
            <a:r>
              <a:rPr lang="fr-FR" sz="1600" b="1" dirty="0"/>
              <a:t>Clic sur un bouton</a:t>
            </a:r>
          </a:p>
          <a:p>
            <a:pPr>
              <a:lnSpc>
                <a:spcPts val="1425"/>
              </a:lnSpc>
              <a:buNone/>
            </a:pPr>
            <a:r>
              <a:rPr lang="fr-FR" sz="1200" b="1" dirty="0" err="1">
                <a:solidFill>
                  <a:srgbClr val="1967B3"/>
                </a:solidFill>
                <a:effectLst/>
                <a:latin typeface="Consolas" panose="020B0609020204030204" pitchFamily="49" charset="0"/>
              </a:rPr>
              <a:t>function</a:t>
            </a:r>
            <a:r>
              <a:rPr lang="fr-FR" sz="1200" b="1" dirty="0">
                <a:solidFill>
                  <a:srgbClr val="344054"/>
                </a:solidFill>
                <a:effectLst/>
                <a:latin typeface="Consolas" panose="020B0609020204030204" pitchFamily="49" charset="0"/>
              </a:rPr>
              <a:t> </a:t>
            </a:r>
            <a:r>
              <a:rPr lang="fr-FR" sz="1200" b="1" dirty="0">
                <a:effectLst/>
                <a:latin typeface="Consolas" panose="020B0609020204030204" pitchFamily="49" charset="0"/>
              </a:rPr>
              <a:t>App</a:t>
            </a:r>
            <a:r>
              <a:rPr lang="fr-FR" sz="1200" b="1" dirty="0">
                <a:solidFill>
                  <a:srgbClr val="344054"/>
                </a:solidFill>
                <a:effectLst/>
                <a:latin typeface="Consolas" panose="020B0609020204030204" pitchFamily="49" charset="0"/>
              </a:rPr>
              <a:t>() {</a:t>
            </a:r>
          </a:p>
          <a:p>
            <a:pPr>
              <a:lnSpc>
                <a:spcPts val="1425"/>
              </a:lnSpc>
              <a:buNone/>
            </a:pPr>
            <a:r>
              <a:rPr lang="fr-FR" sz="1200" b="1" dirty="0">
                <a:solidFill>
                  <a:srgbClr val="344054"/>
                </a:solidFill>
                <a:effectLst/>
                <a:latin typeface="Consolas" panose="020B0609020204030204" pitchFamily="49" charset="0"/>
              </a:rPr>
              <a:t>  </a:t>
            </a:r>
            <a:r>
              <a:rPr lang="fr-FR" sz="1200" b="1" dirty="0" err="1">
                <a:solidFill>
                  <a:srgbClr val="1967B3"/>
                </a:solidFill>
                <a:effectLst/>
                <a:latin typeface="Consolas" panose="020B0609020204030204" pitchFamily="49" charset="0"/>
              </a:rPr>
              <a:t>const</a:t>
            </a: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handleClick</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 </a:t>
            </a:r>
            <a:r>
              <a:rPr lang="fr-FR" sz="1200" b="1" dirty="0">
                <a:solidFill>
                  <a:srgbClr val="1967B3"/>
                </a:solidFill>
                <a:effectLst/>
                <a:latin typeface="Consolas" panose="020B0609020204030204" pitchFamily="49" charset="0"/>
              </a:rPr>
              <a:t>=&gt;</a:t>
            </a:r>
            <a:r>
              <a:rPr lang="fr-FR" sz="1200" b="1" dirty="0">
                <a:solidFill>
                  <a:srgbClr val="344054"/>
                </a:solidFill>
                <a:effectLst/>
                <a:latin typeface="Consolas" panose="020B0609020204030204" pitchFamily="49" charset="0"/>
              </a:rPr>
              <a:t> {</a:t>
            </a:r>
          </a:p>
          <a:p>
            <a:pPr>
              <a:lnSpc>
                <a:spcPts val="1425"/>
              </a:lnSpc>
              <a:buNone/>
            </a:pP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alert</a:t>
            </a:r>
            <a:r>
              <a:rPr lang="fr-FR" sz="1200" b="1" dirty="0">
                <a:solidFill>
                  <a:srgbClr val="344054"/>
                </a:solidFill>
                <a:effectLst/>
                <a:latin typeface="Consolas" panose="020B0609020204030204" pitchFamily="49" charset="0"/>
              </a:rPr>
              <a:t>(</a:t>
            </a:r>
            <a:r>
              <a:rPr lang="fr-FR" sz="1200" b="1" dirty="0">
                <a:solidFill>
                  <a:srgbClr val="A64B27"/>
                </a:solidFill>
                <a:effectLst/>
                <a:latin typeface="Consolas" panose="020B0609020204030204" pitchFamily="49" charset="0"/>
              </a:rPr>
              <a:t>"Bouton cliqué !"</a:t>
            </a:r>
            <a:r>
              <a:rPr lang="fr-FR" sz="1200" b="1" dirty="0">
                <a:solidFill>
                  <a:srgbClr val="344054"/>
                </a:solidFill>
                <a:effectLst/>
                <a:latin typeface="Consolas" panose="020B0609020204030204" pitchFamily="49" charset="0"/>
              </a:rPr>
              <a:t>);</a:t>
            </a:r>
          </a:p>
          <a:p>
            <a:pPr>
              <a:lnSpc>
                <a:spcPts val="1425"/>
              </a:lnSpc>
              <a:buNone/>
            </a:pPr>
            <a:r>
              <a:rPr lang="fr-FR" sz="1200" b="1" dirty="0">
                <a:solidFill>
                  <a:srgbClr val="344054"/>
                </a:solidFill>
                <a:effectLst/>
                <a:latin typeface="Consolas" panose="020B0609020204030204" pitchFamily="49" charset="0"/>
              </a:rPr>
              <a:t>  };</a:t>
            </a:r>
          </a:p>
          <a:p>
            <a:pPr>
              <a:lnSpc>
                <a:spcPts val="1425"/>
              </a:lnSpc>
              <a:buNone/>
            </a:pPr>
            <a:r>
              <a:rPr lang="fr-FR" sz="1200" b="1" dirty="0">
                <a:solidFill>
                  <a:srgbClr val="344054"/>
                </a:solidFill>
                <a:effectLst/>
                <a:latin typeface="Consolas" panose="020B0609020204030204" pitchFamily="49" charset="0"/>
              </a:rPr>
              <a:t>  </a:t>
            </a:r>
            <a:r>
              <a:rPr lang="fr-FR" sz="1200" b="1" dirty="0">
                <a:solidFill>
                  <a:srgbClr val="814193"/>
                </a:solidFill>
                <a:effectLst/>
                <a:latin typeface="Consolas" panose="020B0609020204030204" pitchFamily="49" charset="0"/>
              </a:rPr>
              <a:t>return</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onClick</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err="1">
                <a:effectLst/>
                <a:latin typeface="Consolas" panose="020B0609020204030204" pitchFamily="49" charset="0"/>
              </a:rPr>
              <a:t>handleClick</a:t>
            </a:r>
            <a:r>
              <a:rPr lang="fr-FR" sz="1200" b="1" dirty="0">
                <a:solidFill>
                  <a:srgbClr val="1967B3"/>
                </a:solidFill>
                <a:effectLst/>
                <a:latin typeface="Consolas" panose="020B0609020204030204" pitchFamily="49" charset="0"/>
              </a:rPr>
              <a:t>}</a:t>
            </a:r>
            <a:r>
              <a:rPr lang="fr-FR" sz="1200" b="1" dirty="0">
                <a:solidFill>
                  <a:srgbClr val="475467"/>
                </a:solidFill>
                <a:effectLst/>
                <a:latin typeface="Consolas" panose="020B0609020204030204" pitchFamily="49" charset="0"/>
              </a:rPr>
              <a:t>&gt;</a:t>
            </a:r>
            <a:r>
              <a:rPr lang="fr-FR" sz="1200" b="1" dirty="0">
                <a:solidFill>
                  <a:srgbClr val="344054"/>
                </a:solidFill>
                <a:effectLst/>
                <a:latin typeface="Consolas" panose="020B0609020204030204" pitchFamily="49" charset="0"/>
              </a:rPr>
              <a:t>Cliquez-moi</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475467"/>
                </a:solidFill>
                <a:effectLst/>
                <a:latin typeface="Consolas" panose="020B0609020204030204" pitchFamily="49" charset="0"/>
              </a:rPr>
              <a:t>&gt;</a:t>
            </a:r>
            <a:r>
              <a:rPr lang="fr-FR" sz="1200" b="1" dirty="0">
                <a:solidFill>
                  <a:srgbClr val="344054"/>
                </a:solidFill>
                <a:effectLst/>
                <a:latin typeface="Consolas" panose="020B0609020204030204" pitchFamily="49" charset="0"/>
              </a:rPr>
              <a:t>;</a:t>
            </a:r>
          </a:p>
          <a:p>
            <a:pPr>
              <a:lnSpc>
                <a:spcPts val="1425"/>
              </a:lnSpc>
              <a:buNone/>
            </a:pPr>
            <a:r>
              <a:rPr lang="fr-FR" sz="1200" b="1" dirty="0">
                <a:solidFill>
                  <a:srgbClr val="344054"/>
                </a:solidFill>
                <a:effectLst/>
                <a:latin typeface="Consolas" panose="020B0609020204030204" pitchFamily="49" charset="0"/>
              </a:rPr>
              <a:t>}</a:t>
            </a:r>
          </a:p>
          <a:p>
            <a:pPr>
              <a:lnSpc>
                <a:spcPts val="1425"/>
              </a:lnSpc>
              <a:buNone/>
            </a:pPr>
            <a:endParaRPr lang="fr-FR" sz="1200" b="1" dirty="0">
              <a:solidFill>
                <a:srgbClr val="344054"/>
              </a:solidFill>
              <a:effectLst/>
              <a:latin typeface="Consolas" panose="020B0609020204030204" pitchFamily="49" charset="0"/>
            </a:endParaRPr>
          </a:p>
          <a:p>
            <a:pPr>
              <a:lnSpc>
                <a:spcPts val="1425"/>
              </a:lnSpc>
            </a:pPr>
            <a:r>
              <a:rPr lang="fr-FR" sz="1400" b="0" dirty="0">
                <a:effectLst/>
              </a:rPr>
              <a:t>Les événements utilisent </a:t>
            </a:r>
            <a:r>
              <a:rPr lang="fr-FR" sz="1400" b="1" dirty="0" err="1">
                <a:effectLst/>
              </a:rPr>
              <a:t>camelCase</a:t>
            </a:r>
            <a:r>
              <a:rPr lang="fr-FR" sz="1400" b="0" dirty="0">
                <a:effectLst/>
              </a:rPr>
              <a:t> (</a:t>
            </a:r>
            <a:r>
              <a:rPr lang="fr-FR" sz="1400" b="0" dirty="0" err="1">
                <a:effectLst/>
              </a:rPr>
              <a:t>onClick</a:t>
            </a:r>
            <a:r>
              <a:rPr lang="fr-FR" sz="1400" b="0" dirty="0">
                <a:effectLst/>
              </a:rPr>
              <a:t>, </a:t>
            </a:r>
            <a:r>
              <a:rPr lang="fr-FR" sz="1400" b="0" dirty="0" err="1">
                <a:effectLst/>
              </a:rPr>
              <a:t>onChange</a:t>
            </a:r>
            <a:r>
              <a:rPr lang="fr-FR" sz="1400" b="0" dirty="0">
                <a:effectLst/>
              </a:rPr>
              <a:t>, </a:t>
            </a:r>
            <a:r>
              <a:rPr lang="fr-FR" sz="1400" b="0" dirty="0" err="1">
                <a:effectLst/>
              </a:rPr>
              <a:t>onSubmit</a:t>
            </a:r>
            <a:r>
              <a:rPr lang="fr-FR" sz="1400" b="0" dirty="0">
                <a:effectLst/>
              </a:rPr>
              <a:t>).</a:t>
            </a:r>
          </a:p>
          <a:p>
            <a:pPr>
              <a:lnSpc>
                <a:spcPts val="1425"/>
              </a:lnSpc>
            </a:pPr>
            <a:r>
              <a:rPr lang="fr-FR" sz="1400" b="0" dirty="0">
                <a:effectLst/>
              </a:rPr>
              <a:t>Transmettre handleClick sans parenthèses évite de l’appeler au rendu.</a:t>
            </a:r>
          </a:p>
        </p:txBody>
      </p:sp>
      <p:sp>
        <p:nvSpPr>
          <p:cNvPr id="3" name="Espace réservé du numéro de diapositive 2">
            <a:extLst>
              <a:ext uri="{FF2B5EF4-FFF2-40B4-BE49-F238E27FC236}">
                <a16:creationId xmlns:a16="http://schemas.microsoft.com/office/drawing/2014/main" id="{F10B8A6F-722A-DFE1-78B7-7369F8B581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945337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9FB95A-F31F-181C-F243-75394F8FE507}"/>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F84519D0-E36C-C5CF-821A-E75DAE96FE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E4D735E6-82CD-2935-A087-9F26B38A6C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C06E694-0AA5-2674-E62C-69A127D35BDE}"/>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BE904F9B-82A2-F4AE-0008-C5AA02E4C2EC}"/>
              </a:ext>
            </a:extLst>
          </p:cNvPr>
          <p:cNvSpPr>
            <a:spLocks noGrp="1" noChangeArrowheads="1"/>
          </p:cNvSpPr>
          <p:nvPr>
            <p:ph idx="1"/>
          </p:nvPr>
        </p:nvSpPr>
        <p:spPr bwMode="auto">
          <a:xfrm>
            <a:off x="5847343" y="25400"/>
            <a:ext cx="6019138" cy="6704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React : le champ contrôlé suit l’état</a:t>
            </a:r>
          </a:p>
          <a:p>
            <a:pPr marL="0" indent="0" eaLnBrk="0" fontAlgn="base" hangingPunct="0">
              <a:lnSpc>
                <a:spcPct val="200000"/>
              </a:lnSpc>
              <a:spcBef>
                <a:spcPct val="0"/>
              </a:spcBef>
              <a:spcAft>
                <a:spcPct val="0"/>
              </a:spcAft>
              <a:buNone/>
            </a:pPr>
            <a:r>
              <a:rPr lang="fr-FR" sz="1800" b="1" dirty="0"/>
              <a:t>Formulaires en </a:t>
            </a:r>
            <a:r>
              <a:rPr lang="fr-FR" sz="1800" b="1" dirty="0" err="1"/>
              <a:t>React</a:t>
            </a:r>
            <a:endParaRPr lang="fr-FR" sz="1800" b="1" dirty="0"/>
          </a:p>
          <a:p>
            <a:pPr>
              <a:lnSpc>
                <a:spcPct val="100000"/>
              </a:lnSpc>
              <a:buNone/>
            </a:pPr>
            <a:r>
              <a:rPr lang="fr-FR" sz="1200" b="1" dirty="0" err="1">
                <a:solidFill>
                  <a:srgbClr val="1967B3"/>
                </a:solidFill>
                <a:effectLst/>
                <a:latin typeface="Consolas" panose="020B0609020204030204" pitchFamily="49" charset="0"/>
              </a:rPr>
              <a:t>function</a:t>
            </a: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Form</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1967B3"/>
                </a:solidFill>
                <a:effectLst/>
                <a:latin typeface="Consolas" panose="020B0609020204030204" pitchFamily="49" charset="0"/>
              </a:rPr>
              <a:t>const</a:t>
            </a:r>
            <a:r>
              <a:rPr lang="fr-FR" sz="1200" b="1" dirty="0">
                <a:solidFill>
                  <a:srgbClr val="344054"/>
                </a:solidFill>
                <a:effectLst/>
                <a:latin typeface="Consolas" panose="020B0609020204030204" pitchFamily="49" charset="0"/>
              </a:rPr>
              <a:t> [</a:t>
            </a:r>
            <a:r>
              <a:rPr lang="fr-FR" sz="1200" b="1" dirty="0" err="1">
                <a:solidFill>
                  <a:srgbClr val="006FAB"/>
                </a:solidFill>
                <a:effectLst/>
                <a:latin typeface="Consolas" panose="020B0609020204030204" pitchFamily="49" charset="0"/>
              </a:rPr>
              <a:t>name</a:t>
            </a: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setName</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err="1">
                <a:solidFill>
                  <a:srgbClr val="007A68"/>
                </a:solidFill>
                <a:effectLst/>
                <a:latin typeface="Consolas" panose="020B0609020204030204" pitchFamily="49" charset="0"/>
              </a:rPr>
              <a:t>React</a:t>
            </a:r>
            <a:r>
              <a:rPr lang="fr-FR" sz="1200" b="1" dirty="0" err="1">
                <a:solidFill>
                  <a:srgbClr val="344054"/>
                </a:solidFill>
                <a:effectLst/>
                <a:latin typeface="Consolas" panose="020B0609020204030204" pitchFamily="49" charset="0"/>
              </a:rPr>
              <a:t>.</a:t>
            </a:r>
            <a:r>
              <a:rPr lang="fr-FR" sz="1200" b="1" dirty="0" err="1">
                <a:effectLst/>
                <a:latin typeface="Consolas" panose="020B0609020204030204" pitchFamily="49" charset="0"/>
              </a:rPr>
              <a:t>useState</a:t>
            </a:r>
            <a:r>
              <a:rPr lang="fr-FR" sz="1200" b="1" dirty="0">
                <a:solidFill>
                  <a:srgbClr val="344054"/>
                </a:solidFill>
                <a:effectLst/>
                <a:latin typeface="Consolas" panose="020B0609020204030204" pitchFamily="49" charset="0"/>
              </a:rPr>
              <a:t>(</a:t>
            </a:r>
            <a:r>
              <a:rPr lang="fr-FR" sz="1200" b="1" dirty="0">
                <a:solidFill>
                  <a:srgbClr val="A64B27"/>
                </a:solidFill>
                <a:effectLst/>
                <a:latin typeface="Consolas" panose="020B0609020204030204" pitchFamily="49" charset="0"/>
              </a:rPr>
              <a:t>""</a:t>
            </a:r>
            <a:r>
              <a:rPr lang="fr-FR" sz="1200" b="1" dirty="0">
                <a:solidFill>
                  <a:srgbClr val="344054"/>
                </a:solidFill>
                <a:effectLst/>
                <a:latin typeface="Consolas" panose="020B0609020204030204" pitchFamily="49" charset="0"/>
              </a:rPr>
              <a:t>);</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1967B3"/>
                </a:solidFill>
                <a:effectLst/>
                <a:latin typeface="Consolas" panose="020B0609020204030204" pitchFamily="49" charset="0"/>
              </a:rPr>
              <a:t>const</a:t>
            </a: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handleSubmit</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e</a:t>
            </a:r>
            <a:r>
              <a:rPr lang="fr-FR" sz="1200" b="1" dirty="0">
                <a:solidFill>
                  <a:srgbClr val="344054"/>
                </a:solidFill>
                <a:effectLst/>
                <a:latin typeface="Consolas" panose="020B0609020204030204" pitchFamily="49" charset="0"/>
              </a:rPr>
              <a:t>) </a:t>
            </a:r>
            <a:r>
              <a:rPr lang="fr-FR" sz="1200" b="1" dirty="0">
                <a:solidFill>
                  <a:srgbClr val="1967B3"/>
                </a:solidFill>
                <a:effectLst/>
                <a:latin typeface="Consolas" panose="020B0609020204030204" pitchFamily="49" charset="0"/>
              </a:rPr>
              <a:t>=&gt;</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e</a:t>
            </a:r>
            <a:r>
              <a:rPr lang="fr-FR" sz="1200" b="1" dirty="0" err="1">
                <a:solidFill>
                  <a:srgbClr val="344054"/>
                </a:solidFill>
                <a:effectLst/>
                <a:latin typeface="Consolas" panose="020B0609020204030204" pitchFamily="49" charset="0"/>
              </a:rPr>
              <a:t>.</a:t>
            </a:r>
            <a:r>
              <a:rPr lang="fr-FR" sz="1200" b="1" dirty="0" err="1">
                <a:effectLst/>
                <a:latin typeface="Consolas" panose="020B0609020204030204" pitchFamily="49" charset="0"/>
              </a:rPr>
              <a:t>preventDefault</a:t>
            </a:r>
            <a:r>
              <a:rPr lang="fr-FR" sz="1200" b="1" dirty="0">
                <a:solidFill>
                  <a:srgbClr val="344054"/>
                </a:solidFill>
                <a:effectLst/>
                <a:latin typeface="Consolas" panose="020B0609020204030204" pitchFamily="49" charset="0"/>
              </a:rPr>
              <a:t>();</a:t>
            </a:r>
          </a:p>
          <a:p>
            <a:pPr>
              <a:lnSpc>
                <a:spcPct val="100000"/>
              </a:lnSpc>
              <a:buNone/>
            </a:pP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alert</a:t>
            </a:r>
            <a:r>
              <a:rPr lang="fr-FR" sz="1200" b="1" dirty="0">
                <a:solidFill>
                  <a:srgbClr val="344054"/>
                </a:solidFill>
                <a:effectLst/>
                <a:latin typeface="Consolas" panose="020B0609020204030204" pitchFamily="49" charset="0"/>
              </a:rPr>
              <a:t>(</a:t>
            </a:r>
            <a:r>
              <a:rPr lang="fr-FR" sz="1200" b="1" dirty="0">
                <a:solidFill>
                  <a:srgbClr val="A64B27"/>
                </a:solidFill>
                <a:effectLst/>
                <a:latin typeface="Consolas" panose="020B0609020204030204" pitchFamily="49" charset="0"/>
              </a:rPr>
              <a:t>"Nom : "</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err="1">
                <a:solidFill>
                  <a:srgbClr val="006FAB"/>
                </a:solidFill>
                <a:effectLst/>
                <a:latin typeface="Consolas" panose="020B0609020204030204" pitchFamily="49" charset="0"/>
              </a:rPr>
              <a:t>name</a:t>
            </a:r>
            <a:r>
              <a:rPr lang="fr-FR" sz="1200" b="1" dirty="0">
                <a:solidFill>
                  <a:srgbClr val="344054"/>
                </a:solidFill>
                <a:effectLst/>
                <a:latin typeface="Consolas" panose="020B0609020204030204" pitchFamily="49" charset="0"/>
              </a:rPr>
              <a:t>);</a:t>
            </a:r>
          </a:p>
          <a:p>
            <a:pPr>
              <a:lnSpc>
                <a:spcPct val="100000"/>
              </a:lnSpc>
              <a:buNone/>
            </a:pP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814193"/>
                </a:solidFill>
                <a:effectLst/>
                <a:latin typeface="Consolas" panose="020B0609020204030204" pitchFamily="49" charset="0"/>
              </a:rPr>
              <a:t>return</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form</a:t>
            </a: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onSubmit</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err="1">
                <a:effectLst/>
                <a:latin typeface="Consolas" panose="020B0609020204030204" pitchFamily="49" charset="0"/>
              </a:rPr>
              <a:t>handleSubmit</a:t>
            </a:r>
            <a:r>
              <a:rPr lang="fr-FR" sz="1200" b="1" dirty="0">
                <a:solidFill>
                  <a:srgbClr val="1967B3"/>
                </a:solidFill>
                <a:effectLst/>
                <a:latin typeface="Consolas" panose="020B0609020204030204" pitchFamily="49" charset="0"/>
              </a:rPr>
              <a:t>}</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a:solidFill>
                  <a:srgbClr val="1967B3"/>
                </a:solidFill>
                <a:effectLst/>
                <a:latin typeface="Consolas" panose="020B0609020204030204" pitchFamily="49" charset="0"/>
              </a:rPr>
              <a:t>input</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type</a:t>
            </a:r>
            <a:r>
              <a:rPr lang="fr-FR" sz="1200" b="1" dirty="0">
                <a:solidFill>
                  <a:srgbClr val="475467"/>
                </a:solidFill>
                <a:effectLst/>
                <a:latin typeface="Consolas" panose="020B0609020204030204" pitchFamily="49" charset="0"/>
              </a:rPr>
              <a:t>=</a:t>
            </a:r>
            <a:r>
              <a:rPr lang="fr-FR" sz="1200" b="1" dirty="0">
                <a:solidFill>
                  <a:srgbClr val="A64B27"/>
                </a:solidFill>
                <a:effectLst/>
                <a:latin typeface="Consolas" panose="020B0609020204030204" pitchFamily="49" charset="0"/>
              </a:rPr>
              <a:t>"</a:t>
            </a:r>
            <a:r>
              <a:rPr lang="fr-FR" sz="1200" b="1" dirty="0" err="1">
                <a:solidFill>
                  <a:srgbClr val="A64B27"/>
                </a:solidFill>
                <a:effectLst/>
                <a:latin typeface="Consolas" panose="020B0609020204030204" pitchFamily="49" charset="0"/>
              </a:rPr>
              <a:t>text</a:t>
            </a:r>
            <a:r>
              <a:rPr lang="fr-FR" sz="1200" b="1" dirty="0">
                <a:solidFill>
                  <a:srgbClr val="A64B2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value</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err="1">
                <a:solidFill>
                  <a:srgbClr val="006FAB"/>
                </a:solidFill>
                <a:effectLst/>
                <a:latin typeface="Consolas" panose="020B0609020204030204" pitchFamily="49" charset="0"/>
              </a:rPr>
              <a:t>name</a:t>
            </a:r>
            <a:r>
              <a:rPr lang="fr-FR" sz="1200" b="1" dirty="0">
                <a:solidFill>
                  <a:srgbClr val="1967B3"/>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onChange</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a:solidFill>
                  <a:srgbClr val="475467"/>
                </a:solidFill>
                <a:effectLst/>
                <a:latin typeface="Consolas" panose="020B0609020204030204" pitchFamily="49" charset="0"/>
              </a:rPr>
              <a:t>(</a:t>
            </a:r>
            <a:r>
              <a:rPr lang="fr-FR" sz="1200" b="1" dirty="0">
                <a:solidFill>
                  <a:srgbClr val="005A9C"/>
                </a:solidFill>
                <a:effectLst/>
                <a:latin typeface="Consolas" panose="020B0609020204030204" pitchFamily="49" charset="0"/>
              </a:rPr>
              <a:t>e</a:t>
            </a:r>
            <a:r>
              <a:rPr lang="fr-FR" sz="1200" b="1" dirty="0">
                <a:solidFill>
                  <a:srgbClr val="475467"/>
                </a:solidFill>
                <a:effectLst/>
                <a:latin typeface="Consolas" panose="020B0609020204030204" pitchFamily="49" charset="0"/>
              </a:rPr>
              <a:t>) </a:t>
            </a:r>
            <a:r>
              <a:rPr lang="fr-FR" sz="1200" b="1" dirty="0">
                <a:solidFill>
                  <a:srgbClr val="1967B3"/>
                </a:solidFill>
                <a:effectLst/>
                <a:latin typeface="Consolas" panose="020B0609020204030204" pitchFamily="49" charset="0"/>
              </a:rPr>
              <a:t>=&gt;</a:t>
            </a:r>
            <a:r>
              <a:rPr lang="fr-FR" sz="1200" b="1" dirty="0">
                <a:solidFill>
                  <a:srgbClr val="475467"/>
                </a:solidFill>
                <a:effectLst/>
                <a:latin typeface="Consolas" panose="020B0609020204030204" pitchFamily="49" charset="0"/>
              </a:rPr>
              <a:t> </a:t>
            </a:r>
            <a:r>
              <a:rPr lang="fr-FR" sz="1200" b="1" dirty="0" err="1">
                <a:effectLst/>
                <a:latin typeface="Consolas" panose="020B0609020204030204" pitchFamily="49" charset="0"/>
              </a:rPr>
              <a:t>setName</a:t>
            </a:r>
            <a:r>
              <a:rPr lang="fr-FR" sz="1200" b="1" dirty="0">
                <a:solidFill>
                  <a:srgbClr val="475467"/>
                </a:solidFill>
                <a:effectLst/>
                <a:latin typeface="Consolas" panose="020B0609020204030204" pitchFamily="49" charset="0"/>
              </a:rPr>
              <a:t>(</a:t>
            </a:r>
            <a:r>
              <a:rPr lang="fr-FR" sz="1200" b="1" dirty="0" err="1">
                <a:solidFill>
                  <a:srgbClr val="005A9C"/>
                </a:solidFill>
                <a:effectLst/>
                <a:latin typeface="Consolas" panose="020B0609020204030204" pitchFamily="49" charset="0"/>
              </a:rPr>
              <a:t>e</a:t>
            </a:r>
            <a:r>
              <a:rPr lang="fr-FR" sz="1200" b="1" dirty="0" err="1">
                <a:solidFill>
                  <a:srgbClr val="475467"/>
                </a:solidFill>
                <a:effectLst/>
                <a:latin typeface="Consolas" panose="020B0609020204030204" pitchFamily="49" charset="0"/>
              </a:rPr>
              <a:t>.</a:t>
            </a:r>
            <a:r>
              <a:rPr lang="fr-FR" sz="1200" b="1" dirty="0" err="1">
                <a:solidFill>
                  <a:srgbClr val="005A9C"/>
                </a:solidFill>
                <a:effectLst/>
                <a:latin typeface="Consolas" panose="020B0609020204030204" pitchFamily="49" charset="0"/>
              </a:rPr>
              <a:t>target</a:t>
            </a:r>
            <a:r>
              <a:rPr lang="fr-FR" sz="1200" b="1" dirty="0" err="1">
                <a:solidFill>
                  <a:srgbClr val="475467"/>
                </a:solidFill>
                <a:effectLst/>
                <a:latin typeface="Consolas" panose="020B0609020204030204" pitchFamily="49" charset="0"/>
              </a:rPr>
              <a:t>.</a:t>
            </a:r>
            <a:r>
              <a:rPr lang="fr-FR" sz="1200" b="1" dirty="0" err="1">
                <a:solidFill>
                  <a:srgbClr val="005A9C"/>
                </a:solidFill>
                <a:effectLst/>
                <a:latin typeface="Consolas" panose="020B0609020204030204" pitchFamily="49" charset="0"/>
              </a:rPr>
              <a:t>value</a:t>
            </a:r>
            <a:r>
              <a:rPr lang="fr-FR" sz="1200" b="1" dirty="0">
                <a:solidFill>
                  <a:srgbClr val="475467"/>
                </a:solidFill>
                <a:effectLst/>
                <a:latin typeface="Consolas" panose="020B0609020204030204" pitchFamily="49" charset="0"/>
              </a:rPr>
              <a:t>)</a:t>
            </a:r>
            <a:r>
              <a:rPr lang="fr-FR" sz="1200" b="1" dirty="0">
                <a:solidFill>
                  <a:srgbClr val="1967B3"/>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type</a:t>
            </a:r>
            <a:r>
              <a:rPr lang="fr-FR" sz="1200" b="1" dirty="0">
                <a:solidFill>
                  <a:srgbClr val="475467"/>
                </a:solidFill>
                <a:effectLst/>
                <a:latin typeface="Consolas" panose="020B0609020204030204" pitchFamily="49" charset="0"/>
              </a:rPr>
              <a:t>=</a:t>
            </a:r>
            <a:r>
              <a:rPr lang="fr-FR" sz="1200" b="1" dirty="0">
                <a:solidFill>
                  <a:srgbClr val="A64B27"/>
                </a:solidFill>
                <a:effectLst/>
                <a:latin typeface="Consolas" panose="020B0609020204030204" pitchFamily="49" charset="0"/>
              </a:rPr>
              <a:t>"</a:t>
            </a:r>
            <a:r>
              <a:rPr lang="fr-FR" sz="1200" b="1" dirty="0" err="1">
                <a:solidFill>
                  <a:srgbClr val="A64B27"/>
                </a:solidFill>
                <a:effectLst/>
                <a:latin typeface="Consolas" panose="020B0609020204030204" pitchFamily="49" charset="0"/>
              </a:rPr>
              <a:t>submit</a:t>
            </a:r>
            <a:r>
              <a:rPr lang="fr-FR" sz="1200" b="1" dirty="0">
                <a:solidFill>
                  <a:srgbClr val="A64B27"/>
                </a:solidFill>
                <a:effectLst/>
                <a:latin typeface="Consolas" panose="020B0609020204030204" pitchFamily="49" charset="0"/>
              </a:rPr>
              <a:t>"</a:t>
            </a:r>
            <a:r>
              <a:rPr lang="fr-FR" sz="1200" b="1" dirty="0">
                <a:solidFill>
                  <a:srgbClr val="475467"/>
                </a:solidFill>
                <a:effectLst/>
                <a:latin typeface="Consolas" panose="020B0609020204030204" pitchFamily="49" charset="0"/>
              </a:rPr>
              <a:t>&gt;</a:t>
            </a:r>
            <a:r>
              <a:rPr lang="fr-FR" sz="1200" b="1" dirty="0">
                <a:solidFill>
                  <a:srgbClr val="344054"/>
                </a:solidFill>
                <a:effectLst/>
                <a:latin typeface="Consolas" panose="020B0609020204030204" pitchFamily="49" charset="0"/>
              </a:rPr>
              <a:t>Envoyer</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form</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ct val="100000"/>
              </a:lnSpc>
              <a:buNone/>
            </a:pPr>
            <a:r>
              <a:rPr lang="fr-FR" sz="1200" b="1" dirty="0">
                <a:solidFill>
                  <a:srgbClr val="344054"/>
                </a:solidFill>
                <a:effectLst/>
                <a:latin typeface="Consolas" panose="020B0609020204030204" pitchFamily="49" charset="0"/>
              </a:rPr>
              <a:t>  );</a:t>
            </a:r>
          </a:p>
          <a:p>
            <a:pPr>
              <a:lnSpc>
                <a:spcPct val="100000"/>
              </a:lnSpc>
              <a:buNone/>
            </a:pPr>
            <a:r>
              <a:rPr lang="fr-FR" sz="1200" b="1" dirty="0">
                <a:solidFill>
                  <a:srgbClr val="344054"/>
                </a:solidFill>
                <a:effectLst/>
                <a:latin typeface="Consolas" panose="020B0609020204030204" pitchFamily="49" charset="0"/>
              </a:rPr>
              <a:t>}</a:t>
            </a:r>
            <a:endParaRPr lang="fr-FR" sz="1200" b="1" dirty="0">
              <a:effectLst/>
            </a:endParaRPr>
          </a:p>
        </p:txBody>
      </p:sp>
      <p:sp>
        <p:nvSpPr>
          <p:cNvPr id="3" name="Espace réservé du numéro de diapositive 2">
            <a:extLst>
              <a:ext uri="{FF2B5EF4-FFF2-40B4-BE49-F238E27FC236}">
                <a16:creationId xmlns:a16="http://schemas.microsoft.com/office/drawing/2014/main" id="{564A3AE6-D895-DA73-9B17-D5DA0977F8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ZoneTexte 5">
            <a:extLst>
              <a:ext uri="{FF2B5EF4-FFF2-40B4-BE49-F238E27FC236}">
                <a16:creationId xmlns:a16="http://schemas.microsoft.com/office/drawing/2014/main" id="{F619B983-5C8C-A70D-4F92-A06BB744F9C3}"/>
              </a:ext>
            </a:extLst>
          </p:cNvPr>
          <p:cNvSpPr txBox="1"/>
          <p:nvPr/>
        </p:nvSpPr>
        <p:spPr>
          <a:xfrm>
            <a:off x="538250" y="4790931"/>
            <a:ext cx="4732019" cy="738664"/>
          </a:xfrm>
          <a:prstGeom prst="rect">
            <a:avLst/>
          </a:prstGeom>
          <a:noFill/>
        </p:spPr>
        <p:txBody>
          <a:bodyPr wrap="square">
            <a:spAutoFit/>
          </a:bodyPr>
          <a:lstStyle/>
          <a:p>
            <a:pPr marL="285750" indent="-285750">
              <a:buFont typeface="Arial" panose="020B0604020202020204" pitchFamily="34" charset="0"/>
              <a:buChar char="•"/>
            </a:pPr>
            <a:r>
              <a:rPr lang="fr-FR" sz="1400" b="1" dirty="0" err="1"/>
              <a:t>onChange actualise l’état à chaque saisie.</a:t>
            </a:r>
          </a:p>
          <a:p>
            <a:pPr marL="285750" indent="-285750">
              <a:buFont typeface="Arial" panose="020B0604020202020204" pitchFamily="34" charset="0"/>
              <a:buChar char="•"/>
            </a:pPr>
            <a:r>
              <a:rPr lang="fr-FR" sz="1400" dirty="0"/>
              <a:t>useState fournit la valeur affichée dans le champ.</a:t>
            </a:r>
          </a:p>
          <a:p>
            <a:pPr marL="285750" indent="-285750">
              <a:buFont typeface="Arial" panose="020B0604020202020204" pitchFamily="34" charset="0"/>
              <a:buChar char="•"/>
            </a:pPr>
            <a:r>
              <a:rPr lang="fr-FR" sz="1400" b="1" dirty="0" err="1"/>
              <a:t>preventDefault()</a:t>
            </a:r>
            <a:r>
              <a:rPr lang="fr-FR" sz="1400" b="0" dirty="0" err="1"/>
              <a:t> évite la soumission native.</a:t>
            </a:r>
          </a:p>
        </p:txBody>
      </p:sp>
    </p:spTree>
    <p:extLst>
      <p:ext uri="{BB962C8B-B14F-4D97-AF65-F5344CB8AC3E}">
        <p14:creationId xmlns:p14="http://schemas.microsoft.com/office/powerpoint/2010/main" val="2106532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043757-34D7-9F5E-26B6-5C9A60B8FA8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7F67865-8455-F47C-E590-4A74B39055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544D5CB5-0A0C-5019-6966-62457F505A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318F625-DAD5-13DA-6495-4889A5138EB9}"/>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274C68A2-AD86-2E5A-1BB9-7F1DA8E2F7B3}"/>
              </a:ext>
            </a:extLst>
          </p:cNvPr>
          <p:cNvSpPr>
            <a:spLocks noGrp="1" noChangeArrowheads="1"/>
          </p:cNvSpPr>
          <p:nvPr>
            <p:ph idx="1"/>
          </p:nvPr>
        </p:nvSpPr>
        <p:spPr bwMode="auto">
          <a:xfrm>
            <a:off x="5847343" y="609556"/>
            <a:ext cx="6019138" cy="513724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Angular : un clic appelle une méthode</a:t>
            </a:r>
          </a:p>
          <a:p>
            <a:pPr marL="0" indent="0" eaLnBrk="0" fontAlgn="base" hangingPunct="0">
              <a:lnSpc>
                <a:spcPct val="200000"/>
              </a:lnSpc>
              <a:spcBef>
                <a:spcPct val="0"/>
              </a:spcBef>
              <a:spcAft>
                <a:spcPct val="0"/>
              </a:spcAft>
              <a:buNone/>
            </a:pPr>
            <a:r>
              <a:rPr lang="fr-FR" sz="1800" b="1" dirty="0"/>
              <a:t>Gestion d’événements en </a:t>
            </a:r>
            <a:r>
              <a:rPr lang="fr-FR" sz="1800" b="1" dirty="0" err="1"/>
              <a:t>Angular</a:t>
            </a:r>
            <a:endParaRPr lang="fr-FR" sz="1800" b="1" dirty="0"/>
          </a:p>
          <a:p>
            <a:pPr marL="0" indent="0" eaLnBrk="0" fontAlgn="base" hangingPunct="0">
              <a:lnSpc>
                <a:spcPct val="200000"/>
              </a:lnSpc>
              <a:spcBef>
                <a:spcPct val="0"/>
              </a:spcBef>
              <a:spcAft>
                <a:spcPct val="0"/>
              </a:spcAft>
              <a:buNone/>
            </a:pPr>
            <a:r>
              <a:rPr lang="fr-FR" sz="1600" b="1" dirty="0"/>
              <a:t>Clic sur un bouton</a:t>
            </a:r>
          </a:p>
          <a:p>
            <a:pPr>
              <a:lnSpc>
                <a:spcPts val="1425"/>
              </a:lnSpc>
              <a:buNone/>
            </a:pPr>
            <a:r>
              <a:rPr lang="fr-FR" sz="1200" b="1" dirty="0">
                <a:solidFill>
                  <a:schemeClr val="accent6">
                    <a:lumMod val="75000"/>
                  </a:schemeClr>
                </a:solidFill>
                <a:effectLst/>
                <a:latin typeface="Consolas" panose="020B0609020204030204" pitchFamily="49" charset="0"/>
              </a:rPr>
              <a:t>// Dans la classe du composant (app.ts)</a:t>
            </a:r>
          </a:p>
          <a:p>
            <a:pPr>
              <a:lnSpc>
                <a:spcPts val="1425"/>
              </a:lnSpc>
              <a:buNone/>
            </a:pPr>
            <a:r>
              <a:rPr lang="fr-FR" sz="1200" b="1" dirty="0" err="1">
                <a:effectLst/>
                <a:latin typeface="Consolas" panose="020B0609020204030204" pitchFamily="49" charset="0"/>
              </a:rPr>
              <a:t>onClick</a:t>
            </a:r>
            <a:r>
              <a:rPr lang="fr-FR" sz="1200" b="1" dirty="0">
                <a:solidFill>
                  <a:srgbClr val="344054"/>
                </a:solidFill>
                <a:effectLst/>
                <a:latin typeface="Consolas" panose="020B0609020204030204" pitchFamily="49" charset="0"/>
              </a:rPr>
              <a:t>() {</a:t>
            </a:r>
          </a:p>
          <a:p>
            <a:pPr>
              <a:lnSpc>
                <a:spcPts val="1425"/>
              </a:lnSpc>
              <a:buNone/>
            </a:pPr>
            <a:r>
              <a:rPr lang="fr-FR" sz="1200" b="1" dirty="0">
                <a:solidFill>
                  <a:srgbClr val="344054"/>
                </a:solidFill>
                <a:effectLst/>
                <a:latin typeface="Consolas" panose="020B0609020204030204" pitchFamily="49" charset="0"/>
              </a:rPr>
              <a:t>  </a:t>
            </a:r>
            <a:r>
              <a:rPr lang="fr-FR" sz="1200" b="1" dirty="0" err="1">
                <a:effectLst/>
                <a:latin typeface="Consolas" panose="020B0609020204030204" pitchFamily="49" charset="0"/>
              </a:rPr>
              <a:t>alert</a:t>
            </a:r>
            <a:r>
              <a:rPr lang="fr-FR" sz="1200" b="1" dirty="0">
                <a:solidFill>
                  <a:srgbClr val="344054"/>
                </a:solidFill>
                <a:effectLst/>
                <a:latin typeface="Consolas" panose="020B0609020204030204" pitchFamily="49" charset="0"/>
              </a:rPr>
              <a:t>(</a:t>
            </a:r>
            <a:r>
              <a:rPr lang="fr-FR" sz="1200" b="1" dirty="0">
                <a:solidFill>
                  <a:srgbClr val="A64B27"/>
                </a:solidFill>
                <a:effectLst/>
                <a:latin typeface="Consolas" panose="020B0609020204030204" pitchFamily="49" charset="0"/>
              </a:rPr>
              <a:t>"Bouton cliqué !"</a:t>
            </a:r>
            <a:r>
              <a:rPr lang="fr-FR" sz="1200" b="1" dirty="0">
                <a:solidFill>
                  <a:srgbClr val="344054"/>
                </a:solidFill>
                <a:effectLst/>
                <a:latin typeface="Consolas" panose="020B0609020204030204" pitchFamily="49" charset="0"/>
              </a:rPr>
              <a:t>);</a:t>
            </a:r>
          </a:p>
          <a:p>
            <a:pPr>
              <a:lnSpc>
                <a:spcPts val="1425"/>
              </a:lnSpc>
              <a:buNone/>
            </a:pPr>
            <a:r>
              <a:rPr lang="fr-FR" sz="1200" b="1" dirty="0">
                <a:solidFill>
                  <a:srgbClr val="344054"/>
                </a:solidFill>
                <a:effectLst/>
                <a:latin typeface="Consolas" panose="020B0609020204030204" pitchFamily="49" charset="0"/>
              </a:rPr>
              <a:t>}</a:t>
            </a:r>
          </a:p>
          <a:p>
            <a:pPr>
              <a:lnSpc>
                <a:spcPts val="1425"/>
              </a:lnSpc>
              <a:buNone/>
            </a:pPr>
            <a:endParaRPr lang="fr-FR" sz="1200" b="1" dirty="0">
              <a:solidFill>
                <a:srgbClr val="344054"/>
              </a:solidFill>
              <a:latin typeface="Consolas" panose="020B0609020204030204" pitchFamily="49" charset="0"/>
            </a:endParaRPr>
          </a:p>
          <a:p>
            <a:pPr>
              <a:lnSpc>
                <a:spcPts val="1425"/>
              </a:lnSpc>
              <a:buNone/>
            </a:pPr>
            <a:r>
              <a:rPr lang="fr-FR" sz="1200" b="1" dirty="0">
                <a:solidFill>
                  <a:schemeClr val="accent6">
                    <a:lumMod val="75000"/>
                  </a:schemeClr>
                </a:solidFill>
                <a:effectLst/>
                <a:latin typeface="Consolas" panose="020B0609020204030204" pitchFamily="49" charset="0"/>
              </a:rPr>
              <a:t>// Dans le template (app.html)</a:t>
            </a:r>
          </a:p>
          <a:p>
            <a:pPr>
              <a:lnSpc>
                <a:spcPts val="1425"/>
              </a:lnSpc>
              <a:buNone/>
            </a:pPr>
            <a:r>
              <a:rPr lang="en-US" sz="1200" b="1" dirty="0">
                <a:solidFill>
                  <a:srgbClr val="475467"/>
                </a:solidFill>
                <a:effectLst/>
                <a:latin typeface="Consolas" panose="020B0609020204030204" pitchFamily="49" charset="0"/>
              </a:rPr>
              <a:t>&lt;</a:t>
            </a:r>
            <a:r>
              <a:rPr lang="en-US" sz="1200" b="1" dirty="0">
                <a:solidFill>
                  <a:srgbClr val="1967B3"/>
                </a:solidFill>
                <a:effectLst/>
                <a:latin typeface="Consolas" panose="020B0609020204030204" pitchFamily="49" charset="0"/>
              </a:rPr>
              <a:t>button</a:t>
            </a:r>
            <a:r>
              <a:rPr lang="en-US" sz="1200" b="1" dirty="0">
                <a:solidFill>
                  <a:srgbClr val="344054"/>
                </a:solidFill>
                <a:effectLst/>
                <a:latin typeface="Consolas" panose="020B0609020204030204" pitchFamily="49" charset="0"/>
              </a:rPr>
              <a:t> </a:t>
            </a:r>
            <a:r>
              <a:rPr lang="en-US" sz="1200" b="1" dirty="0">
                <a:solidFill>
                  <a:srgbClr val="F44747"/>
                </a:solidFill>
                <a:effectLst/>
                <a:latin typeface="Consolas" panose="020B0609020204030204" pitchFamily="49" charset="0"/>
              </a:rPr>
              <a:t>(click)="</a:t>
            </a:r>
            <a:r>
              <a:rPr lang="en-US" sz="1200" b="1" dirty="0" err="1">
                <a:solidFill>
                  <a:srgbClr val="F44747"/>
                </a:solidFill>
                <a:effectLst/>
                <a:latin typeface="Consolas" panose="020B0609020204030204" pitchFamily="49" charset="0"/>
              </a:rPr>
              <a:t>onClick</a:t>
            </a:r>
            <a:r>
              <a:rPr lang="en-US" sz="1200" b="1" dirty="0">
                <a:solidFill>
                  <a:srgbClr val="F44747"/>
                </a:solidFill>
                <a:effectLst/>
                <a:latin typeface="Consolas" panose="020B0609020204030204" pitchFamily="49" charset="0"/>
              </a:rPr>
              <a:t>()"&gt;</a:t>
            </a:r>
            <a:r>
              <a:rPr lang="en-US" sz="1200" b="1" dirty="0" err="1">
                <a:solidFill>
                  <a:srgbClr val="F44747"/>
                </a:solidFill>
                <a:effectLst/>
                <a:latin typeface="Consolas" panose="020B0609020204030204" pitchFamily="49" charset="0"/>
              </a:rPr>
              <a:t>Cliquez-moi</a:t>
            </a:r>
            <a:r>
              <a:rPr lang="en-US" sz="1200" b="1" dirty="0">
                <a:solidFill>
                  <a:srgbClr val="F44747"/>
                </a:solidFill>
                <a:effectLst/>
                <a:latin typeface="Consolas" panose="020B0609020204030204" pitchFamily="49" charset="0"/>
              </a:rPr>
              <a:t>&lt;/button&gt;</a:t>
            </a:r>
            <a:endParaRPr lang="en-US" sz="1200" b="1" dirty="0">
              <a:solidFill>
                <a:srgbClr val="344054"/>
              </a:solidFill>
              <a:effectLst/>
              <a:latin typeface="Consolas" panose="020B0609020204030204" pitchFamily="49" charset="0"/>
            </a:endParaRPr>
          </a:p>
          <a:p>
            <a:pPr>
              <a:lnSpc>
                <a:spcPts val="1425"/>
              </a:lnSpc>
              <a:buNone/>
            </a:pPr>
            <a:br>
              <a:rPr lang="en-US" sz="1000" b="0" dirty="0">
                <a:solidFill>
                  <a:srgbClr val="344054"/>
                </a:solidFill>
                <a:effectLst/>
                <a:latin typeface="Consolas" panose="020B0609020204030204" pitchFamily="49" charset="0"/>
              </a:rPr>
            </a:br>
            <a:endParaRPr lang="fr-FR" sz="1200" b="1" dirty="0">
              <a:solidFill>
                <a:srgbClr val="344054"/>
              </a:solidFill>
              <a:effectLst/>
              <a:latin typeface="Consolas" panose="020B0609020204030204" pitchFamily="49" charset="0"/>
            </a:endParaRPr>
          </a:p>
          <a:p>
            <a:pPr>
              <a:lnSpc>
                <a:spcPts val="1425"/>
              </a:lnSpc>
            </a:pPr>
            <a:r>
              <a:rPr lang="fr-FR" sz="1400" b="0" dirty="0">
                <a:effectLst/>
              </a:rPr>
              <a:t>(click) appelle onClick() lors du clic.</a:t>
            </a:r>
          </a:p>
          <a:p>
            <a:pPr>
              <a:lnSpc>
                <a:spcPts val="1425"/>
              </a:lnSpc>
            </a:pPr>
            <a:r>
              <a:rPr lang="fr-FR" sz="1400" b="0" dirty="0" err="1">
                <a:effectLst/>
              </a:rPr>
              <a:t>Angular</a:t>
            </a:r>
            <a:r>
              <a:rPr lang="fr-FR" sz="1400" b="0" dirty="0">
                <a:effectLst/>
              </a:rPr>
              <a:t> relie </a:t>
            </a:r>
            <a:r>
              <a:rPr lang="fr-FR" sz="1400" b="1" dirty="0" err="1">
                <a:effectLst/>
              </a:rPr>
              <a:t>template</a:t>
            </a:r>
            <a:r>
              <a:rPr lang="fr-FR" sz="1400" b="1" dirty="0">
                <a:effectLst/>
              </a:rPr>
              <a:t> ↔ classe </a:t>
            </a:r>
            <a:r>
              <a:rPr lang="fr-FR" sz="1400" b="1" dirty="0" err="1">
                <a:effectLst/>
              </a:rPr>
              <a:t>TypeScript</a:t>
            </a:r>
            <a:r>
              <a:rPr lang="fr-FR" sz="1400" b="1" dirty="0">
                <a:effectLst/>
              </a:rPr>
              <a:t>.</a:t>
            </a:r>
          </a:p>
        </p:txBody>
      </p:sp>
      <p:sp>
        <p:nvSpPr>
          <p:cNvPr id="3" name="Espace réservé du numéro de diapositive 2">
            <a:extLst>
              <a:ext uri="{FF2B5EF4-FFF2-40B4-BE49-F238E27FC236}">
                <a16:creationId xmlns:a16="http://schemas.microsoft.com/office/drawing/2014/main" id="{6B4B231F-D2DD-F433-9291-FFB86A930AD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52749081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33479-0459-613B-CCCC-07B680AFBB1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A644F1A-F395-5113-0456-78BCF79A0F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AED5CD3-5FC3-A794-16D2-0F70B5FD8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4A238E8-B917-89AA-EDF2-A87BF88CD3D6}"/>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A8A15CEF-10D2-0CC4-6072-F809A80EA332}"/>
              </a:ext>
            </a:extLst>
          </p:cNvPr>
          <p:cNvSpPr>
            <a:spLocks noGrp="1" noChangeArrowheads="1"/>
          </p:cNvSpPr>
          <p:nvPr>
            <p:ph idx="1"/>
          </p:nvPr>
        </p:nvSpPr>
        <p:spPr bwMode="auto">
          <a:xfrm>
            <a:off x="5847343" y="177352"/>
            <a:ext cx="6019138" cy="60016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Angular : ngModel synchronise la saisie</a:t>
            </a:r>
          </a:p>
          <a:p>
            <a:pPr marL="0" indent="0" eaLnBrk="0" fontAlgn="base" hangingPunct="0">
              <a:lnSpc>
                <a:spcPct val="200000"/>
              </a:lnSpc>
              <a:spcBef>
                <a:spcPct val="0"/>
              </a:spcBef>
              <a:spcAft>
                <a:spcPct val="0"/>
              </a:spcAft>
              <a:buNone/>
            </a:pPr>
            <a:r>
              <a:rPr lang="fr-FR" sz="1800" b="1" dirty="0"/>
              <a:t>Formulaires en </a:t>
            </a:r>
            <a:r>
              <a:rPr lang="fr-FR" sz="1800" b="1" dirty="0" err="1"/>
              <a:t>Angular</a:t>
            </a:r>
            <a:endParaRPr lang="fr-FR" sz="1800" b="1" dirty="0"/>
          </a:p>
          <a:p>
            <a:pPr marL="0" indent="0" eaLnBrk="0" fontAlgn="base" hangingPunct="0">
              <a:lnSpc>
                <a:spcPct val="200000"/>
              </a:lnSpc>
              <a:spcBef>
                <a:spcPct val="0"/>
              </a:spcBef>
              <a:spcAft>
                <a:spcPct val="0"/>
              </a:spcAft>
              <a:buNone/>
            </a:pPr>
            <a:r>
              <a:rPr lang="fr-FR" sz="1600" b="1" dirty="0"/>
              <a:t>Exemple : formulaire piloté par ngModel</a:t>
            </a:r>
          </a:p>
          <a:p>
            <a:pPr>
              <a:lnSpc>
                <a:spcPts val="1425"/>
              </a:lnSpc>
              <a:buNone/>
            </a:pPr>
            <a:r>
              <a:rPr lang="en-US" sz="1200" b="1" dirty="0">
                <a:solidFill>
                  <a:schemeClr val="accent6">
                    <a:lumMod val="75000"/>
                  </a:schemeClr>
                </a:solidFill>
                <a:effectLst/>
                <a:latin typeface="Consolas" panose="020B0609020204030204" pitchFamily="49" charset="0"/>
              </a:rPr>
              <a:t>// Dans la classe du composant (app.ts)</a:t>
            </a:r>
          </a:p>
          <a:p>
            <a:pPr>
              <a:lnSpc>
                <a:spcPts val="1425"/>
              </a:lnSpc>
              <a:buNone/>
            </a:pPr>
            <a:r>
              <a:rPr lang="en-US" sz="1200" b="1" dirty="0">
                <a:solidFill>
                  <a:srgbClr val="005A9C"/>
                </a:solidFill>
                <a:effectLst/>
                <a:latin typeface="Consolas" panose="020B0609020204030204" pitchFamily="49" charset="0"/>
              </a:rPr>
              <a:t>name</a:t>
            </a:r>
            <a:r>
              <a:rPr lang="en-US" sz="1200" b="1" dirty="0">
                <a:effectLst/>
                <a:latin typeface="Consolas" panose="020B0609020204030204" pitchFamily="49" charset="0"/>
              </a:rPr>
              <a:t> = </a:t>
            </a:r>
            <a:r>
              <a:rPr lang="en-US" sz="1200" b="1" dirty="0">
                <a:solidFill>
                  <a:srgbClr val="A64B27"/>
                </a:solidFill>
                <a:effectLst/>
                <a:latin typeface="Consolas" panose="020B0609020204030204" pitchFamily="49" charset="0"/>
              </a:rPr>
              <a:t>""</a:t>
            </a:r>
            <a:r>
              <a:rPr lang="en-US" sz="1200" b="1" dirty="0">
                <a:solidFill>
                  <a:srgbClr val="344054"/>
                </a:solidFill>
                <a:effectLst/>
                <a:latin typeface="Consolas" panose="020B0609020204030204" pitchFamily="49" charset="0"/>
              </a:rPr>
              <a:t>;</a:t>
            </a:r>
          </a:p>
          <a:p>
            <a:pPr>
              <a:lnSpc>
                <a:spcPts val="1425"/>
              </a:lnSpc>
              <a:buNone/>
            </a:pPr>
            <a:r>
              <a:rPr lang="en-US" sz="1200" b="1" dirty="0" err="1">
                <a:effectLst/>
                <a:latin typeface="Consolas" panose="020B0609020204030204" pitchFamily="49" charset="0"/>
              </a:rPr>
              <a:t>onSubmit</a:t>
            </a:r>
            <a:r>
              <a:rPr lang="en-US" sz="1200" b="1" dirty="0">
                <a:solidFill>
                  <a:srgbClr val="344054"/>
                </a:solidFill>
                <a:effectLst/>
                <a:latin typeface="Consolas" panose="020B0609020204030204" pitchFamily="49" charset="0"/>
              </a:rPr>
              <a:t>() {</a:t>
            </a:r>
          </a:p>
          <a:p>
            <a:pPr>
              <a:lnSpc>
                <a:spcPts val="1425"/>
              </a:lnSpc>
              <a:buNone/>
            </a:pPr>
            <a:r>
              <a:rPr lang="en-US" sz="1200" b="1" dirty="0">
                <a:solidFill>
                  <a:srgbClr val="344054"/>
                </a:solidFill>
                <a:effectLst/>
                <a:latin typeface="Consolas" panose="020B0609020204030204" pitchFamily="49" charset="0"/>
              </a:rPr>
              <a:t>  </a:t>
            </a:r>
            <a:r>
              <a:rPr lang="en-US" sz="1200" b="1" dirty="0">
                <a:effectLst/>
                <a:latin typeface="Consolas" panose="020B0609020204030204" pitchFamily="49" charset="0"/>
              </a:rPr>
              <a:t>alert</a:t>
            </a:r>
            <a:r>
              <a:rPr lang="en-US" sz="1200" b="1" dirty="0">
                <a:solidFill>
                  <a:srgbClr val="344054"/>
                </a:solidFill>
                <a:effectLst/>
                <a:latin typeface="Consolas" panose="020B0609020204030204" pitchFamily="49" charset="0"/>
              </a:rPr>
              <a:t>(</a:t>
            </a:r>
            <a:r>
              <a:rPr lang="en-US" sz="1200" b="1" dirty="0">
                <a:solidFill>
                  <a:srgbClr val="A64B27"/>
                </a:solidFill>
                <a:effectLst/>
                <a:latin typeface="Consolas" panose="020B0609020204030204" pitchFamily="49" charset="0"/>
              </a:rPr>
              <a:t>"Nom : "</a:t>
            </a:r>
            <a:r>
              <a:rPr lang="en-US" sz="1200" b="1" dirty="0">
                <a:solidFill>
                  <a:srgbClr val="344054"/>
                </a:solidFill>
                <a:effectLst/>
                <a:latin typeface="Consolas" panose="020B0609020204030204" pitchFamily="49" charset="0"/>
              </a:rPr>
              <a:t> </a:t>
            </a:r>
            <a:r>
              <a:rPr lang="en-US" sz="1200" b="1" dirty="0">
                <a:solidFill>
                  <a:srgbClr val="475467"/>
                </a:solidFill>
                <a:effectLst/>
                <a:latin typeface="Consolas" panose="020B0609020204030204" pitchFamily="49" charset="0"/>
              </a:rPr>
              <a:t>+</a:t>
            </a:r>
            <a:r>
              <a:rPr lang="en-US" sz="1200" b="1" dirty="0">
                <a:solidFill>
                  <a:srgbClr val="344054"/>
                </a:solidFill>
                <a:effectLst/>
                <a:latin typeface="Consolas" panose="020B0609020204030204" pitchFamily="49" charset="0"/>
              </a:rPr>
              <a:t> </a:t>
            </a:r>
            <a:r>
              <a:rPr lang="en-US" sz="1200" b="1" dirty="0">
                <a:solidFill>
                  <a:srgbClr val="1967B3"/>
                </a:solidFill>
                <a:effectLst/>
                <a:latin typeface="Consolas" panose="020B0609020204030204" pitchFamily="49" charset="0"/>
              </a:rPr>
              <a:t>this</a:t>
            </a:r>
            <a:r>
              <a:rPr lang="en-US" sz="1200" b="1" dirty="0">
                <a:solidFill>
                  <a:srgbClr val="344054"/>
                </a:solidFill>
                <a:effectLst/>
                <a:latin typeface="Consolas" panose="020B0609020204030204" pitchFamily="49" charset="0"/>
              </a:rPr>
              <a:t>.</a:t>
            </a:r>
            <a:r>
              <a:rPr lang="en-US" sz="1200" b="1" dirty="0">
                <a:solidFill>
                  <a:srgbClr val="005A9C"/>
                </a:solidFill>
                <a:effectLst/>
                <a:latin typeface="Consolas" panose="020B0609020204030204" pitchFamily="49" charset="0"/>
              </a:rPr>
              <a:t>name</a:t>
            </a:r>
            <a:r>
              <a:rPr lang="en-US" sz="1200" b="1" dirty="0">
                <a:solidFill>
                  <a:srgbClr val="344054"/>
                </a:solidFill>
                <a:effectLst/>
                <a:latin typeface="Consolas" panose="020B0609020204030204" pitchFamily="49" charset="0"/>
              </a:rPr>
              <a:t>);</a:t>
            </a:r>
          </a:p>
          <a:p>
            <a:pPr>
              <a:lnSpc>
                <a:spcPts val="1425"/>
              </a:lnSpc>
              <a:buNone/>
            </a:pPr>
            <a:r>
              <a:rPr lang="en-US" sz="1200" b="1" dirty="0">
                <a:solidFill>
                  <a:srgbClr val="344054"/>
                </a:solidFill>
                <a:effectLst/>
                <a:latin typeface="Consolas" panose="020B0609020204030204" pitchFamily="49" charset="0"/>
              </a:rPr>
              <a:t>}</a:t>
            </a:r>
          </a:p>
          <a:p>
            <a:pPr>
              <a:lnSpc>
                <a:spcPts val="1425"/>
              </a:lnSpc>
              <a:buNone/>
            </a:pPr>
            <a:endParaRPr lang="en-US" sz="1200" b="1" dirty="0">
              <a:solidFill>
                <a:srgbClr val="344054"/>
              </a:solidFill>
              <a:effectLst/>
              <a:latin typeface="Consolas" panose="020B0609020204030204" pitchFamily="49" charset="0"/>
            </a:endParaRPr>
          </a:p>
          <a:p>
            <a:pPr>
              <a:lnSpc>
                <a:spcPts val="1425"/>
              </a:lnSpc>
              <a:buNone/>
            </a:pPr>
            <a:r>
              <a:rPr lang="en-US" sz="1200" b="1" dirty="0">
                <a:solidFill>
                  <a:schemeClr val="accent6">
                    <a:lumMod val="75000"/>
                  </a:schemeClr>
                </a:solidFill>
                <a:latin typeface="Consolas" panose="020B0609020204030204" pitchFamily="49" charset="0"/>
              </a:rPr>
              <a:t>// Dans le template (app.html)</a:t>
            </a:r>
          </a:p>
          <a:p>
            <a:pPr>
              <a:lnSpc>
                <a:spcPts val="1425"/>
              </a:lnSpc>
              <a:buNone/>
            </a:pP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form</a:t>
            </a:r>
            <a:r>
              <a:rPr lang="fr-FR" sz="1200" b="1" dirty="0">
                <a:solidFill>
                  <a:srgbClr val="344054"/>
                </a:solidFill>
                <a:effectLst/>
                <a:latin typeface="Consolas" panose="020B0609020204030204" pitchFamily="49" charset="0"/>
              </a:rPr>
              <a:t> </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ngSubmit</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onSubmit</a:t>
            </a:r>
            <a:r>
              <a:rPr lang="fr-FR" sz="1200" b="1" dirty="0">
                <a:solidFill>
                  <a:srgbClr val="F4474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ts val="1425"/>
              </a:lnSpc>
              <a:buNone/>
            </a:pPr>
            <a:r>
              <a:rPr lang="fr-FR" sz="1200" b="1" dirty="0">
                <a:solidFill>
                  <a:srgbClr val="344054"/>
                </a:solidFill>
                <a:effectLst/>
                <a:latin typeface="Consolas" panose="020B0609020204030204" pitchFamily="49" charset="0"/>
              </a:rPr>
              <a:t>  </a:t>
            </a:r>
            <a:r>
              <a:rPr lang="fr-FR" sz="1200" b="1" dirty="0">
                <a:solidFill>
                  <a:srgbClr val="F44747"/>
                </a:solidFill>
                <a:effectLst/>
                <a:latin typeface="Consolas" panose="020B0609020204030204" pitchFamily="49" charset="0"/>
              </a:rPr>
              <a:t>&lt;input</a:t>
            </a: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type</a:t>
            </a:r>
            <a:r>
              <a:rPr lang="fr-FR" sz="1200" b="1" dirty="0">
                <a:solidFill>
                  <a:srgbClr val="475467"/>
                </a:solidFill>
                <a:effectLst/>
                <a:latin typeface="Consolas" panose="020B0609020204030204" pitchFamily="49" charset="0"/>
              </a:rPr>
              <a:t>=</a:t>
            </a:r>
            <a:r>
              <a:rPr lang="fr-FR" sz="1200" b="1" dirty="0">
                <a:solidFill>
                  <a:srgbClr val="A64B27"/>
                </a:solidFill>
                <a:effectLst/>
                <a:latin typeface="Consolas" panose="020B0609020204030204" pitchFamily="49" charset="0"/>
              </a:rPr>
              <a:t>"</a:t>
            </a:r>
            <a:r>
              <a:rPr lang="fr-FR" sz="1200" b="1" dirty="0" err="1">
                <a:solidFill>
                  <a:srgbClr val="A64B27"/>
                </a:solidFill>
                <a:effectLst/>
                <a:latin typeface="Consolas" panose="020B0609020204030204" pitchFamily="49" charset="0"/>
              </a:rPr>
              <a:t>text</a:t>
            </a:r>
            <a:r>
              <a:rPr lang="fr-FR" sz="1200" b="1" dirty="0">
                <a:solidFill>
                  <a:srgbClr val="A64B2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ngModel</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name</a:t>
            </a:r>
            <a:r>
              <a:rPr lang="fr-FR" sz="1200" b="1" dirty="0">
                <a:solidFill>
                  <a:srgbClr val="F4474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err="1">
                <a:solidFill>
                  <a:srgbClr val="005A9C"/>
                </a:solidFill>
                <a:effectLst/>
                <a:latin typeface="Consolas" panose="020B0609020204030204" pitchFamily="49" charset="0"/>
              </a:rPr>
              <a:t>name</a:t>
            </a:r>
            <a:r>
              <a:rPr lang="fr-FR" sz="1200" b="1" dirty="0">
                <a:solidFill>
                  <a:srgbClr val="475467"/>
                </a:solidFill>
                <a:effectLst/>
                <a:latin typeface="Consolas" panose="020B0609020204030204" pitchFamily="49" charset="0"/>
              </a:rPr>
              <a:t>=</a:t>
            </a:r>
            <a:r>
              <a:rPr lang="fr-FR" sz="1200" b="1" dirty="0">
                <a:solidFill>
                  <a:srgbClr val="A64B27"/>
                </a:solidFill>
                <a:effectLst/>
                <a:latin typeface="Consolas" panose="020B0609020204030204" pitchFamily="49" charset="0"/>
              </a:rPr>
              <a:t>"</a:t>
            </a:r>
            <a:r>
              <a:rPr lang="fr-FR" sz="1200" b="1" dirty="0" err="1">
                <a:solidFill>
                  <a:srgbClr val="A64B27"/>
                </a:solidFill>
                <a:effectLst/>
                <a:latin typeface="Consolas" panose="020B0609020204030204" pitchFamily="49" charset="0"/>
              </a:rPr>
              <a:t>name</a:t>
            </a:r>
            <a:r>
              <a:rPr lang="fr-FR" sz="1200" b="1" dirty="0">
                <a:solidFill>
                  <a:srgbClr val="A64B2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ts val="1425"/>
              </a:lnSpc>
              <a:buNone/>
            </a:pP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type</a:t>
            </a:r>
            <a:r>
              <a:rPr lang="fr-FR" sz="1200" b="1" dirty="0">
                <a:solidFill>
                  <a:srgbClr val="475467"/>
                </a:solidFill>
                <a:effectLst/>
                <a:latin typeface="Consolas" panose="020B0609020204030204" pitchFamily="49" charset="0"/>
              </a:rPr>
              <a:t>=</a:t>
            </a:r>
            <a:r>
              <a:rPr lang="fr-FR" sz="1200" b="1" dirty="0">
                <a:solidFill>
                  <a:srgbClr val="A64B27"/>
                </a:solidFill>
                <a:effectLst/>
                <a:latin typeface="Consolas" panose="020B0609020204030204" pitchFamily="49" charset="0"/>
              </a:rPr>
              <a:t>"</a:t>
            </a:r>
            <a:r>
              <a:rPr lang="fr-FR" sz="1200" b="1" dirty="0" err="1">
                <a:solidFill>
                  <a:srgbClr val="A64B27"/>
                </a:solidFill>
                <a:effectLst/>
                <a:latin typeface="Consolas" panose="020B0609020204030204" pitchFamily="49" charset="0"/>
              </a:rPr>
              <a:t>submit</a:t>
            </a:r>
            <a:r>
              <a:rPr lang="fr-FR" sz="1200" b="1" dirty="0">
                <a:solidFill>
                  <a:srgbClr val="A64B27"/>
                </a:solidFill>
                <a:effectLst/>
                <a:latin typeface="Consolas" panose="020B0609020204030204" pitchFamily="49" charset="0"/>
              </a:rPr>
              <a:t>"</a:t>
            </a:r>
            <a:r>
              <a:rPr lang="fr-FR" sz="1200" b="1" dirty="0">
                <a:solidFill>
                  <a:srgbClr val="475467"/>
                </a:solidFill>
                <a:effectLst/>
                <a:latin typeface="Consolas" panose="020B0609020204030204" pitchFamily="49" charset="0"/>
              </a:rPr>
              <a:t>&gt;</a:t>
            </a:r>
            <a:r>
              <a:rPr lang="fr-FR" sz="1200" b="1" dirty="0">
                <a:solidFill>
                  <a:srgbClr val="344054"/>
                </a:solidFill>
                <a:effectLst/>
                <a:latin typeface="Consolas" panose="020B0609020204030204" pitchFamily="49" charset="0"/>
              </a:rPr>
              <a:t>Envoyer</a:t>
            </a:r>
            <a:r>
              <a:rPr lang="fr-FR" sz="1200" b="1" dirty="0">
                <a:solidFill>
                  <a:srgbClr val="475467"/>
                </a:solidFill>
                <a:effectLst/>
                <a:latin typeface="Consolas" panose="020B0609020204030204" pitchFamily="49" charset="0"/>
              </a:rPr>
              <a:t>&lt;/</a:t>
            </a:r>
            <a:r>
              <a:rPr lang="fr-FR" sz="1200" b="1" dirty="0" err="1">
                <a:solidFill>
                  <a:srgbClr val="1967B3"/>
                </a:solidFill>
                <a:effectLst/>
                <a:latin typeface="Consolas" panose="020B0609020204030204" pitchFamily="49" charset="0"/>
              </a:rPr>
              <a:t>button</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ts val="1425"/>
              </a:lnSpc>
              <a:buNone/>
            </a:pPr>
            <a:r>
              <a:rPr lang="fr-FR" sz="1200" b="1" dirty="0">
                <a:solidFill>
                  <a:srgbClr val="475467"/>
                </a:solidFill>
                <a:effectLst/>
                <a:latin typeface="Consolas" panose="020B0609020204030204" pitchFamily="49" charset="0"/>
              </a:rPr>
              <a:t>&lt;/</a:t>
            </a:r>
            <a:r>
              <a:rPr lang="fr-FR" sz="1200" b="1" dirty="0" err="1">
                <a:solidFill>
                  <a:srgbClr val="005A9C"/>
                </a:solidFill>
                <a:effectLst/>
                <a:latin typeface="Consolas" panose="020B0609020204030204" pitchFamily="49" charset="0"/>
              </a:rPr>
              <a:t>form</a:t>
            </a:r>
            <a:r>
              <a:rPr lang="fr-FR" sz="1200" b="1" dirty="0">
                <a:solidFill>
                  <a:srgbClr val="475467"/>
                </a:solidFill>
                <a:effectLst/>
                <a:latin typeface="Consolas" panose="020B0609020204030204" pitchFamily="49" charset="0"/>
              </a:rPr>
              <a:t>&gt;</a:t>
            </a:r>
            <a:endParaRPr lang="fr-FR" sz="1200" b="1" dirty="0">
              <a:solidFill>
                <a:srgbClr val="344054"/>
              </a:solidFill>
              <a:latin typeface="Consolas" panose="020B0609020204030204" pitchFamily="49" charset="0"/>
            </a:endParaRPr>
          </a:p>
          <a:p>
            <a:pPr>
              <a:lnSpc>
                <a:spcPts val="1425"/>
              </a:lnSpc>
              <a:buNone/>
            </a:pPr>
            <a:endParaRPr lang="fr-FR" sz="1200" b="1" dirty="0">
              <a:solidFill>
                <a:srgbClr val="344054"/>
              </a:solidFill>
              <a:effectLst/>
              <a:latin typeface="Consolas" panose="020B0609020204030204" pitchFamily="49" charset="0"/>
            </a:endParaRPr>
          </a:p>
          <a:p>
            <a:pPr marL="285750" lvl="0" indent="-285750">
              <a:lnSpc>
                <a:spcPct val="100000"/>
              </a:lnSpc>
              <a:spcBef>
                <a:spcPts val="0"/>
              </a:spcBef>
              <a:defRPr/>
            </a:pPr>
            <a:r>
              <a:rPr lang="fr-FR" sz="1400" b="1" dirty="0">
                <a:solidFill>
                  <a:prstClr val="black"/>
                </a:solidFill>
              </a:rPr>
              <a:t>[(</a:t>
            </a:r>
            <a:r>
              <a:rPr lang="fr-FR" sz="1400" b="1" dirty="0" err="1">
                <a:solidFill>
                  <a:prstClr val="black"/>
                </a:solidFill>
              </a:rPr>
              <a:t>ngModel</a:t>
            </a:r>
            <a:r>
              <a:rPr lang="fr-FR" sz="1400" b="1" dirty="0">
                <a:solidFill>
                  <a:prstClr val="black"/>
                </a:solidFill>
              </a:rPr>
              <a:t>)] </a:t>
            </a:r>
            <a:r>
              <a:rPr lang="fr-FR" sz="1400" dirty="0">
                <a:solidFill>
                  <a:prstClr val="black"/>
                </a:solidFill>
              </a:rPr>
              <a:t>→ binding bidirectionnel (entrée liée à la propriété </a:t>
            </a:r>
            <a:r>
              <a:rPr lang="fr-FR" sz="1400" b="1" dirty="0" err="1">
                <a:solidFill>
                  <a:prstClr val="black"/>
                </a:solidFill>
              </a:rPr>
              <a:t>name</a:t>
            </a:r>
            <a:r>
              <a:rPr lang="fr-FR" sz="1400" dirty="0">
                <a:solidFill>
                  <a:prstClr val="black"/>
                </a:solidFill>
              </a:rPr>
              <a:t>).</a:t>
            </a:r>
          </a:p>
          <a:p>
            <a:pPr marL="285750" lvl="0" indent="-285750">
              <a:lnSpc>
                <a:spcPct val="100000"/>
              </a:lnSpc>
              <a:spcBef>
                <a:spcPts val="0"/>
              </a:spcBef>
              <a:defRPr/>
            </a:pPr>
            <a:r>
              <a:rPr lang="fr-FR" sz="1400" b="1" dirty="0">
                <a:solidFill>
                  <a:prstClr val="black"/>
                </a:solidFill>
              </a:rPr>
              <a:t>FormsModule requis pour ngModel ; (ngSubmit) traite l’envoi.</a:t>
            </a:r>
          </a:p>
        </p:txBody>
      </p:sp>
      <p:sp>
        <p:nvSpPr>
          <p:cNvPr id="3" name="Espace réservé du numéro de diapositive 2">
            <a:extLst>
              <a:ext uri="{FF2B5EF4-FFF2-40B4-BE49-F238E27FC236}">
                <a16:creationId xmlns:a16="http://schemas.microsoft.com/office/drawing/2014/main" id="{3266FE47-8F69-85BF-8D66-15FB3A3A06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83906254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33479-0459-613B-CCCC-07B680AFBB1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A644F1A-F395-5113-0456-78BCF79A0F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AED5CD3-5FC3-A794-16D2-0F70B5FD8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4A238E8-B917-89AA-EDF2-A87BF88CD3D6}"/>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3266FE47-8F69-85BF-8D66-15FB3A3A06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04911001-3E53-45E4-94A4-770EC6ADD266}"/>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Reactive Forms : un modèle typé</a:t>
            </a:r>
          </a:p>
        </p:txBody>
      </p:sp>
      <p:sp>
        <p:nvSpPr>
          <p:cNvPr id="101" name="example-label">
            <a:extLst>
              <a:ext uri="{FF2B5EF4-FFF2-40B4-BE49-F238E27FC236}">
                <a16:creationId xmlns:a16="http://schemas.microsoft.com/office/drawing/2014/main" id="{E70C0467-4CB2-4D16-9391-6403BF1FD6E6}"/>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FormControl et FormGroup dans la classe</a:t>
            </a:r>
          </a:p>
        </p:txBody>
      </p:sp>
      <p:sp>
        <p:nvSpPr>
          <p:cNvPr id="102" name="angular-code">
            <a:extLst>
              <a:ext uri="{FF2B5EF4-FFF2-40B4-BE49-F238E27FC236}">
                <a16:creationId xmlns:a16="http://schemas.microsoft.com/office/drawing/2014/main" id="{61974D39-AADD-4F28-A047-4EF4451CDF3A}"/>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Component</a:t>
            </a:r>
            <a:r>
              <a:t> }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FormControl</a:t>
            </a:r>
            <a:r>
              <a:t>, </a:t>
            </a:r>
            <a:r>
              <a:rPr>
                <a:solidFill>
                  <a:srgbClr val="008977"/>
                </a:solidFill>
              </a:rPr>
              <a:t>FormGroup</a:t>
            </a:r>
            <a:r>
              <a:t>,</a:t>
            </a:r>
          </a:p>
          <a:p>
            <a:pPr>
              <a:spcAft>
                <a:spcPts val="0"/>
              </a:spcAft>
              <a:defRPr sz="1350" b="0">
                <a:solidFill>
                  <a:srgbClr val="000000"/>
                </a:solidFill>
                <a:latin typeface="Consolas"/>
                <a:ea typeface="Consolas"/>
                <a:cs typeface="Consolas"/>
              </a:defRPr>
            </a:pPr>
            <a:r>
              <a:t>  </a:t>
            </a:r>
            <a:r>
              <a:rPr>
                <a:solidFill>
                  <a:srgbClr val="008977"/>
                </a:solidFill>
              </a:rPr>
              <a:t>ReactiveFormsModule</a:t>
            </a:r>
            <a:r>
              <a:t>, </a:t>
            </a:r>
            <a:r>
              <a:rPr>
                <a:solidFill>
                  <a:srgbClr val="008977"/>
                </a:solidFill>
              </a:rPr>
              <a:t>Validators</a:t>
            </a:r>
            <a:r>
              <a:t> }</a:t>
            </a:r>
          </a:p>
          <a:p>
            <a:pPr>
              <a:spcAft>
                <a:spcPts val="0"/>
              </a:spcAft>
              <a:defRPr sz="1350" b="0">
                <a:solidFill>
                  <a:srgbClr val="000000"/>
                </a:solidFill>
                <a:latin typeface="Consolas"/>
                <a:ea typeface="Consolas"/>
                <a:cs typeface="Consolas"/>
              </a:defRPr>
            </a:pPr>
            <a:r>
              <a:t>  </a:t>
            </a:r>
            <a:r>
              <a:rPr>
                <a:solidFill>
                  <a:srgbClr val="8D36A8"/>
                </a:solidFill>
              </a:rPr>
              <a:t>from</a:t>
            </a:r>
            <a:r>
              <a:t> </a:t>
            </a:r>
            <a:r>
              <a:rPr>
                <a:solidFill>
                  <a:srgbClr val="B44520"/>
                </a:solidFill>
              </a:rPr>
              <a:t>'@angular/forms'</a:t>
            </a:r>
            <a:r>
              <a:t>;</a:t>
            </a:r>
          </a:p>
          <a:p>
            <a:pPr>
              <a:spcAft>
                <a:spcPts val="0"/>
              </a:spcAft>
              <a:defRPr sz="1350" b="0">
                <a:solidFill>
                  <a:srgbClr val="000000"/>
                </a:solidFill>
                <a:latin typeface="Consolas"/>
                <a:ea typeface="Consolas"/>
                <a:cs typeface="Consolas"/>
              </a:defRPr>
            </a:pPr>
            <a:r>
              <a:t>@</a:t>
            </a:r>
            <a:r>
              <a:rPr>
                <a:solidFill>
                  <a:srgbClr val="008977"/>
                </a:solidFill>
              </a:rPr>
              <a:t>Component</a:t>
            </a:r>
            <a:r>
              <a:t>({</a:t>
            </a:r>
          </a:p>
          <a:p>
            <a:pPr>
              <a:spcAft>
                <a:spcPts val="0"/>
              </a:spcAft>
              <a:defRPr sz="1350" b="0">
                <a:solidFill>
                  <a:srgbClr val="000000"/>
                </a:solidFill>
                <a:latin typeface="Consolas"/>
                <a:ea typeface="Consolas"/>
                <a:cs typeface="Consolas"/>
              </a:defRPr>
            </a:pPr>
            <a:r>
              <a:t>  selector: </a:t>
            </a:r>
            <a:r>
              <a:rPr>
                <a:solidFill>
                  <a:srgbClr val="B44520"/>
                </a:solidFill>
              </a:rPr>
              <a:t>'app-task-form'</a:t>
            </a:r>
            <a:r>
              <a:t>, standalone: </a:t>
            </a:r>
            <a:r>
              <a:rPr>
                <a:solidFill>
                  <a:srgbClr val="8D36A8"/>
                </a:solidFill>
              </a:rPr>
              <a:t>true</a:t>
            </a:r>
            <a:r>
              <a:t>,</a:t>
            </a:r>
          </a:p>
          <a:p>
            <a:pPr>
              <a:spcAft>
                <a:spcPts val="0"/>
              </a:spcAft>
              <a:defRPr sz="1350" b="0">
                <a:solidFill>
                  <a:srgbClr val="000000"/>
                </a:solidFill>
                <a:latin typeface="Consolas"/>
                <a:ea typeface="Consolas"/>
                <a:cs typeface="Consolas"/>
              </a:defRPr>
            </a:pPr>
            <a:r>
              <a:t>  imports: [</a:t>
            </a:r>
            <a:r>
              <a:rPr>
                <a:solidFill>
                  <a:srgbClr val="008977"/>
                </a:solidFill>
              </a:rPr>
              <a:t>ReactiveFormsModule</a:t>
            </a:r>
            <a:r>
              <a:t>],</a:t>
            </a:r>
          </a:p>
          <a:p>
            <a:pPr>
              <a:spcAft>
                <a:spcPts val="0"/>
              </a:spcAft>
              <a:defRPr sz="1350" b="0">
                <a:solidFill>
                  <a:srgbClr val="000000"/>
                </a:solidFill>
                <a:latin typeface="Consolas"/>
                <a:ea typeface="Consolas"/>
                <a:cs typeface="Consolas"/>
              </a:defRPr>
            </a:pPr>
            <a:r>
              <a:t>  templateUrl: </a:t>
            </a:r>
            <a:r>
              <a:rPr>
                <a:solidFill>
                  <a:srgbClr val="B44520"/>
                </a:solidFill>
              </a:rPr>
              <a:t>'./task-form.html'</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TaskForm {</a:t>
            </a:r>
          </a:p>
          <a:p>
            <a:pPr>
              <a:spcAft>
                <a:spcPts val="0"/>
              </a:spcAft>
              <a:defRPr sz="1350" b="0">
                <a:solidFill>
                  <a:srgbClr val="000000"/>
                </a:solidFill>
                <a:latin typeface="Consolas"/>
                <a:ea typeface="Consolas"/>
                <a:cs typeface="Consolas"/>
              </a:defRPr>
            </a:pPr>
            <a:r>
              <a:t>  </a:t>
            </a:r>
            <a:r>
              <a:rPr>
                <a:solidFill>
                  <a:srgbClr val="8D36A8"/>
                </a:solidFill>
              </a:rPr>
              <a:t>readonly</a:t>
            </a:r>
            <a:r>
              <a:t> form = </a:t>
            </a:r>
            <a:r>
              <a:rPr>
                <a:solidFill>
                  <a:srgbClr val="8D36A8"/>
                </a:solidFill>
              </a:rPr>
              <a:t>new</a:t>
            </a:r>
            <a:r>
              <a:t> </a:t>
            </a:r>
            <a:r>
              <a:rPr>
                <a:solidFill>
                  <a:srgbClr val="008977"/>
                </a:solidFill>
              </a:rPr>
              <a:t>FormGroup</a:t>
            </a:r>
            <a:r>
              <a:t>({</a:t>
            </a:r>
          </a:p>
          <a:p>
            <a:pPr>
              <a:spcAft>
                <a:spcPts val="0"/>
              </a:spcAft>
              <a:defRPr sz="1350" b="0">
                <a:solidFill>
                  <a:srgbClr val="000000"/>
                </a:solidFill>
                <a:latin typeface="Consolas"/>
                <a:ea typeface="Consolas"/>
                <a:cs typeface="Consolas"/>
              </a:defRPr>
            </a:pPr>
            <a:r>
              <a:t>    title: </a:t>
            </a:r>
            <a:r>
              <a:rPr>
                <a:solidFill>
                  <a:srgbClr val="8D36A8"/>
                </a:solidFill>
              </a:rPr>
              <a:t>new</a:t>
            </a:r>
            <a:r>
              <a:t> </a:t>
            </a:r>
            <a:r>
              <a:rPr>
                <a:solidFill>
                  <a:srgbClr val="008977"/>
                </a:solidFill>
              </a:rPr>
              <a:t>FormControl</a:t>
            </a:r>
            <a:r>
              <a:t>(</a:t>
            </a:r>
            <a:r>
              <a:rPr>
                <a:solidFill>
                  <a:srgbClr val="B44520"/>
                </a:solidFill>
              </a:rPr>
              <a:t>''</a:t>
            </a:r>
            <a:r>
              <a:t>, {</a:t>
            </a:r>
          </a:p>
          <a:p>
            <a:pPr>
              <a:spcAft>
                <a:spcPts val="0"/>
              </a:spcAft>
              <a:defRPr sz="1350" b="0">
                <a:solidFill>
                  <a:srgbClr val="000000"/>
                </a:solidFill>
                <a:latin typeface="Consolas"/>
                <a:ea typeface="Consolas"/>
                <a:cs typeface="Consolas"/>
              </a:defRPr>
            </a:pPr>
            <a:r>
              <a:t>      nonNullable: </a:t>
            </a:r>
            <a:r>
              <a:rPr>
                <a:solidFill>
                  <a:srgbClr val="8D36A8"/>
                </a:solidFill>
              </a:rPr>
              <a:t>true</a:t>
            </a:r>
            <a:r>
              <a:t>,</a:t>
            </a:r>
          </a:p>
          <a:p>
            <a:pPr>
              <a:spcAft>
                <a:spcPts val="0"/>
              </a:spcAft>
              <a:defRPr sz="1350" b="0">
                <a:solidFill>
                  <a:srgbClr val="000000"/>
                </a:solidFill>
                <a:latin typeface="Consolas"/>
                <a:ea typeface="Consolas"/>
                <a:cs typeface="Consolas"/>
              </a:defRPr>
            </a:pPr>
            <a:r>
              <a:t>      validators: [</a:t>
            </a:r>
            <a:r>
              <a:rPr>
                <a:solidFill>
                  <a:srgbClr val="008977"/>
                </a:solidFill>
              </a:rPr>
              <a:t>Validators</a:t>
            </a:r>
            <a:r>
              <a:t>.required,</a:t>
            </a:r>
          </a:p>
          <a:p>
            <a:pPr>
              <a:spcAft>
                <a:spcPts val="0"/>
              </a:spcAft>
              <a:defRPr sz="1350" b="0">
                <a:solidFill>
                  <a:srgbClr val="000000"/>
                </a:solidFill>
                <a:latin typeface="Consolas"/>
                <a:ea typeface="Consolas"/>
                <a:cs typeface="Consolas"/>
              </a:defRPr>
            </a:pPr>
            <a:r>
              <a:t>        </a:t>
            </a:r>
            <a:r>
              <a:rPr>
                <a:solidFill>
                  <a:srgbClr val="008977"/>
                </a:solidFill>
              </a:rPr>
              <a:t>Validators</a:t>
            </a:r>
            <a:r>
              <a:t>.minLength(</a:t>
            </a:r>
            <a:r>
              <a:rPr>
                <a:solidFill>
                  <a:srgbClr val="558B2F"/>
                </a:solidFill>
              </a:rPr>
              <a:t>3</a:t>
            </a:r>
            <a:r>
              <a: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dueDate: </a:t>
            </a:r>
            <a:r>
              <a:rPr>
                <a:solidFill>
                  <a:srgbClr val="8D36A8"/>
                </a:solidFill>
              </a:rPr>
              <a:t>new</a:t>
            </a:r>
            <a:r>
              <a:t> </a:t>
            </a:r>
            <a:r>
              <a:rPr>
                <a:solidFill>
                  <a:srgbClr val="008977"/>
                </a:solidFill>
              </a:rPr>
              <a:t>FormControl</a:t>
            </a:r>
            <a:r>
              <a:t>(</a:t>
            </a:r>
            <a:r>
              <a:rPr>
                <a:solidFill>
                  <a:srgbClr val="B44520"/>
                </a:solidFill>
              </a:rPr>
              <a:t>''</a:t>
            </a:r>
            <a:r>
              <a:t>, { nonNullable: </a:t>
            </a:r>
            <a:r>
              <a:rPr>
                <a:solidFill>
                  <a:srgbClr val="8D36A8"/>
                </a:solidFill>
              </a:rPr>
              <a:t>true</a:t>
            </a:r>
            <a:r>
              <a:t> })</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submit() { /* méthode détaillée ensuite */ }</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6FF8C8CF-714A-47FD-9193-6C299E6ACD7F}"/>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BADCBB00-CF2E-4F69-B850-7FD66885B434}"/>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Le modèle de formulaire vit en TypeScript.</a:t>
            </a:r>
          </a:p>
          <a:p>
            <a:pPr marL="152400" indent="-114300">
              <a:spcAft>
                <a:spcPts val="500"/>
              </a:spcAft>
              <a:buChar char="•"/>
              <a:defRPr sz="1500" b="0">
                <a:solidFill>
                  <a:srgbClr val="000000"/>
                </a:solidFill>
                <a:latin typeface="Calibri"/>
                <a:ea typeface="Calibri"/>
                <a:cs typeface="Calibri"/>
              </a:defRPr>
            </a:pPr>
            <a:r>
              <a:t>ReactiveFormsModule rend les directives disponibles.</a:t>
            </a:r>
          </a:p>
          <a:p>
            <a:pPr marL="152400" indent="-114300">
              <a:spcAft>
                <a:spcPts val="500"/>
              </a:spcAft>
              <a:buChar char="•"/>
              <a:defRPr sz="1500" b="0">
                <a:solidFill>
                  <a:srgbClr val="000000"/>
                </a:solidFill>
                <a:latin typeface="Calibri"/>
                <a:ea typeface="Calibri"/>
                <a:cs typeface="Calibri"/>
              </a:defRPr>
            </a:pPr>
            <a:r>
              <a:t>nonNullable garde des valeurs de type string.</a:t>
            </a:r>
          </a:p>
          <a:p>
            <a:pPr marL="152400" indent="-114300">
              <a:spcAft>
                <a:spcPts val="500"/>
              </a:spcAft>
              <a:buChar char="•"/>
              <a:defRPr sz="1500" b="0">
                <a:solidFill>
                  <a:srgbClr val="000000"/>
                </a:solidFill>
                <a:latin typeface="Calibri"/>
                <a:ea typeface="Calibri"/>
                <a:cs typeface="Calibri"/>
              </a:defRPr>
            </a:pPr>
            <a:r>
              <a:t>reset() rétablit alors la valeur initiale.</a:t>
            </a:r>
          </a:p>
        </p:txBody>
      </p:sp>
    </p:spTree>
    <p:extLst>
      <p:ext uri="{BB962C8B-B14F-4D97-AF65-F5344CB8AC3E}">
        <p14:creationId xmlns:p14="http://schemas.microsoft.com/office/powerpoint/2010/main" val="28390625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33479-0459-613B-CCCC-07B680AFBB1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A644F1A-F395-5113-0456-78BCF79A0F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AED5CD3-5FC3-A794-16D2-0F70B5FD8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4A238E8-B917-89AA-EDF2-A87BF88CD3D6}"/>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3266FE47-8F69-85BF-8D66-15FB3A3A06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660C18DB-0D56-4585-A63E-E4DCA2CD112B}"/>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Reactive Forms : template et erreurs</a:t>
            </a:r>
          </a:p>
        </p:txBody>
      </p:sp>
      <p:sp>
        <p:nvSpPr>
          <p:cNvPr id="101" name="example-label">
            <a:extLst>
              <a:ext uri="{FF2B5EF4-FFF2-40B4-BE49-F238E27FC236}">
                <a16:creationId xmlns:a16="http://schemas.microsoft.com/office/drawing/2014/main" id="{3EDE16F7-6884-4FC5-B5D2-C23D368E0A77}"/>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task-form.html</a:t>
            </a:r>
          </a:p>
        </p:txBody>
      </p:sp>
      <p:sp>
        <p:nvSpPr>
          <p:cNvPr id="102" name="angular-code">
            <a:extLst>
              <a:ext uri="{FF2B5EF4-FFF2-40B4-BE49-F238E27FC236}">
                <a16:creationId xmlns:a16="http://schemas.microsoft.com/office/drawing/2014/main" id="{AD1ADA4A-0E86-4019-B42C-FCE4DADF4122}"/>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t>&lt;form [formGroup]=</a:t>
            </a:r>
            <a:r>
              <a:rPr>
                <a:solidFill>
                  <a:srgbClr val="B44520"/>
                </a:solidFill>
              </a:rPr>
              <a:t>"form"</a:t>
            </a:r>
            <a:r>
              <a:t> (ngSubmit)=</a:t>
            </a:r>
            <a:r>
              <a:rPr>
                <a:solidFill>
                  <a:srgbClr val="B44520"/>
                </a:solidFill>
              </a:rPr>
              <a:t>"submit()"</a:t>
            </a:r>
            <a:r>
              <a:t>&gt;</a:t>
            </a:r>
          </a:p>
          <a:p>
            <a:pPr>
              <a:spcAft>
                <a:spcPts val="0"/>
              </a:spcAft>
              <a:defRPr sz="1350" b="0">
                <a:solidFill>
                  <a:srgbClr val="000000"/>
                </a:solidFill>
                <a:latin typeface="Consolas"/>
                <a:ea typeface="Consolas"/>
                <a:cs typeface="Consolas"/>
              </a:defRPr>
            </a:pPr>
            <a:r>
              <a:t>  &lt;label for=</a:t>
            </a:r>
            <a:r>
              <a:rPr>
                <a:solidFill>
                  <a:srgbClr val="B44520"/>
                </a:solidFill>
              </a:rPr>
              <a:t>"title"</a:t>
            </a:r>
            <a:r>
              <a:t>&gt;Titre&lt;/label&gt;</a:t>
            </a:r>
          </a:p>
          <a:p>
            <a:pPr>
              <a:spcAft>
                <a:spcPts val="0"/>
              </a:spcAft>
              <a:defRPr sz="1350" b="0">
                <a:solidFill>
                  <a:srgbClr val="000000"/>
                </a:solidFill>
                <a:latin typeface="Consolas"/>
                <a:ea typeface="Consolas"/>
                <a:cs typeface="Consolas"/>
              </a:defRPr>
            </a:pPr>
            <a:r>
              <a:t>  &lt;</a:t>
            </a:r>
            <a:r>
              <a:rPr>
                <a:solidFill>
                  <a:srgbClr val="008977"/>
                </a:solidFill>
              </a:rPr>
              <a:t>input</a:t>
            </a:r>
            <a:r>
              <a:t> id=</a:t>
            </a:r>
            <a:r>
              <a:rPr>
                <a:solidFill>
                  <a:srgbClr val="B44520"/>
                </a:solidFill>
              </a:rPr>
              <a:t>"title"</a:t>
            </a:r>
            <a:r>
              <a:t> formControlName=</a:t>
            </a:r>
            <a:r>
              <a:rPr>
                <a:solidFill>
                  <a:srgbClr val="B44520"/>
                </a:solidFill>
              </a:rPr>
              <a:t>"title"</a:t>
            </a:r>
          </a:p>
          <a:p>
            <a:pPr>
              <a:spcAft>
                <a:spcPts val="0"/>
              </a:spcAft>
              <a:defRPr sz="1350" b="0">
                <a:solidFill>
                  <a:srgbClr val="000000"/>
                </a:solidFill>
                <a:latin typeface="Consolas"/>
                <a:ea typeface="Consolas"/>
                <a:cs typeface="Consolas"/>
              </a:defRPr>
            </a:pPr>
            <a:r>
              <a:t>    aria-describedby=</a:t>
            </a:r>
            <a:r>
              <a:rPr>
                <a:solidFill>
                  <a:srgbClr val="B44520"/>
                </a:solidFill>
              </a:rPr>
              <a:t>"title-error"</a:t>
            </a:r>
          </a:p>
          <a:p>
            <a:pPr>
              <a:spcAft>
                <a:spcPts val="0"/>
              </a:spcAft>
              <a:defRPr sz="1350" b="0">
                <a:solidFill>
                  <a:srgbClr val="000000"/>
                </a:solidFill>
                <a:latin typeface="Consolas"/>
                <a:ea typeface="Consolas"/>
                <a:cs typeface="Consolas"/>
              </a:defRPr>
            </a:pPr>
            <a:r>
              <a:t>    [attr.aria-invalid]="form.controls.title.invalid</a:t>
            </a:r>
          </a:p>
          <a:p>
            <a:pPr>
              <a:spcAft>
                <a:spcPts val="0"/>
              </a:spcAft>
              <a:defRPr sz="1350" b="0">
                <a:solidFill>
                  <a:srgbClr val="000000"/>
                </a:solidFill>
                <a:latin typeface="Consolas"/>
                <a:ea typeface="Consolas"/>
                <a:cs typeface="Consolas"/>
              </a:defRPr>
            </a:pPr>
            <a:r>
              <a:t>      &amp;&amp; form.controls.title.touched"&gt;</a:t>
            </a:r>
          </a:p>
          <a:p>
            <a:pPr>
              <a:spcAft>
                <a:spcPts val="0"/>
              </a:spcAft>
              <a:defRPr sz="1350" b="0">
                <a:solidFill>
                  <a:srgbClr val="000000"/>
                </a:solidFill>
                <a:latin typeface="Consolas"/>
                <a:ea typeface="Consolas"/>
                <a:cs typeface="Consolas"/>
              </a:defRPr>
            </a:pPr>
            <a:r>
              <a:t>  &lt;p id=</a:t>
            </a:r>
            <a:r>
              <a:rPr>
                <a:solidFill>
                  <a:srgbClr val="B44520"/>
                </a:solidFill>
              </a:rPr>
              <a:t>"title-error"</a:t>
            </a:r>
            <a:r>
              <a:t> aria-live=</a:t>
            </a:r>
            <a:r>
              <a:rPr>
                <a:solidFill>
                  <a:srgbClr val="B44520"/>
                </a:solidFill>
              </a:rPr>
              <a:t>"polite"</a:t>
            </a:r>
            <a:r>
              <a:t>&gt;</a:t>
            </a:r>
          </a:p>
          <a:p>
            <a:pPr>
              <a:spcAft>
                <a:spcPts val="0"/>
              </a:spcAft>
              <a:defRPr sz="1350" b="0">
                <a:solidFill>
                  <a:srgbClr val="000000"/>
                </a:solidFill>
                <a:latin typeface="Consolas"/>
                <a:ea typeface="Consolas"/>
                <a:cs typeface="Consolas"/>
              </a:defRPr>
            </a:pPr>
            <a:r>
              <a:t>    @</a:t>
            </a:r>
            <a:r>
              <a:rPr>
                <a:solidFill>
                  <a:srgbClr val="8D36A8"/>
                </a:solidFill>
              </a:rPr>
              <a:t>if</a:t>
            </a:r>
            <a:r>
              <a:t> (form.controls.title.touched</a:t>
            </a:r>
          </a:p>
          <a:p>
            <a:pPr>
              <a:spcAft>
                <a:spcPts val="0"/>
              </a:spcAft>
              <a:defRPr sz="1350" b="0">
                <a:solidFill>
                  <a:srgbClr val="000000"/>
                </a:solidFill>
                <a:latin typeface="Consolas"/>
                <a:ea typeface="Consolas"/>
                <a:cs typeface="Consolas"/>
              </a:defRPr>
            </a:pPr>
            <a:r>
              <a:t>      &amp;&amp; form.controls.title.invalid) {</a:t>
            </a:r>
          </a:p>
          <a:p>
            <a:pPr>
              <a:spcAft>
                <a:spcPts val="0"/>
              </a:spcAft>
              <a:defRPr sz="1350" b="0">
                <a:solidFill>
                  <a:srgbClr val="000000"/>
                </a:solidFill>
                <a:latin typeface="Consolas"/>
                <a:ea typeface="Consolas"/>
                <a:cs typeface="Consolas"/>
              </a:defRPr>
            </a:pPr>
            <a:r>
              <a:t>      Le titre doit contenir au moins </a:t>
            </a:r>
            <a:r>
              <a:rPr>
                <a:solidFill>
                  <a:srgbClr val="558B2F"/>
                </a:solidFill>
              </a:rPr>
              <a:t>3</a:t>
            </a:r>
            <a:r>
              <a:t> caractères.</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&lt;/p&gt;</a:t>
            </a:r>
          </a:p>
          <a:p>
            <a:pPr>
              <a:spcAft>
                <a:spcPts val="0"/>
              </a:spcAft>
              <a:defRPr sz="1350" b="0">
                <a:solidFill>
                  <a:srgbClr val="000000"/>
                </a:solidFill>
                <a:latin typeface="Consolas"/>
                <a:ea typeface="Consolas"/>
                <a:cs typeface="Consolas"/>
              </a:defRPr>
            </a:pPr>
            <a:r>
              <a:t>  &lt;label for=</a:t>
            </a:r>
            <a:r>
              <a:rPr>
                <a:solidFill>
                  <a:srgbClr val="B44520"/>
                </a:solidFill>
              </a:rPr>
              <a:t>"due"</a:t>
            </a:r>
            <a:r>
              <a:t>&gt;Échéance facultative&lt;/label&gt;</a:t>
            </a:r>
          </a:p>
          <a:p>
            <a:pPr>
              <a:spcAft>
                <a:spcPts val="0"/>
              </a:spcAft>
              <a:defRPr sz="1350" b="0">
                <a:solidFill>
                  <a:srgbClr val="000000"/>
                </a:solidFill>
                <a:latin typeface="Consolas"/>
                <a:ea typeface="Consolas"/>
                <a:cs typeface="Consolas"/>
              </a:defRPr>
            </a:pPr>
            <a:r>
              <a:t>  &lt;</a:t>
            </a:r>
            <a:r>
              <a:rPr>
                <a:solidFill>
                  <a:srgbClr val="008977"/>
                </a:solidFill>
              </a:rPr>
              <a:t>input</a:t>
            </a:r>
            <a:r>
              <a:t> id=</a:t>
            </a:r>
            <a:r>
              <a:rPr>
                <a:solidFill>
                  <a:srgbClr val="B44520"/>
                </a:solidFill>
              </a:rPr>
              <a:t>"due"</a:t>
            </a:r>
            <a:r>
              <a:t> type=</a:t>
            </a:r>
            <a:r>
              <a:rPr>
                <a:solidFill>
                  <a:srgbClr val="B44520"/>
                </a:solidFill>
              </a:rPr>
              <a:t>"date"</a:t>
            </a:r>
            <a:r>
              <a:t> formControlName=</a:t>
            </a:r>
            <a:r>
              <a:rPr>
                <a:solidFill>
                  <a:srgbClr val="B44520"/>
                </a:solidFill>
              </a:rPr>
              <a:t>"dueDate"</a:t>
            </a:r>
            <a:r>
              <a:t>&gt;</a:t>
            </a:r>
          </a:p>
          <a:p>
            <a:pPr>
              <a:spcAft>
                <a:spcPts val="0"/>
              </a:spcAft>
              <a:defRPr sz="1350" b="0">
                <a:solidFill>
                  <a:srgbClr val="000000"/>
                </a:solidFill>
                <a:latin typeface="Consolas"/>
                <a:ea typeface="Consolas"/>
                <a:cs typeface="Consolas"/>
              </a:defRPr>
            </a:pPr>
            <a:r>
              <a:t>  &lt;button type=</a:t>
            </a:r>
            <a:r>
              <a:rPr>
                <a:solidFill>
                  <a:srgbClr val="B44520"/>
                </a:solidFill>
              </a:rPr>
              <a:t>"submit"</a:t>
            </a:r>
            <a:r>
              <a:t> [disabled]=</a:t>
            </a:r>
            <a:r>
              <a:rPr>
                <a:solidFill>
                  <a:srgbClr val="B44520"/>
                </a:solidFill>
              </a:rPr>
              <a:t>"form.invalid"</a:t>
            </a:r>
            <a:r>
              <a:t>&gt;</a:t>
            </a:r>
          </a:p>
          <a:p>
            <a:pPr>
              <a:spcAft>
                <a:spcPts val="0"/>
              </a:spcAft>
              <a:defRPr sz="1350" b="0">
                <a:solidFill>
                  <a:srgbClr val="000000"/>
                </a:solidFill>
                <a:latin typeface="Consolas"/>
                <a:ea typeface="Consolas"/>
                <a:cs typeface="Consolas"/>
              </a:defRPr>
            </a:pPr>
            <a:r>
              <a:t>    Ajouter</a:t>
            </a:r>
          </a:p>
          <a:p>
            <a:pPr>
              <a:spcAft>
                <a:spcPts val="0"/>
              </a:spcAft>
              <a:defRPr sz="1350" b="0">
                <a:solidFill>
                  <a:srgbClr val="000000"/>
                </a:solidFill>
                <a:latin typeface="Consolas"/>
                <a:ea typeface="Consolas"/>
                <a:cs typeface="Consolas"/>
              </a:defRPr>
            </a:pPr>
            <a:r>
              <a:t>  &lt;/button&gt;</a:t>
            </a:r>
          </a:p>
          <a:p>
            <a:pPr>
              <a:spcAft>
                <a:spcPts val="0"/>
              </a:spcAft>
              <a:defRPr sz="1350" b="0">
                <a:solidFill>
                  <a:srgbClr val="000000"/>
                </a:solidFill>
                <a:latin typeface="Consolas"/>
                <a:ea typeface="Consolas"/>
                <a:cs typeface="Consolas"/>
              </a:defRPr>
            </a:pPr>
            <a:r>
              <a:t>&lt;/form&gt;</a:t>
            </a:r>
          </a:p>
        </p:txBody>
      </p:sp>
      <p:sp>
        <p:nvSpPr>
          <p:cNvPr id="103" name="takeaways-heading">
            <a:extLst>
              <a:ext uri="{FF2B5EF4-FFF2-40B4-BE49-F238E27FC236}">
                <a16:creationId xmlns:a16="http://schemas.microsoft.com/office/drawing/2014/main" id="{F79A6081-A192-478C-B86E-4B0A653463C7}"/>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A457CB0C-7723-446C-BD0D-CF5EC644B5E8}"/>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formControlName relie le champ au contrôle.</a:t>
            </a:r>
          </a:p>
          <a:p>
            <a:pPr marL="152400" indent="-114300">
              <a:spcAft>
                <a:spcPts val="500"/>
              </a:spcAft>
              <a:buChar char="•"/>
              <a:defRPr sz="1500" b="0">
                <a:solidFill>
                  <a:srgbClr val="000000"/>
                </a:solidFill>
                <a:latin typeface="Calibri"/>
                <a:ea typeface="Calibri"/>
                <a:cs typeface="Calibri"/>
              </a:defRPr>
            </a:pPr>
            <a:r>
              <a:t>touched indique que le champ a perdu le focus.</a:t>
            </a:r>
          </a:p>
          <a:p>
            <a:pPr marL="152400" indent="-114300">
              <a:spcAft>
                <a:spcPts val="500"/>
              </a:spcAft>
              <a:buChar char="•"/>
              <a:defRPr sz="1500" b="0">
                <a:solidFill>
                  <a:srgbClr val="000000"/>
                </a:solidFill>
                <a:latin typeface="Calibri"/>
                <a:ea typeface="Calibri"/>
                <a:cs typeface="Calibri"/>
              </a:defRPr>
            </a:pPr>
            <a:r>
              <a:t>Le message apparaît après interaction.</a:t>
            </a:r>
          </a:p>
          <a:p>
            <a:pPr marL="152400" indent="-114300">
              <a:spcAft>
                <a:spcPts val="500"/>
              </a:spcAft>
              <a:buChar char="•"/>
              <a:defRPr sz="1500" b="0">
                <a:solidFill>
                  <a:srgbClr val="000000"/>
                </a:solidFill>
                <a:latin typeface="Calibri"/>
                <a:ea typeface="Calibri"/>
                <a:cs typeface="Calibri"/>
              </a:defRPr>
            </a:pPr>
            <a:r>
              <a:t>ngModel et formControlName doivent rester séparés sur un champ.</a:t>
            </a:r>
          </a:p>
        </p:txBody>
      </p:sp>
    </p:spTree>
    <p:extLst>
      <p:ext uri="{BB962C8B-B14F-4D97-AF65-F5344CB8AC3E}">
        <p14:creationId xmlns:p14="http://schemas.microsoft.com/office/powerpoint/2010/main" val="283906254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33479-0459-613B-CCCC-07B680AFBB1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A644F1A-F395-5113-0456-78BCF79A0F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AED5CD3-5FC3-A794-16D2-0F70B5FD8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4A238E8-B917-89AA-EDF2-A87BF88CD3D6}"/>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3266FE47-8F69-85BF-8D66-15FB3A3A06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1FF9CA52-DE98-4AE1-9CA0-7290C593A1A5}"/>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Validation métier : les espaces du titre</a:t>
            </a:r>
          </a:p>
        </p:txBody>
      </p:sp>
      <p:sp>
        <p:nvSpPr>
          <p:cNvPr id="101" name="example-label">
            <a:extLst>
              <a:ext uri="{FF2B5EF4-FFF2-40B4-BE49-F238E27FC236}">
                <a16:creationId xmlns:a16="http://schemas.microsoft.com/office/drawing/2014/main" id="{ABB5E049-1399-499B-9668-7DF844DFBEDD}"/>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Une règle réutilisable et une soumission protégée</a:t>
            </a:r>
          </a:p>
        </p:txBody>
      </p:sp>
      <p:sp>
        <p:nvSpPr>
          <p:cNvPr id="102" name="angular-code">
            <a:extLst>
              <a:ext uri="{FF2B5EF4-FFF2-40B4-BE49-F238E27FC236}">
                <a16:creationId xmlns:a16="http://schemas.microsoft.com/office/drawing/2014/main" id="{18BD9E88-F0E4-4ADA-A4A7-CD2D7812FAD9}"/>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dirty="0">
                <a:solidFill>
                  <a:srgbClr val="8D36A8"/>
                </a:solidFill>
              </a:rPr>
              <a:t>import</a:t>
            </a:r>
            <a:r>
              <a:rPr dirty="0"/>
              <a:t> { </a:t>
            </a:r>
            <a:r>
              <a:rPr dirty="0" err="1">
                <a:solidFill>
                  <a:srgbClr val="008977"/>
                </a:solidFill>
              </a:rPr>
              <a:t>ValidatorFn</a:t>
            </a:r>
            <a:r>
              <a:rPr dirty="0"/>
              <a:t> } </a:t>
            </a:r>
            <a:r>
              <a:rPr dirty="0">
                <a:solidFill>
                  <a:srgbClr val="8D36A8"/>
                </a:solidFill>
              </a:rPr>
              <a:t>from</a:t>
            </a:r>
            <a:r>
              <a:rPr dirty="0"/>
              <a:t> </a:t>
            </a:r>
            <a:r>
              <a:rPr dirty="0">
                <a:solidFill>
                  <a:srgbClr val="B44520"/>
                </a:solidFill>
              </a:rPr>
              <a:t>'@angular/forms'</a:t>
            </a:r>
            <a:r>
              <a:rPr dirty="0"/>
              <a:t>;</a:t>
            </a:r>
          </a:p>
          <a:p>
            <a:pPr>
              <a:spcAft>
                <a:spcPts val="0"/>
              </a:spcAft>
              <a:defRPr sz="1350" b="0">
                <a:solidFill>
                  <a:srgbClr val="000000"/>
                </a:solidFill>
                <a:latin typeface="Consolas"/>
                <a:ea typeface="Consolas"/>
                <a:cs typeface="Consolas"/>
              </a:defRPr>
            </a:pPr>
            <a:r>
              <a:rPr dirty="0">
                <a:solidFill>
                  <a:srgbClr val="8D36A8"/>
                </a:solidFill>
              </a:rPr>
              <a:t>export</a:t>
            </a:r>
            <a:r>
              <a:rPr dirty="0"/>
              <a:t> </a:t>
            </a:r>
            <a:r>
              <a:rPr dirty="0">
                <a:solidFill>
                  <a:srgbClr val="8D36A8"/>
                </a:solidFill>
              </a:rPr>
              <a:t>const</a:t>
            </a:r>
            <a:r>
              <a:rPr dirty="0"/>
              <a:t> titleMin3: </a:t>
            </a:r>
            <a:r>
              <a:rPr dirty="0" err="1">
                <a:solidFill>
                  <a:srgbClr val="008977"/>
                </a:solidFill>
              </a:rPr>
              <a:t>ValidatorFn</a:t>
            </a:r>
            <a:r>
              <a:rPr dirty="0"/>
              <a:t> = control =&gt;</a:t>
            </a:r>
          </a:p>
          <a:p>
            <a:pPr>
              <a:spcAft>
                <a:spcPts val="0"/>
              </a:spcAft>
              <a:defRPr sz="1350" b="0">
                <a:solidFill>
                  <a:srgbClr val="000000"/>
                </a:solidFill>
                <a:latin typeface="Consolas"/>
                <a:ea typeface="Consolas"/>
                <a:cs typeface="Consolas"/>
              </a:defRPr>
            </a:pPr>
            <a:r>
              <a:rPr dirty="0"/>
              <a:t>  String(</a:t>
            </a:r>
            <a:r>
              <a:rPr dirty="0" err="1"/>
              <a:t>control.value</a:t>
            </a:r>
            <a:r>
              <a:rPr dirty="0"/>
              <a:t> ?? </a:t>
            </a:r>
            <a:r>
              <a:rPr dirty="0">
                <a:solidFill>
                  <a:srgbClr val="B44520"/>
                </a:solidFill>
              </a:rPr>
              <a:t>''</a:t>
            </a:r>
            <a:r>
              <a:rPr dirty="0"/>
              <a:t>).trim().length &gt;= </a:t>
            </a:r>
            <a:r>
              <a:rPr dirty="0">
                <a:solidFill>
                  <a:srgbClr val="558B2F"/>
                </a:solidFill>
              </a:rPr>
              <a:t>3</a:t>
            </a:r>
          </a:p>
          <a:p>
            <a:pPr>
              <a:spcAft>
                <a:spcPts val="0"/>
              </a:spcAft>
              <a:defRPr sz="1350" b="0">
                <a:solidFill>
                  <a:srgbClr val="000000"/>
                </a:solidFill>
                <a:latin typeface="Consolas"/>
                <a:ea typeface="Consolas"/>
                <a:cs typeface="Consolas"/>
              </a:defRPr>
            </a:pPr>
            <a:r>
              <a:rPr dirty="0"/>
              <a:t>    ? </a:t>
            </a:r>
            <a:r>
              <a:rPr dirty="0">
                <a:solidFill>
                  <a:srgbClr val="8D36A8"/>
                </a:solidFill>
              </a:rPr>
              <a:t>null</a:t>
            </a:r>
            <a:r>
              <a:rPr dirty="0"/>
              <a:t> : { titleMin3: </a:t>
            </a:r>
            <a:r>
              <a:rPr dirty="0">
                <a:solidFill>
                  <a:srgbClr val="8D36A8"/>
                </a:solidFill>
              </a:rPr>
              <a:t>true</a:t>
            </a:r>
            <a:r>
              <a:rPr dirty="0"/>
              <a:t> };</a:t>
            </a:r>
            <a:endParaRPr lang="fr-FR" dirty="0"/>
          </a:p>
          <a:p>
            <a:pPr>
              <a:spcAft>
                <a:spcPts val="0"/>
              </a:spcAft>
              <a:defRPr sz="1350" b="0">
                <a:solidFill>
                  <a:srgbClr val="000000"/>
                </a:solidFill>
                <a:latin typeface="Consolas"/>
                <a:ea typeface="Consolas"/>
                <a:cs typeface="Consolas"/>
              </a:defRPr>
            </a:pPr>
            <a:endParaRPr dirty="0"/>
          </a:p>
          <a:p>
            <a:pPr>
              <a:spcAft>
                <a:spcPts val="0"/>
              </a:spcAft>
              <a:defRPr sz="1350" b="0">
                <a:solidFill>
                  <a:srgbClr val="000000"/>
                </a:solidFill>
                <a:latin typeface="Consolas"/>
                <a:ea typeface="Consolas"/>
                <a:cs typeface="Consolas"/>
              </a:defRPr>
            </a:pPr>
            <a:r>
              <a:rPr dirty="0">
                <a:solidFill>
                  <a:srgbClr val="558B2F"/>
                </a:solidFill>
              </a:rPr>
              <a:t>// Dans </a:t>
            </a:r>
            <a:r>
              <a:rPr dirty="0" err="1">
                <a:solidFill>
                  <a:srgbClr val="558B2F"/>
                </a:solidFill>
              </a:rPr>
              <a:t>TaskForm</a:t>
            </a:r>
            <a:r>
              <a:rPr dirty="0">
                <a:solidFill>
                  <a:srgbClr val="558B2F"/>
                </a:solidFill>
              </a:rPr>
              <a:t> : </a:t>
            </a:r>
            <a:r>
              <a:rPr dirty="0" err="1">
                <a:solidFill>
                  <a:srgbClr val="558B2F"/>
                </a:solidFill>
              </a:rPr>
              <a:t>remplacer</a:t>
            </a:r>
            <a:r>
              <a:rPr dirty="0">
                <a:solidFill>
                  <a:srgbClr val="558B2F"/>
                </a:solidFill>
              </a:rPr>
              <a:t> title (slide 21)</a:t>
            </a:r>
          </a:p>
          <a:p>
            <a:pPr>
              <a:spcAft>
                <a:spcPts val="0"/>
              </a:spcAft>
              <a:defRPr sz="1350" b="0">
                <a:solidFill>
                  <a:srgbClr val="000000"/>
                </a:solidFill>
                <a:latin typeface="Consolas"/>
                <a:ea typeface="Consolas"/>
                <a:cs typeface="Consolas"/>
              </a:defRPr>
            </a:pPr>
            <a:r>
              <a:rPr dirty="0">
                <a:solidFill>
                  <a:srgbClr val="8D36A8"/>
                </a:solidFill>
              </a:rPr>
              <a:t>import</a:t>
            </a:r>
            <a:r>
              <a:rPr dirty="0"/>
              <a:t> { titleMin3 } </a:t>
            </a:r>
            <a:r>
              <a:rPr dirty="0">
                <a:solidFill>
                  <a:srgbClr val="8D36A8"/>
                </a:solidFill>
              </a:rPr>
              <a:t>from</a:t>
            </a:r>
            <a:r>
              <a:rPr dirty="0">
                <a:solidFill>
                  <a:srgbClr val="B44520"/>
                </a:solidFill>
              </a:rPr>
              <a:t> './task-validators'</a:t>
            </a:r>
            <a:r>
              <a:rPr dirty="0"/>
              <a:t>;</a:t>
            </a:r>
          </a:p>
          <a:p>
            <a:pPr>
              <a:spcAft>
                <a:spcPts val="0"/>
              </a:spcAft>
              <a:defRPr sz="1350" b="0">
                <a:solidFill>
                  <a:srgbClr val="000000"/>
                </a:solidFill>
                <a:latin typeface="Consolas"/>
                <a:ea typeface="Consolas"/>
                <a:cs typeface="Consolas"/>
              </a:defRPr>
            </a:pPr>
            <a:r>
              <a:rPr dirty="0"/>
              <a:t>title: new </a:t>
            </a:r>
            <a:r>
              <a:rPr dirty="0" err="1"/>
              <a:t>FormControl</a:t>
            </a:r>
            <a:r>
              <a:rPr dirty="0"/>
              <a:t>('', {</a:t>
            </a:r>
          </a:p>
          <a:p>
            <a:pPr>
              <a:spcAft>
                <a:spcPts val="0"/>
              </a:spcAft>
              <a:defRPr sz="1350" b="0">
                <a:solidFill>
                  <a:srgbClr val="000000"/>
                </a:solidFill>
                <a:latin typeface="Consolas"/>
                <a:ea typeface="Consolas"/>
                <a:cs typeface="Consolas"/>
              </a:defRPr>
            </a:pPr>
            <a:r>
              <a:rPr dirty="0"/>
              <a:t>  </a:t>
            </a:r>
            <a:r>
              <a:rPr dirty="0" err="1"/>
              <a:t>nonNullable</a:t>
            </a:r>
            <a:r>
              <a:rPr dirty="0"/>
              <a:t>: </a:t>
            </a:r>
            <a:r>
              <a:rPr dirty="0">
                <a:solidFill>
                  <a:srgbClr val="8D36A8"/>
                </a:solidFill>
              </a:rPr>
              <a:t>true</a:t>
            </a:r>
            <a:r>
              <a:rPr dirty="0"/>
              <a:t>, validators: [titleMin3] }),</a:t>
            </a:r>
            <a:endParaRPr lang="fr-FR" dirty="0"/>
          </a:p>
          <a:p>
            <a:pPr>
              <a:spcAft>
                <a:spcPts val="0"/>
              </a:spcAft>
              <a:defRPr sz="1350" b="0">
                <a:solidFill>
                  <a:srgbClr val="000000"/>
                </a:solidFill>
                <a:latin typeface="Consolas"/>
                <a:ea typeface="Consolas"/>
                <a:cs typeface="Consolas"/>
              </a:defRPr>
            </a:pPr>
            <a:endParaRPr dirty="0"/>
          </a:p>
          <a:p>
            <a:pPr>
              <a:spcAft>
                <a:spcPts val="0"/>
              </a:spcAft>
              <a:defRPr sz="1350" b="0">
                <a:solidFill>
                  <a:srgbClr val="000000"/>
                </a:solidFill>
                <a:latin typeface="Consolas"/>
                <a:ea typeface="Consolas"/>
                <a:cs typeface="Consolas"/>
              </a:defRPr>
            </a:pPr>
            <a:r>
              <a:rPr dirty="0">
                <a:solidFill>
                  <a:srgbClr val="558B2F"/>
                </a:solidFill>
              </a:rPr>
              <a:t>// Dans la </a:t>
            </a:r>
            <a:r>
              <a:rPr dirty="0" err="1">
                <a:solidFill>
                  <a:srgbClr val="558B2F"/>
                </a:solidFill>
              </a:rPr>
              <a:t>classe</a:t>
            </a:r>
            <a:r>
              <a:rPr dirty="0">
                <a:solidFill>
                  <a:srgbClr val="558B2F"/>
                </a:solidFill>
              </a:rPr>
              <a:t> </a:t>
            </a:r>
            <a:r>
              <a:rPr dirty="0" err="1">
                <a:solidFill>
                  <a:srgbClr val="558B2F"/>
                </a:solidFill>
              </a:rPr>
              <a:t>TaskForm</a:t>
            </a:r>
            <a:endParaRPr dirty="0">
              <a:solidFill>
                <a:srgbClr val="558B2F"/>
              </a:solidFill>
            </a:endParaRPr>
          </a:p>
          <a:p>
            <a:pPr>
              <a:spcAft>
                <a:spcPts val="0"/>
              </a:spcAft>
              <a:defRPr sz="1350" b="0">
                <a:solidFill>
                  <a:srgbClr val="000000"/>
                </a:solidFill>
                <a:latin typeface="Consolas"/>
                <a:ea typeface="Consolas"/>
                <a:cs typeface="Consolas"/>
              </a:defRPr>
            </a:pPr>
            <a:r>
              <a:rPr dirty="0" err="1">
                <a:solidFill>
                  <a:srgbClr val="8D36A8"/>
                </a:solidFill>
              </a:rPr>
              <a:t>readonly</a:t>
            </a:r>
            <a:r>
              <a:rPr dirty="0"/>
              <a:t> created = </a:t>
            </a:r>
            <a:r>
              <a:rPr dirty="0">
                <a:solidFill>
                  <a:srgbClr val="008977"/>
                </a:solidFill>
              </a:rPr>
              <a:t>output</a:t>
            </a:r>
            <a:r>
              <a:rPr dirty="0"/>
              <a:t>&lt;{</a:t>
            </a:r>
          </a:p>
          <a:p>
            <a:pPr>
              <a:spcAft>
                <a:spcPts val="0"/>
              </a:spcAft>
              <a:defRPr sz="1350" b="0">
                <a:solidFill>
                  <a:srgbClr val="000000"/>
                </a:solidFill>
                <a:latin typeface="Consolas"/>
                <a:ea typeface="Consolas"/>
                <a:cs typeface="Consolas"/>
              </a:defRPr>
            </a:pPr>
            <a:r>
              <a:rPr dirty="0"/>
              <a:t>  title: string; </a:t>
            </a:r>
            <a:r>
              <a:rPr dirty="0" err="1"/>
              <a:t>dueDate</a:t>
            </a:r>
            <a:r>
              <a:rPr dirty="0"/>
              <a:t>?: string;</a:t>
            </a:r>
          </a:p>
          <a:p>
            <a:pPr>
              <a:spcAft>
                <a:spcPts val="0"/>
              </a:spcAft>
              <a:defRPr sz="1350" b="0">
                <a:solidFill>
                  <a:srgbClr val="000000"/>
                </a:solidFill>
                <a:latin typeface="Consolas"/>
                <a:ea typeface="Consolas"/>
                <a:cs typeface="Consolas"/>
              </a:defRPr>
            </a:pPr>
            <a:r>
              <a:rPr dirty="0"/>
              <a:t>}&gt;();</a:t>
            </a:r>
          </a:p>
          <a:p>
            <a:pPr>
              <a:spcAft>
                <a:spcPts val="0"/>
              </a:spcAft>
              <a:defRPr sz="1350" b="0">
                <a:solidFill>
                  <a:srgbClr val="000000"/>
                </a:solidFill>
                <a:latin typeface="Consolas"/>
                <a:ea typeface="Consolas"/>
                <a:cs typeface="Consolas"/>
              </a:defRPr>
            </a:pPr>
            <a:r>
              <a:rPr dirty="0"/>
              <a:t>submit() {</a:t>
            </a:r>
          </a:p>
          <a:p>
            <a:pPr>
              <a:spcAft>
                <a:spcPts val="0"/>
              </a:spcAft>
              <a:defRPr sz="1350" b="0">
                <a:solidFill>
                  <a:srgbClr val="000000"/>
                </a:solidFill>
                <a:latin typeface="Consolas"/>
                <a:ea typeface="Consolas"/>
                <a:cs typeface="Consolas"/>
              </a:defRPr>
            </a:pPr>
            <a:r>
              <a:rPr dirty="0"/>
              <a:t>  </a:t>
            </a:r>
            <a:r>
              <a:rPr dirty="0">
                <a:solidFill>
                  <a:srgbClr val="8D36A8"/>
                </a:solidFill>
              </a:rPr>
              <a:t>if</a:t>
            </a:r>
            <a:r>
              <a:rPr dirty="0"/>
              <a:t> (</a:t>
            </a:r>
            <a:r>
              <a:rPr dirty="0" err="1"/>
              <a:t>this.form.invalid</a:t>
            </a:r>
            <a:r>
              <a:rPr dirty="0"/>
              <a:t>) {</a:t>
            </a:r>
          </a:p>
          <a:p>
            <a:pPr>
              <a:spcAft>
                <a:spcPts val="0"/>
              </a:spcAft>
              <a:defRPr sz="1350" b="0">
                <a:solidFill>
                  <a:srgbClr val="000000"/>
                </a:solidFill>
                <a:latin typeface="Consolas"/>
                <a:ea typeface="Consolas"/>
                <a:cs typeface="Consolas"/>
              </a:defRPr>
            </a:pPr>
            <a:r>
              <a:rPr dirty="0"/>
              <a:t>    </a:t>
            </a:r>
            <a:r>
              <a:rPr dirty="0" err="1"/>
              <a:t>this.form.markAllAsTouched</a:t>
            </a:r>
            <a:r>
              <a:rPr dirty="0"/>
              <a:t>(); </a:t>
            </a:r>
            <a:r>
              <a:rPr dirty="0">
                <a:solidFill>
                  <a:srgbClr val="8D36A8"/>
                </a:solidFill>
              </a:rPr>
              <a:t>return</a:t>
            </a:r>
            <a:r>
              <a:rPr dirty="0"/>
              <a:t>;</a:t>
            </a:r>
          </a:p>
          <a:p>
            <a:pPr>
              <a:spcAft>
                <a:spcPts val="0"/>
              </a:spcAft>
              <a:defRPr sz="1350" b="0">
                <a:solidFill>
                  <a:srgbClr val="000000"/>
                </a:solidFill>
                <a:latin typeface="Consolas"/>
                <a:ea typeface="Consolas"/>
                <a:cs typeface="Consolas"/>
              </a:defRPr>
            </a:pPr>
            <a:r>
              <a:rPr dirty="0"/>
              <a:t>  }</a:t>
            </a:r>
          </a:p>
          <a:p>
            <a:pPr>
              <a:spcAft>
                <a:spcPts val="0"/>
              </a:spcAft>
              <a:defRPr sz="1350" b="0">
                <a:solidFill>
                  <a:srgbClr val="000000"/>
                </a:solidFill>
                <a:latin typeface="Consolas"/>
                <a:ea typeface="Consolas"/>
                <a:cs typeface="Consolas"/>
              </a:defRPr>
            </a:pPr>
            <a:r>
              <a:rPr dirty="0"/>
              <a:t>  </a:t>
            </a:r>
            <a:r>
              <a:rPr dirty="0">
                <a:solidFill>
                  <a:srgbClr val="8D36A8"/>
                </a:solidFill>
              </a:rPr>
              <a:t>const</a:t>
            </a:r>
            <a:r>
              <a:rPr dirty="0"/>
              <a:t> value = </a:t>
            </a:r>
            <a:r>
              <a:rPr dirty="0" err="1"/>
              <a:t>this.form.getRawValue</a:t>
            </a:r>
            <a:r>
              <a:rPr dirty="0"/>
              <a:t>();</a:t>
            </a:r>
          </a:p>
          <a:p>
            <a:pPr>
              <a:spcAft>
                <a:spcPts val="0"/>
              </a:spcAft>
              <a:defRPr sz="1350" b="0">
                <a:solidFill>
                  <a:srgbClr val="000000"/>
                </a:solidFill>
                <a:latin typeface="Consolas"/>
                <a:ea typeface="Consolas"/>
                <a:cs typeface="Consolas"/>
              </a:defRPr>
            </a:pPr>
            <a:r>
              <a:rPr dirty="0"/>
              <a:t>  </a:t>
            </a:r>
            <a:r>
              <a:rPr dirty="0" err="1"/>
              <a:t>this.created.emit</a:t>
            </a:r>
            <a:r>
              <a:rPr dirty="0"/>
              <a:t>({ title: </a:t>
            </a:r>
            <a:r>
              <a:rPr dirty="0" err="1"/>
              <a:t>value.title.trim</a:t>
            </a:r>
            <a:r>
              <a:rPr dirty="0"/>
              <a:t>(),</a:t>
            </a:r>
          </a:p>
          <a:p>
            <a:pPr>
              <a:spcAft>
                <a:spcPts val="0"/>
              </a:spcAft>
              <a:defRPr sz="1350" b="0">
                <a:solidFill>
                  <a:srgbClr val="000000"/>
                </a:solidFill>
                <a:latin typeface="Consolas"/>
                <a:ea typeface="Consolas"/>
                <a:cs typeface="Consolas"/>
              </a:defRPr>
            </a:pPr>
            <a:r>
              <a:rPr dirty="0"/>
              <a:t>    </a:t>
            </a:r>
            <a:r>
              <a:rPr dirty="0" err="1"/>
              <a:t>dueDate</a:t>
            </a:r>
            <a:r>
              <a:rPr dirty="0"/>
              <a:t>: </a:t>
            </a:r>
            <a:r>
              <a:rPr dirty="0" err="1"/>
              <a:t>value.dueDate</a:t>
            </a:r>
            <a:r>
              <a:rPr dirty="0"/>
              <a:t> || </a:t>
            </a:r>
            <a:r>
              <a:rPr dirty="0">
                <a:solidFill>
                  <a:srgbClr val="8D36A8"/>
                </a:solidFill>
              </a:rPr>
              <a:t>undefined</a:t>
            </a:r>
            <a:r>
              <a:rPr dirty="0"/>
              <a:t> });</a:t>
            </a:r>
          </a:p>
          <a:p>
            <a:pPr>
              <a:spcAft>
                <a:spcPts val="0"/>
              </a:spcAft>
              <a:defRPr sz="1350" b="0">
                <a:solidFill>
                  <a:srgbClr val="000000"/>
                </a:solidFill>
                <a:latin typeface="Consolas"/>
                <a:ea typeface="Consolas"/>
                <a:cs typeface="Consolas"/>
              </a:defRPr>
            </a:pPr>
            <a:r>
              <a:rPr dirty="0"/>
              <a:t>  </a:t>
            </a:r>
            <a:r>
              <a:rPr dirty="0" err="1"/>
              <a:t>this.form.reset</a:t>
            </a:r>
            <a:r>
              <a:rPr dirty="0"/>
              <a:t>();</a:t>
            </a:r>
          </a:p>
          <a:p>
            <a:pPr>
              <a:spcAft>
                <a:spcPts val="0"/>
              </a:spcAft>
              <a:defRPr sz="1350" b="0">
                <a:solidFill>
                  <a:srgbClr val="000000"/>
                </a:solidFill>
                <a:latin typeface="Consolas"/>
                <a:ea typeface="Consolas"/>
                <a:cs typeface="Consolas"/>
              </a:defRPr>
            </a:pPr>
            <a:r>
              <a:rPr dirty="0"/>
              <a:t>}</a:t>
            </a:r>
          </a:p>
        </p:txBody>
      </p:sp>
      <p:sp>
        <p:nvSpPr>
          <p:cNvPr id="103" name="takeaways-heading">
            <a:extLst>
              <a:ext uri="{FF2B5EF4-FFF2-40B4-BE49-F238E27FC236}">
                <a16:creationId xmlns:a16="http://schemas.microsoft.com/office/drawing/2014/main" id="{BA4A6BD6-2755-42BA-BB76-82C28BF4936F}"/>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AE1D702A-BEDC-478C-B217-AAF2AE7981ED}"/>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Le validateur renvoie null ou un objet d’erreur.</a:t>
            </a:r>
          </a:p>
          <a:p>
            <a:pPr marL="152400" indent="-114300">
              <a:spcAft>
                <a:spcPts val="500"/>
              </a:spcAft>
              <a:buChar char="•"/>
              <a:defRPr sz="1500" b="0">
                <a:solidFill>
                  <a:srgbClr val="000000"/>
                </a:solidFill>
                <a:latin typeface="Calibri"/>
                <a:ea typeface="Calibri"/>
                <a:cs typeface="Calibri"/>
              </a:defRPr>
            </a:pPr>
            <a:r>
              <a:t>trim() vérifie le titre hors espaces de début et de fin.</a:t>
            </a:r>
          </a:p>
          <a:p>
            <a:pPr marL="152400" indent="-114300">
              <a:spcAft>
                <a:spcPts val="500"/>
              </a:spcAft>
              <a:buChar char="•"/>
              <a:defRPr sz="1500" b="0">
                <a:solidFill>
                  <a:srgbClr val="000000"/>
                </a:solidFill>
                <a:latin typeface="Calibri"/>
                <a:ea typeface="Calibri"/>
                <a:cs typeface="Calibri"/>
              </a:defRPr>
            </a:pPr>
            <a:r>
              <a:t>getRawValue() inclut les contrôles désactivés.</a:t>
            </a:r>
          </a:p>
          <a:p>
            <a:pPr marL="152400" indent="-114300">
              <a:spcAft>
                <a:spcPts val="500"/>
              </a:spcAft>
              <a:buChar char="•"/>
              <a:defRPr sz="1500" b="0">
                <a:solidFill>
                  <a:srgbClr val="000000"/>
                </a:solidFill>
                <a:latin typeface="Calibri"/>
                <a:ea typeface="Calibri"/>
                <a:cs typeface="Calibri"/>
              </a:defRPr>
            </a:pPr>
            <a:r>
              <a:t>Le parent reçoit les données avec (created).</a:t>
            </a:r>
          </a:p>
        </p:txBody>
      </p:sp>
    </p:spTree>
    <p:extLst>
      <p:ext uri="{BB962C8B-B14F-4D97-AF65-F5344CB8AC3E}">
        <p14:creationId xmlns:p14="http://schemas.microsoft.com/office/powerpoint/2010/main" val="25481000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5633479-0459-613B-CCCC-07B680AFBB1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A644F1A-F395-5113-0456-78BCF79A0F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AED5CD3-5FC3-A794-16D2-0F70B5FD82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04A238E8-B917-89AA-EDF2-A87BF88CD3D6}"/>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3266FE47-8F69-85BF-8D66-15FB3A3A06E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83853191-4271-487F-BEED-B5813C055C6A}"/>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Validation métier : une date locale</a:t>
            </a:r>
          </a:p>
        </p:txBody>
      </p:sp>
      <p:sp>
        <p:nvSpPr>
          <p:cNvPr id="101" name="example-label">
            <a:extLst>
              <a:ext uri="{FF2B5EF4-FFF2-40B4-BE49-F238E27FC236}">
                <a16:creationId xmlns:a16="http://schemas.microsoft.com/office/drawing/2014/main" id="{B8987151-EA0F-4472-B6A7-1230804057CF}"/>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Une échéance facultative, au plus tôt aujourd’hui</a:t>
            </a:r>
          </a:p>
        </p:txBody>
      </p:sp>
      <p:sp>
        <p:nvSpPr>
          <p:cNvPr id="102" name="angular-code">
            <a:extLst>
              <a:ext uri="{FF2B5EF4-FFF2-40B4-BE49-F238E27FC236}">
                <a16:creationId xmlns:a16="http://schemas.microsoft.com/office/drawing/2014/main" id="{257FE5D7-3267-494D-9A5C-8534E964DCB3}"/>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dirty="0">
                <a:solidFill>
                  <a:srgbClr val="558B2F"/>
                </a:solidFill>
              </a:rPr>
              <a:t>// task-</a:t>
            </a:r>
            <a:r>
              <a:rPr dirty="0" err="1">
                <a:solidFill>
                  <a:srgbClr val="558B2F"/>
                </a:solidFill>
              </a:rPr>
              <a:t>validators.ts</a:t>
            </a:r>
            <a:r>
              <a:rPr dirty="0">
                <a:solidFill>
                  <a:srgbClr val="558B2F"/>
                </a:solidFill>
              </a:rPr>
              <a:t>, import </a:t>
            </a:r>
            <a:r>
              <a:rPr dirty="0" err="1">
                <a:solidFill>
                  <a:srgbClr val="558B2F"/>
                </a:solidFill>
              </a:rPr>
              <a:t>ValidatorFn</a:t>
            </a:r>
            <a:endParaRPr dirty="0">
              <a:solidFill>
                <a:srgbClr val="558B2F"/>
              </a:solidFill>
            </a:endParaRPr>
          </a:p>
          <a:p>
            <a:pPr>
              <a:spcAft>
                <a:spcPts val="0"/>
              </a:spcAft>
              <a:defRPr sz="1350" b="0">
                <a:solidFill>
                  <a:srgbClr val="000000"/>
                </a:solidFill>
                <a:latin typeface="Consolas"/>
                <a:ea typeface="Consolas"/>
                <a:cs typeface="Consolas"/>
              </a:defRPr>
            </a:pPr>
            <a:r>
              <a:rPr dirty="0">
                <a:solidFill>
                  <a:srgbClr val="8D36A8"/>
                </a:solidFill>
              </a:rPr>
              <a:t>const</a:t>
            </a:r>
            <a:r>
              <a:rPr dirty="0"/>
              <a:t> pad = (n: number) =&gt; String(n).</a:t>
            </a:r>
            <a:r>
              <a:rPr dirty="0" err="1"/>
              <a:t>padStart</a:t>
            </a:r>
            <a:r>
              <a:rPr dirty="0"/>
              <a:t>(</a:t>
            </a:r>
            <a:r>
              <a:rPr dirty="0">
                <a:solidFill>
                  <a:srgbClr val="558B2F"/>
                </a:solidFill>
              </a:rPr>
              <a:t>2</a:t>
            </a:r>
            <a:r>
              <a:rPr dirty="0"/>
              <a:t>, </a:t>
            </a:r>
            <a:r>
              <a:rPr dirty="0">
                <a:solidFill>
                  <a:srgbClr val="B44520"/>
                </a:solidFill>
              </a:rPr>
              <a:t>'0'</a:t>
            </a:r>
            <a:r>
              <a:rPr dirty="0"/>
              <a:t>);</a:t>
            </a:r>
          </a:p>
          <a:p>
            <a:pPr>
              <a:spcAft>
                <a:spcPts val="0"/>
              </a:spcAft>
              <a:defRPr sz="1350" b="0">
                <a:solidFill>
                  <a:srgbClr val="000000"/>
                </a:solidFill>
                <a:latin typeface="Consolas"/>
                <a:ea typeface="Consolas"/>
                <a:cs typeface="Consolas"/>
              </a:defRPr>
            </a:pPr>
            <a:r>
              <a:rPr dirty="0">
                <a:solidFill>
                  <a:srgbClr val="8D36A8"/>
                </a:solidFill>
              </a:rPr>
              <a:t>const</a:t>
            </a:r>
            <a:r>
              <a:rPr dirty="0"/>
              <a:t> </a:t>
            </a:r>
            <a:r>
              <a:rPr dirty="0" err="1"/>
              <a:t>todayLocal</a:t>
            </a:r>
            <a:r>
              <a:rPr dirty="0"/>
              <a:t> = () =&gt; {</a:t>
            </a:r>
          </a:p>
          <a:p>
            <a:pPr>
              <a:spcAft>
                <a:spcPts val="0"/>
              </a:spcAft>
              <a:defRPr sz="1350" b="0">
                <a:solidFill>
                  <a:srgbClr val="000000"/>
                </a:solidFill>
                <a:latin typeface="Consolas"/>
                <a:ea typeface="Consolas"/>
                <a:cs typeface="Consolas"/>
              </a:defRPr>
            </a:pPr>
            <a:r>
              <a:rPr dirty="0"/>
              <a:t>  </a:t>
            </a:r>
            <a:r>
              <a:rPr dirty="0">
                <a:solidFill>
                  <a:srgbClr val="8D36A8"/>
                </a:solidFill>
              </a:rPr>
              <a:t>const</a:t>
            </a:r>
            <a:r>
              <a:rPr dirty="0"/>
              <a:t> d = </a:t>
            </a:r>
            <a:r>
              <a:rPr dirty="0">
                <a:solidFill>
                  <a:srgbClr val="8D36A8"/>
                </a:solidFill>
              </a:rPr>
              <a:t>new</a:t>
            </a:r>
            <a:r>
              <a:rPr dirty="0"/>
              <a:t> Date();</a:t>
            </a:r>
          </a:p>
          <a:p>
            <a:pPr>
              <a:spcAft>
                <a:spcPts val="0"/>
              </a:spcAft>
              <a:defRPr sz="1350" b="0">
                <a:solidFill>
                  <a:srgbClr val="000000"/>
                </a:solidFill>
                <a:latin typeface="Consolas"/>
                <a:ea typeface="Consolas"/>
                <a:cs typeface="Consolas"/>
              </a:defRPr>
            </a:pPr>
            <a:r>
              <a:rPr dirty="0"/>
              <a:t>  </a:t>
            </a:r>
            <a:r>
              <a:rPr dirty="0">
                <a:solidFill>
                  <a:srgbClr val="8D36A8"/>
                </a:solidFill>
              </a:rPr>
              <a:t>return</a:t>
            </a:r>
            <a:r>
              <a:rPr dirty="0"/>
              <a:t> `${</a:t>
            </a:r>
            <a:r>
              <a:rPr dirty="0" err="1"/>
              <a:t>d.getFullYear</a:t>
            </a:r>
            <a:r>
              <a:rPr dirty="0"/>
              <a:t>()}-${pad(</a:t>
            </a:r>
            <a:r>
              <a:rPr dirty="0" err="1"/>
              <a:t>d.getMonth</a:t>
            </a:r>
            <a:r>
              <a:rPr dirty="0"/>
              <a:t>()+</a:t>
            </a:r>
            <a:r>
              <a:rPr dirty="0">
                <a:solidFill>
                  <a:srgbClr val="558B2F"/>
                </a:solidFill>
              </a:rPr>
              <a:t>1</a:t>
            </a:r>
            <a:r>
              <a:rPr dirty="0"/>
              <a:t>)}`</a:t>
            </a:r>
          </a:p>
          <a:p>
            <a:pPr>
              <a:spcAft>
                <a:spcPts val="0"/>
              </a:spcAft>
              <a:defRPr sz="1350" b="0">
                <a:solidFill>
                  <a:srgbClr val="000000"/>
                </a:solidFill>
                <a:latin typeface="Consolas"/>
                <a:ea typeface="Consolas"/>
                <a:cs typeface="Consolas"/>
              </a:defRPr>
            </a:pPr>
            <a:r>
              <a:rPr dirty="0"/>
              <a:t>    + `-${pad(</a:t>
            </a:r>
            <a:r>
              <a:rPr dirty="0" err="1"/>
              <a:t>d.getDate</a:t>
            </a:r>
            <a:r>
              <a:rPr dirty="0"/>
              <a:t>())}`;</a:t>
            </a:r>
          </a:p>
          <a:p>
            <a:pPr>
              <a:spcAft>
                <a:spcPts val="0"/>
              </a:spcAft>
              <a:defRPr sz="1350" b="0">
                <a:solidFill>
                  <a:srgbClr val="000000"/>
                </a:solidFill>
                <a:latin typeface="Consolas"/>
                <a:ea typeface="Consolas"/>
                <a:cs typeface="Consolas"/>
              </a:defRPr>
            </a:pPr>
            <a:r>
              <a:rPr dirty="0"/>
              <a:t>};</a:t>
            </a:r>
          </a:p>
          <a:p>
            <a:pPr>
              <a:spcAft>
                <a:spcPts val="0"/>
              </a:spcAft>
              <a:defRPr sz="1350" b="0">
                <a:solidFill>
                  <a:srgbClr val="000000"/>
                </a:solidFill>
                <a:latin typeface="Consolas"/>
                <a:ea typeface="Consolas"/>
                <a:cs typeface="Consolas"/>
              </a:defRPr>
            </a:pPr>
            <a:r>
              <a:rPr dirty="0">
                <a:solidFill>
                  <a:srgbClr val="8D36A8"/>
                </a:solidFill>
              </a:rPr>
              <a:t>export</a:t>
            </a:r>
            <a:r>
              <a:rPr dirty="0"/>
              <a:t> </a:t>
            </a:r>
            <a:r>
              <a:rPr dirty="0">
                <a:solidFill>
                  <a:srgbClr val="8D36A8"/>
                </a:solidFill>
              </a:rPr>
              <a:t>const</a:t>
            </a:r>
            <a:r>
              <a:rPr dirty="0"/>
              <a:t> </a:t>
            </a:r>
            <a:r>
              <a:rPr dirty="0" err="1"/>
              <a:t>validDueDate</a:t>
            </a:r>
            <a:r>
              <a:rPr dirty="0"/>
              <a:t>: </a:t>
            </a:r>
            <a:r>
              <a:rPr dirty="0" err="1">
                <a:solidFill>
                  <a:srgbClr val="008977"/>
                </a:solidFill>
              </a:rPr>
              <a:t>ValidatorFn</a:t>
            </a:r>
            <a:r>
              <a:rPr dirty="0"/>
              <a:t> = c =&gt; {</a:t>
            </a:r>
          </a:p>
          <a:p>
            <a:pPr>
              <a:spcAft>
                <a:spcPts val="0"/>
              </a:spcAft>
              <a:defRPr sz="1350" b="0">
                <a:solidFill>
                  <a:srgbClr val="000000"/>
                </a:solidFill>
                <a:latin typeface="Consolas"/>
                <a:ea typeface="Consolas"/>
                <a:cs typeface="Consolas"/>
              </a:defRPr>
            </a:pPr>
            <a:r>
              <a:rPr dirty="0"/>
              <a:t>  </a:t>
            </a:r>
            <a:r>
              <a:rPr dirty="0">
                <a:solidFill>
                  <a:srgbClr val="8D36A8"/>
                </a:solidFill>
              </a:rPr>
              <a:t>const</a:t>
            </a:r>
            <a:r>
              <a:rPr dirty="0"/>
              <a:t> v = String(</a:t>
            </a:r>
            <a:r>
              <a:rPr dirty="0" err="1"/>
              <a:t>c.value</a:t>
            </a:r>
            <a:r>
              <a:rPr dirty="0"/>
              <a:t> ?? </a:t>
            </a:r>
            <a:r>
              <a:rPr dirty="0">
                <a:solidFill>
                  <a:srgbClr val="B44520"/>
                </a:solidFill>
              </a:rPr>
              <a:t>‘’</a:t>
            </a:r>
            <a:r>
              <a:rPr dirty="0"/>
              <a:t>);</a:t>
            </a:r>
            <a:r>
              <a:rPr lang="fr-FR" dirty="0"/>
              <a:t> </a:t>
            </a:r>
            <a:r>
              <a:rPr lang="fr-FR" dirty="0">
                <a:solidFill>
                  <a:schemeClr val="accent6"/>
                </a:solidFill>
              </a:rPr>
              <a:t>// Champ vide OK</a:t>
            </a:r>
            <a:endParaRPr dirty="0">
              <a:solidFill>
                <a:schemeClr val="accent6"/>
              </a:solidFill>
            </a:endParaRPr>
          </a:p>
          <a:p>
            <a:pPr>
              <a:spcAft>
                <a:spcPts val="0"/>
              </a:spcAft>
              <a:defRPr sz="1350" b="0">
                <a:solidFill>
                  <a:srgbClr val="000000"/>
                </a:solidFill>
                <a:latin typeface="Consolas"/>
                <a:ea typeface="Consolas"/>
                <a:cs typeface="Consolas"/>
              </a:defRPr>
            </a:pPr>
            <a:r>
              <a:rPr dirty="0"/>
              <a:t>  </a:t>
            </a:r>
            <a:r>
              <a:rPr dirty="0">
                <a:solidFill>
                  <a:srgbClr val="8D36A8"/>
                </a:solidFill>
              </a:rPr>
              <a:t>if</a:t>
            </a:r>
            <a:r>
              <a:rPr dirty="0"/>
              <a:t> (!v) </a:t>
            </a:r>
            <a:r>
              <a:rPr dirty="0">
                <a:solidFill>
                  <a:srgbClr val="8D36A8"/>
                </a:solidFill>
              </a:rPr>
              <a:t>return</a:t>
            </a:r>
            <a:r>
              <a:rPr dirty="0"/>
              <a:t> </a:t>
            </a:r>
            <a:r>
              <a:rPr dirty="0">
                <a:solidFill>
                  <a:srgbClr val="8D36A8"/>
                </a:solidFill>
              </a:rPr>
              <a:t>null</a:t>
            </a:r>
            <a:r>
              <a:rPr dirty="0"/>
              <a:t>;</a:t>
            </a:r>
          </a:p>
          <a:p>
            <a:pPr>
              <a:spcAft>
                <a:spcPts val="0"/>
              </a:spcAft>
              <a:defRPr sz="1350" b="0">
                <a:solidFill>
                  <a:srgbClr val="000000"/>
                </a:solidFill>
                <a:latin typeface="Consolas"/>
                <a:ea typeface="Consolas"/>
                <a:cs typeface="Consolas"/>
              </a:defRPr>
            </a:pPr>
            <a:r>
              <a:rPr dirty="0"/>
              <a:t>  </a:t>
            </a:r>
            <a:r>
              <a:rPr dirty="0">
                <a:solidFill>
                  <a:srgbClr val="8D36A8"/>
                </a:solidFill>
              </a:rPr>
              <a:t>if</a:t>
            </a:r>
            <a:r>
              <a:rPr dirty="0"/>
              <a:t> (!/^\d{</a:t>
            </a:r>
            <a:r>
              <a:rPr dirty="0">
                <a:solidFill>
                  <a:srgbClr val="558B2F"/>
                </a:solidFill>
              </a:rPr>
              <a:t>4</a:t>
            </a:r>
            <a:r>
              <a:rPr dirty="0"/>
              <a:t>}-\d{</a:t>
            </a:r>
            <a:r>
              <a:rPr dirty="0">
                <a:solidFill>
                  <a:srgbClr val="558B2F"/>
                </a:solidFill>
              </a:rPr>
              <a:t>2</a:t>
            </a:r>
            <a:r>
              <a:rPr dirty="0"/>
              <a:t>}-\d{</a:t>
            </a:r>
            <a:r>
              <a:rPr dirty="0">
                <a:solidFill>
                  <a:srgbClr val="558B2F"/>
                </a:solidFill>
              </a:rPr>
              <a:t>2</a:t>
            </a:r>
            <a:r>
              <a:rPr dirty="0"/>
              <a:t>}$/.test(v))</a:t>
            </a:r>
          </a:p>
          <a:p>
            <a:pPr>
              <a:spcAft>
                <a:spcPts val="0"/>
              </a:spcAft>
              <a:defRPr sz="1350" b="0">
                <a:solidFill>
                  <a:srgbClr val="000000"/>
                </a:solidFill>
                <a:latin typeface="Consolas"/>
                <a:ea typeface="Consolas"/>
                <a:cs typeface="Consolas"/>
              </a:defRPr>
            </a:pPr>
            <a:r>
              <a:rPr dirty="0"/>
              <a:t>    </a:t>
            </a:r>
            <a:r>
              <a:rPr dirty="0">
                <a:solidFill>
                  <a:srgbClr val="8D36A8"/>
                </a:solidFill>
              </a:rPr>
              <a:t>return</a:t>
            </a:r>
            <a:r>
              <a:rPr dirty="0"/>
              <a:t> { </a:t>
            </a:r>
            <a:r>
              <a:rPr dirty="0" err="1"/>
              <a:t>dueDate</a:t>
            </a:r>
            <a:r>
              <a:rPr dirty="0"/>
              <a:t>: </a:t>
            </a:r>
            <a:r>
              <a:rPr dirty="0">
                <a:solidFill>
                  <a:srgbClr val="8D36A8"/>
                </a:solidFill>
              </a:rPr>
              <a:t>true</a:t>
            </a:r>
            <a:r>
              <a:rPr dirty="0"/>
              <a:t> };</a:t>
            </a:r>
            <a:r>
              <a:rPr lang="fr-FR" dirty="0"/>
              <a:t>      </a:t>
            </a:r>
            <a:r>
              <a:rPr lang="fr-FR" dirty="0">
                <a:solidFill>
                  <a:schemeClr val="accent6"/>
                </a:solidFill>
              </a:rPr>
              <a:t>// Mauvais format</a:t>
            </a:r>
            <a:endParaRPr dirty="0">
              <a:solidFill>
                <a:schemeClr val="accent6"/>
              </a:solidFill>
            </a:endParaRPr>
          </a:p>
          <a:p>
            <a:pPr>
              <a:spcAft>
                <a:spcPts val="0"/>
              </a:spcAft>
              <a:defRPr sz="1350" b="0">
                <a:solidFill>
                  <a:srgbClr val="000000"/>
                </a:solidFill>
                <a:latin typeface="Consolas"/>
                <a:ea typeface="Consolas"/>
                <a:cs typeface="Consolas"/>
              </a:defRPr>
            </a:pPr>
            <a:r>
              <a:rPr dirty="0"/>
              <a:t>  </a:t>
            </a:r>
            <a:r>
              <a:rPr dirty="0">
                <a:solidFill>
                  <a:srgbClr val="8D36A8"/>
                </a:solidFill>
              </a:rPr>
              <a:t>const</a:t>
            </a:r>
            <a:r>
              <a:rPr dirty="0"/>
              <a:t> d = </a:t>
            </a:r>
            <a:r>
              <a:rPr dirty="0">
                <a:solidFill>
                  <a:srgbClr val="8D36A8"/>
                </a:solidFill>
              </a:rPr>
              <a:t>new</a:t>
            </a:r>
            <a:r>
              <a:rPr dirty="0"/>
              <a:t> Date(v + </a:t>
            </a:r>
            <a:r>
              <a:rPr dirty="0">
                <a:solidFill>
                  <a:srgbClr val="B44520"/>
                </a:solidFill>
              </a:rPr>
              <a:t>'T00:00:00’</a:t>
            </a:r>
            <a:r>
              <a:rPr dirty="0"/>
              <a:t>);</a:t>
            </a:r>
          </a:p>
          <a:p>
            <a:pPr>
              <a:spcAft>
                <a:spcPts val="0"/>
              </a:spcAft>
              <a:defRPr sz="1350" b="0">
                <a:solidFill>
                  <a:srgbClr val="000000"/>
                </a:solidFill>
                <a:latin typeface="Consolas"/>
                <a:ea typeface="Consolas"/>
                <a:cs typeface="Consolas"/>
              </a:defRPr>
            </a:pPr>
            <a:r>
              <a:rPr dirty="0"/>
              <a:t>  </a:t>
            </a:r>
            <a:r>
              <a:rPr dirty="0">
                <a:solidFill>
                  <a:srgbClr val="8D36A8"/>
                </a:solidFill>
              </a:rPr>
              <a:t>const</a:t>
            </a:r>
            <a:r>
              <a:rPr dirty="0"/>
              <a:t> valid = !</a:t>
            </a:r>
            <a:r>
              <a:rPr dirty="0" err="1"/>
              <a:t>Number.isNaN</a:t>
            </a:r>
            <a:r>
              <a:rPr dirty="0"/>
              <a:t>(</a:t>
            </a:r>
            <a:r>
              <a:rPr dirty="0" err="1"/>
              <a:t>d.getTime</a:t>
            </a:r>
            <a:r>
              <a:rPr dirty="0"/>
              <a:t>())</a:t>
            </a:r>
          </a:p>
          <a:p>
            <a:pPr>
              <a:spcAft>
                <a:spcPts val="0"/>
              </a:spcAft>
              <a:defRPr sz="1350" b="0">
                <a:solidFill>
                  <a:srgbClr val="000000"/>
                </a:solidFill>
                <a:latin typeface="Consolas"/>
                <a:ea typeface="Consolas"/>
                <a:cs typeface="Consolas"/>
              </a:defRPr>
            </a:pPr>
            <a:r>
              <a:rPr dirty="0"/>
              <a:t>    &amp;&amp; </a:t>
            </a:r>
            <a:r>
              <a:rPr dirty="0" err="1"/>
              <a:t>d.getFullYear</a:t>
            </a:r>
            <a:r>
              <a:rPr dirty="0"/>
              <a:t>() === Number(</a:t>
            </a:r>
            <a:r>
              <a:rPr dirty="0" err="1"/>
              <a:t>v.slice</a:t>
            </a:r>
            <a:r>
              <a:rPr dirty="0"/>
              <a:t>(</a:t>
            </a:r>
            <a:r>
              <a:rPr dirty="0">
                <a:solidFill>
                  <a:srgbClr val="558B2F"/>
                </a:solidFill>
              </a:rPr>
              <a:t>0</a:t>
            </a:r>
            <a:r>
              <a:rPr dirty="0"/>
              <a:t>, </a:t>
            </a:r>
            <a:r>
              <a:rPr dirty="0">
                <a:solidFill>
                  <a:srgbClr val="558B2F"/>
                </a:solidFill>
              </a:rPr>
              <a:t>4</a:t>
            </a:r>
            <a:r>
              <a:rPr dirty="0"/>
              <a:t>))</a:t>
            </a:r>
          </a:p>
          <a:p>
            <a:pPr>
              <a:spcAft>
                <a:spcPts val="0"/>
              </a:spcAft>
              <a:defRPr sz="1350" b="0">
                <a:solidFill>
                  <a:srgbClr val="000000"/>
                </a:solidFill>
                <a:latin typeface="Consolas"/>
                <a:ea typeface="Consolas"/>
                <a:cs typeface="Consolas"/>
              </a:defRPr>
            </a:pPr>
            <a:r>
              <a:rPr dirty="0"/>
              <a:t>    &amp;&amp; </a:t>
            </a:r>
            <a:r>
              <a:rPr dirty="0" err="1"/>
              <a:t>d.getMonth</a:t>
            </a:r>
            <a:r>
              <a:rPr dirty="0"/>
              <a:t>()+</a:t>
            </a:r>
            <a:r>
              <a:rPr dirty="0">
                <a:solidFill>
                  <a:srgbClr val="558B2F"/>
                </a:solidFill>
              </a:rPr>
              <a:t>1</a:t>
            </a:r>
            <a:r>
              <a:rPr dirty="0"/>
              <a:t> === Number(</a:t>
            </a:r>
            <a:r>
              <a:rPr dirty="0" err="1"/>
              <a:t>v.slice</a:t>
            </a:r>
            <a:r>
              <a:rPr dirty="0"/>
              <a:t>(</a:t>
            </a:r>
            <a:r>
              <a:rPr dirty="0">
                <a:solidFill>
                  <a:srgbClr val="558B2F"/>
                </a:solidFill>
              </a:rPr>
              <a:t>5</a:t>
            </a:r>
            <a:r>
              <a:rPr dirty="0"/>
              <a:t>, </a:t>
            </a:r>
            <a:r>
              <a:rPr dirty="0">
                <a:solidFill>
                  <a:srgbClr val="558B2F"/>
                </a:solidFill>
              </a:rPr>
              <a:t>7</a:t>
            </a:r>
            <a:r>
              <a:rPr dirty="0"/>
              <a:t>))</a:t>
            </a:r>
          </a:p>
          <a:p>
            <a:pPr>
              <a:spcAft>
                <a:spcPts val="0"/>
              </a:spcAft>
              <a:defRPr sz="1350" b="0">
                <a:solidFill>
                  <a:srgbClr val="000000"/>
                </a:solidFill>
                <a:latin typeface="Consolas"/>
                <a:ea typeface="Consolas"/>
                <a:cs typeface="Consolas"/>
              </a:defRPr>
            </a:pPr>
            <a:r>
              <a:rPr dirty="0"/>
              <a:t>    &amp;&amp; </a:t>
            </a:r>
            <a:r>
              <a:rPr dirty="0" err="1"/>
              <a:t>d.getDate</a:t>
            </a:r>
            <a:r>
              <a:rPr dirty="0"/>
              <a:t>() === Number(</a:t>
            </a:r>
            <a:r>
              <a:rPr dirty="0" err="1"/>
              <a:t>v.slice</a:t>
            </a:r>
            <a:r>
              <a:rPr dirty="0"/>
              <a:t>(</a:t>
            </a:r>
            <a:r>
              <a:rPr dirty="0">
                <a:solidFill>
                  <a:srgbClr val="558B2F"/>
                </a:solidFill>
              </a:rPr>
              <a:t>8</a:t>
            </a:r>
            <a:r>
              <a:rPr dirty="0"/>
              <a:t>, </a:t>
            </a:r>
            <a:r>
              <a:rPr dirty="0">
                <a:solidFill>
                  <a:srgbClr val="558B2F"/>
                </a:solidFill>
              </a:rPr>
              <a:t>10</a:t>
            </a:r>
            <a:r>
              <a:rPr dirty="0"/>
              <a:t>));</a:t>
            </a:r>
          </a:p>
          <a:p>
            <a:pPr>
              <a:spcAft>
                <a:spcPts val="0"/>
              </a:spcAft>
              <a:defRPr sz="1350" b="0">
                <a:solidFill>
                  <a:srgbClr val="000000"/>
                </a:solidFill>
                <a:latin typeface="Consolas"/>
                <a:ea typeface="Consolas"/>
                <a:cs typeface="Consolas"/>
              </a:defRPr>
            </a:pPr>
            <a:r>
              <a:rPr dirty="0"/>
              <a:t>  </a:t>
            </a:r>
            <a:r>
              <a:rPr dirty="0">
                <a:solidFill>
                  <a:srgbClr val="8D36A8"/>
                </a:solidFill>
              </a:rPr>
              <a:t>return</a:t>
            </a:r>
            <a:r>
              <a:rPr dirty="0"/>
              <a:t> valid &amp;&amp; v &gt;= </a:t>
            </a:r>
            <a:r>
              <a:rPr dirty="0" err="1"/>
              <a:t>todayLocal</a:t>
            </a:r>
            <a:r>
              <a:rPr dirty="0"/>
              <a:t>()</a:t>
            </a:r>
          </a:p>
          <a:p>
            <a:pPr>
              <a:spcAft>
                <a:spcPts val="0"/>
              </a:spcAft>
              <a:defRPr sz="1350" b="0">
                <a:solidFill>
                  <a:srgbClr val="000000"/>
                </a:solidFill>
                <a:latin typeface="Consolas"/>
                <a:ea typeface="Consolas"/>
                <a:cs typeface="Consolas"/>
              </a:defRPr>
            </a:pPr>
            <a:r>
              <a:rPr dirty="0"/>
              <a:t>    ? </a:t>
            </a:r>
            <a:r>
              <a:rPr dirty="0">
                <a:solidFill>
                  <a:srgbClr val="8D36A8"/>
                </a:solidFill>
              </a:rPr>
              <a:t>null</a:t>
            </a:r>
            <a:r>
              <a:rPr dirty="0"/>
              <a:t> : { </a:t>
            </a:r>
            <a:r>
              <a:rPr dirty="0" err="1"/>
              <a:t>dueDate</a:t>
            </a:r>
            <a:r>
              <a:rPr dirty="0"/>
              <a:t>: </a:t>
            </a:r>
            <a:r>
              <a:rPr dirty="0">
                <a:solidFill>
                  <a:srgbClr val="8D36A8"/>
                </a:solidFill>
              </a:rPr>
              <a:t>true</a:t>
            </a:r>
            <a:r>
              <a:rPr dirty="0"/>
              <a:t> };</a:t>
            </a:r>
            <a:r>
              <a:rPr lang="fr-FR" dirty="0"/>
              <a:t>  </a:t>
            </a:r>
            <a:r>
              <a:rPr lang="fr-FR" dirty="0">
                <a:solidFill>
                  <a:schemeClr val="accent6"/>
                </a:solidFill>
              </a:rPr>
              <a:t>// Date antérieure ?</a:t>
            </a:r>
            <a:endParaRPr dirty="0">
              <a:solidFill>
                <a:schemeClr val="accent6"/>
              </a:solidFill>
            </a:endParaRPr>
          </a:p>
          <a:p>
            <a:pPr>
              <a:spcAft>
                <a:spcPts val="0"/>
              </a:spcAft>
              <a:defRPr sz="1350" b="0">
                <a:solidFill>
                  <a:srgbClr val="000000"/>
                </a:solidFill>
                <a:latin typeface="Consolas"/>
                <a:ea typeface="Consolas"/>
                <a:cs typeface="Consolas"/>
              </a:defRPr>
            </a:pPr>
            <a:r>
              <a:rPr dirty="0"/>
              <a:t>};</a:t>
            </a:r>
          </a:p>
        </p:txBody>
      </p:sp>
      <p:sp>
        <p:nvSpPr>
          <p:cNvPr id="103" name="takeaways-heading">
            <a:extLst>
              <a:ext uri="{FF2B5EF4-FFF2-40B4-BE49-F238E27FC236}">
                <a16:creationId xmlns:a16="http://schemas.microsoft.com/office/drawing/2014/main" id="{BA3BA4E5-49FE-4CFA-AE3C-B89E191E8889}"/>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0F6AA820-79E6-41C2-BA54-C7C68F1D707D}"/>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Une chaîne vide reste valide.</a:t>
            </a:r>
          </a:p>
          <a:p>
            <a:pPr marL="152400" indent="-114300">
              <a:spcAft>
                <a:spcPts val="500"/>
              </a:spcAft>
              <a:buChar char="•"/>
              <a:defRPr sz="1500" b="0">
                <a:solidFill>
                  <a:srgbClr val="000000"/>
                </a:solidFill>
                <a:latin typeface="Calibri"/>
                <a:ea typeface="Calibri"/>
                <a:cs typeface="Calibri"/>
              </a:defRPr>
            </a:pPr>
            <a:r>
              <a:t>Vérifier aussi les dates impossibles.</a:t>
            </a:r>
          </a:p>
          <a:p>
            <a:pPr marL="152400" indent="-114300">
              <a:spcAft>
                <a:spcPts val="500"/>
              </a:spcAft>
              <a:buChar char="•"/>
              <a:defRPr sz="1500" b="0">
                <a:solidFill>
                  <a:srgbClr val="000000"/>
                </a:solidFill>
                <a:latin typeface="Calibri"/>
                <a:ea typeface="Calibri"/>
                <a:cs typeface="Calibri"/>
              </a:defRPr>
            </a:pPr>
            <a:r>
              <a:t>YYYY-MM-DD permet ensuite de comparer les dates.</a:t>
            </a:r>
          </a:p>
          <a:p>
            <a:pPr marL="152400" indent="-114300">
              <a:spcAft>
                <a:spcPts val="500"/>
              </a:spcAft>
              <a:buChar char="•"/>
              <a:defRPr sz="1500" b="0">
                <a:solidFill>
                  <a:srgbClr val="000000"/>
                </a:solidFill>
                <a:latin typeface="Calibri"/>
                <a:ea typeface="Calibri"/>
                <a:cs typeface="Calibri"/>
              </a:defRPr>
            </a:pPr>
            <a:r>
              <a:t>La date locale évite un décalage lié à UTC.</a:t>
            </a:r>
          </a:p>
        </p:txBody>
      </p:sp>
    </p:spTree>
    <p:extLst>
      <p:ext uri="{BB962C8B-B14F-4D97-AF65-F5344CB8AC3E}">
        <p14:creationId xmlns:p14="http://schemas.microsoft.com/office/powerpoint/2010/main" val="28390625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11DF161-CF24-3502-9D11-228EED708A8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7B050AC-B32C-ECBF-E02B-55450D9B39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EB4A128C-09ED-7920-5206-479DB8C982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391D6050-B384-6092-1E9C-2B6BE06CE0A0}"/>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A36F008A-3D61-E9A3-C500-00F2EA1BFA78}"/>
              </a:ext>
            </a:extLst>
          </p:cNvPr>
          <p:cNvSpPr>
            <a:spLocks noGrp="1" noChangeArrowheads="1"/>
          </p:cNvSpPr>
          <p:nvPr>
            <p:ph idx="1"/>
          </p:nvPr>
        </p:nvSpPr>
        <p:spPr bwMode="auto">
          <a:xfrm>
            <a:off x="5847343" y="949357"/>
            <a:ext cx="6019138" cy="44576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Angular : $event donne accès à la saisie</a:t>
            </a:r>
          </a:p>
          <a:p>
            <a:pPr marL="0" indent="0" eaLnBrk="0" fontAlgn="base" hangingPunct="0">
              <a:lnSpc>
                <a:spcPct val="200000"/>
              </a:lnSpc>
              <a:spcBef>
                <a:spcPct val="0"/>
              </a:spcBef>
              <a:spcAft>
                <a:spcPct val="0"/>
              </a:spcAft>
              <a:buNone/>
            </a:pPr>
            <a:r>
              <a:rPr lang="fr-FR" sz="1800" b="1" dirty="0"/>
              <a:t>Événement clavier en </a:t>
            </a:r>
            <a:r>
              <a:rPr lang="fr-FR" sz="1800" b="1" dirty="0" err="1"/>
              <a:t>Angular</a:t>
            </a:r>
            <a:endParaRPr lang="fr-FR" sz="1800" b="1" dirty="0"/>
          </a:p>
          <a:p>
            <a:pPr>
              <a:lnSpc>
                <a:spcPts val="1425"/>
              </a:lnSpc>
              <a:buNone/>
            </a:pPr>
            <a:r>
              <a:rPr lang="en-US" sz="1200" b="1" dirty="0">
                <a:solidFill>
                  <a:schemeClr val="accent6">
                    <a:lumMod val="75000"/>
                  </a:schemeClr>
                </a:solidFill>
                <a:effectLst/>
                <a:latin typeface="Consolas" panose="020B0609020204030204" pitchFamily="49" charset="0"/>
              </a:rPr>
              <a:t>// Dans la classe du composant (app.ts)</a:t>
            </a:r>
          </a:p>
          <a:p>
            <a:pPr>
              <a:lnSpc>
                <a:spcPts val="1425"/>
              </a:lnSpc>
              <a:buNone/>
            </a:pPr>
            <a:r>
              <a:rPr lang="fr-FR" sz="1200" b="1" dirty="0" err="1">
                <a:effectLst/>
                <a:latin typeface="Consolas" panose="020B0609020204030204" pitchFamily="49" charset="0"/>
              </a:rPr>
              <a:t>onKey</a:t>
            </a:r>
            <a:r>
              <a:rPr lang="fr-FR" sz="1200" b="1" dirty="0">
                <a:solidFill>
                  <a:srgbClr val="344054"/>
                </a:solidFill>
                <a:effectLst/>
                <a:latin typeface="Consolas" panose="020B0609020204030204" pitchFamily="49" charset="0"/>
              </a:rPr>
              <a:t>(</a:t>
            </a:r>
            <a:r>
              <a:rPr lang="fr-FR" sz="1200" b="1" dirty="0" err="1">
                <a:solidFill>
                  <a:srgbClr val="005A9C"/>
                </a:solidFill>
                <a:effectLst/>
                <a:latin typeface="Consolas" panose="020B0609020204030204" pitchFamily="49" charset="0"/>
              </a:rPr>
              <a:t>event</a:t>
            </a:r>
            <a:r>
              <a:rPr lang="fr-FR" sz="1200" b="1" dirty="0">
                <a:solidFill>
                  <a:srgbClr val="344054"/>
                </a:solidFill>
                <a:effectLst/>
                <a:latin typeface="Consolas" panose="020B0609020204030204" pitchFamily="49" charset="0"/>
              </a:rPr>
              <a:t>: </a:t>
            </a:r>
            <a:r>
              <a:rPr lang="fr-FR" sz="1200" b="1" dirty="0" err="1">
                <a:solidFill>
                  <a:srgbClr val="007A68"/>
                </a:solidFill>
                <a:effectLst/>
                <a:latin typeface="Consolas" panose="020B0609020204030204" pitchFamily="49" charset="0"/>
              </a:rPr>
              <a:t>KeyboardEvent</a:t>
            </a:r>
            <a:r>
              <a:rPr lang="fr-FR" sz="1200" b="1" dirty="0">
                <a:solidFill>
                  <a:srgbClr val="344054"/>
                </a:solidFill>
                <a:effectLst/>
                <a:latin typeface="Consolas" panose="020B0609020204030204" pitchFamily="49" charset="0"/>
              </a:rPr>
              <a:t>) {</a:t>
            </a:r>
          </a:p>
          <a:p>
            <a:pPr>
              <a:lnSpc>
                <a:spcPts val="1425"/>
              </a:lnSpc>
              <a:buNone/>
            </a:pPr>
            <a:r>
              <a:rPr lang="fr-FR" sz="1200" b="1" dirty="0">
                <a:solidFill>
                  <a:srgbClr val="344054"/>
                </a:solidFill>
                <a:effectLst/>
                <a:latin typeface="Consolas" panose="020B0609020204030204" pitchFamily="49" charset="0"/>
              </a:rPr>
              <a:t>  </a:t>
            </a:r>
            <a:r>
              <a:rPr lang="fr-FR" sz="1200" b="1" dirty="0">
                <a:solidFill>
                  <a:srgbClr val="005A9C"/>
                </a:solidFill>
                <a:effectLst/>
                <a:latin typeface="Consolas" panose="020B0609020204030204" pitchFamily="49" charset="0"/>
              </a:rPr>
              <a:t>console</a:t>
            </a:r>
            <a:r>
              <a:rPr lang="fr-FR" sz="1200" b="1" dirty="0">
                <a:solidFill>
                  <a:srgbClr val="344054"/>
                </a:solidFill>
                <a:effectLst/>
                <a:latin typeface="Consolas" panose="020B0609020204030204" pitchFamily="49" charset="0"/>
              </a:rPr>
              <a:t>.</a:t>
            </a:r>
            <a:r>
              <a:rPr lang="fr-FR" sz="1200" b="1" dirty="0">
                <a:effectLst/>
                <a:latin typeface="Consolas" panose="020B0609020204030204" pitchFamily="49" charset="0"/>
              </a:rPr>
              <a:t>log</a:t>
            </a:r>
            <a:r>
              <a:rPr lang="fr-FR" sz="1200" b="1" dirty="0">
                <a:solidFill>
                  <a:srgbClr val="344054"/>
                </a:solidFill>
                <a:effectLst/>
                <a:latin typeface="Consolas" panose="020B0609020204030204" pitchFamily="49" charset="0"/>
              </a:rPr>
              <a:t>((</a:t>
            </a:r>
            <a:r>
              <a:rPr lang="fr-FR" sz="1200" b="1" dirty="0" err="1">
                <a:solidFill>
                  <a:srgbClr val="005A9C"/>
                </a:solidFill>
                <a:effectLst/>
                <a:latin typeface="Consolas" panose="020B0609020204030204" pitchFamily="49" charset="0"/>
              </a:rPr>
              <a:t>event</a:t>
            </a:r>
            <a:r>
              <a:rPr lang="fr-FR" sz="1200" b="1" dirty="0" err="1">
                <a:solidFill>
                  <a:srgbClr val="344054"/>
                </a:solidFill>
                <a:effectLst/>
                <a:latin typeface="Consolas" panose="020B0609020204030204" pitchFamily="49" charset="0"/>
              </a:rPr>
              <a:t>.</a:t>
            </a:r>
            <a:r>
              <a:rPr lang="fr-FR" sz="1200" b="1" dirty="0" err="1">
                <a:solidFill>
                  <a:srgbClr val="006FAB"/>
                </a:solidFill>
                <a:effectLst/>
                <a:latin typeface="Consolas" panose="020B0609020204030204" pitchFamily="49" charset="0"/>
              </a:rPr>
              <a:t>target</a:t>
            </a:r>
            <a:r>
              <a:rPr lang="fr-FR" sz="1200" b="1" dirty="0">
                <a:solidFill>
                  <a:srgbClr val="344054"/>
                </a:solidFill>
                <a:effectLst/>
                <a:latin typeface="Consolas" panose="020B0609020204030204" pitchFamily="49" charset="0"/>
              </a:rPr>
              <a:t> </a:t>
            </a:r>
            <a:r>
              <a:rPr lang="fr-FR" sz="1200" b="1" dirty="0">
                <a:solidFill>
                  <a:srgbClr val="814193"/>
                </a:solidFill>
                <a:effectLst/>
                <a:latin typeface="Consolas" panose="020B0609020204030204" pitchFamily="49" charset="0"/>
              </a:rPr>
              <a:t>as</a:t>
            </a:r>
            <a:r>
              <a:rPr lang="fr-FR" sz="1200" b="1" dirty="0">
                <a:solidFill>
                  <a:srgbClr val="344054"/>
                </a:solidFill>
                <a:effectLst/>
                <a:latin typeface="Consolas" panose="020B0609020204030204" pitchFamily="49" charset="0"/>
              </a:rPr>
              <a:t> </a:t>
            </a:r>
            <a:r>
              <a:rPr lang="fr-FR" sz="1200" b="1" dirty="0" err="1">
                <a:solidFill>
                  <a:srgbClr val="007A68"/>
                </a:solidFill>
                <a:effectLst/>
                <a:latin typeface="Consolas" panose="020B0609020204030204" pitchFamily="49" charset="0"/>
              </a:rPr>
              <a:t>HTMLInputElement</a:t>
            </a:r>
            <a:r>
              <a:rPr lang="fr-FR" sz="1200" b="1" dirty="0">
                <a:solidFill>
                  <a:srgbClr val="344054"/>
                </a:solidFill>
                <a:effectLst/>
                <a:latin typeface="Consolas" panose="020B0609020204030204" pitchFamily="49" charset="0"/>
              </a:rPr>
              <a:t>).</a:t>
            </a:r>
            <a:r>
              <a:rPr lang="fr-FR" sz="1200" b="1" dirty="0">
                <a:solidFill>
                  <a:srgbClr val="005A9C"/>
                </a:solidFill>
                <a:effectLst/>
                <a:latin typeface="Consolas" panose="020B0609020204030204" pitchFamily="49" charset="0"/>
              </a:rPr>
              <a:t>value</a:t>
            </a:r>
            <a:r>
              <a:rPr lang="fr-FR" sz="1200" b="1" dirty="0">
                <a:solidFill>
                  <a:srgbClr val="344054"/>
                </a:solidFill>
                <a:effectLst/>
                <a:latin typeface="Consolas" panose="020B0609020204030204" pitchFamily="49" charset="0"/>
              </a:rPr>
              <a:t>);</a:t>
            </a:r>
          </a:p>
          <a:p>
            <a:pPr>
              <a:lnSpc>
                <a:spcPts val="1425"/>
              </a:lnSpc>
              <a:buNone/>
            </a:pPr>
            <a:r>
              <a:rPr lang="fr-FR" sz="1200" b="1" dirty="0">
                <a:solidFill>
                  <a:srgbClr val="344054"/>
                </a:solidFill>
                <a:effectLst/>
                <a:latin typeface="Consolas" panose="020B0609020204030204" pitchFamily="49" charset="0"/>
              </a:rPr>
              <a:t>}</a:t>
            </a:r>
          </a:p>
          <a:p>
            <a:pPr>
              <a:lnSpc>
                <a:spcPts val="1425"/>
              </a:lnSpc>
              <a:buNone/>
            </a:pPr>
            <a:r>
              <a:rPr lang="en-US" sz="1200" b="1" dirty="0">
                <a:solidFill>
                  <a:schemeClr val="accent6">
                    <a:lumMod val="75000"/>
                  </a:schemeClr>
                </a:solidFill>
                <a:latin typeface="Consolas" panose="020B0609020204030204" pitchFamily="49" charset="0"/>
              </a:rPr>
              <a:t>// Dans le template (app.html)</a:t>
            </a:r>
          </a:p>
          <a:p>
            <a:pPr>
              <a:lnSpc>
                <a:spcPts val="1425"/>
              </a:lnSpc>
              <a:buNone/>
            </a:pPr>
            <a:r>
              <a:rPr lang="fr-FR" sz="1200" b="1" dirty="0">
                <a:solidFill>
                  <a:srgbClr val="475467"/>
                </a:solidFill>
                <a:effectLst/>
                <a:latin typeface="Consolas" panose="020B0609020204030204" pitchFamily="49" charset="0"/>
              </a:rPr>
              <a:t>&lt;</a:t>
            </a:r>
            <a:r>
              <a:rPr lang="fr-FR" sz="1200" b="1" dirty="0">
                <a:solidFill>
                  <a:srgbClr val="1967B3"/>
                </a:solidFill>
                <a:effectLst/>
                <a:latin typeface="Consolas" panose="020B0609020204030204" pitchFamily="49" charset="0"/>
              </a:rPr>
              <a:t>input</a:t>
            </a:r>
            <a:r>
              <a:rPr lang="fr-FR" sz="1200" b="1" dirty="0">
                <a:solidFill>
                  <a:srgbClr val="344054"/>
                </a:solidFill>
                <a:effectLst/>
                <a:latin typeface="Consolas" panose="020B0609020204030204" pitchFamily="49" charset="0"/>
              </a:rPr>
              <a:t> </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keyup</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onKey</a:t>
            </a:r>
            <a:r>
              <a:rPr lang="fr-FR" sz="1200" b="1" dirty="0">
                <a:solidFill>
                  <a:srgbClr val="F44747"/>
                </a:solidFill>
                <a:effectLst/>
                <a:latin typeface="Consolas" panose="020B0609020204030204" pitchFamily="49" charset="0"/>
              </a:rPr>
              <a:t>($</a:t>
            </a:r>
            <a:r>
              <a:rPr lang="fr-FR" sz="1200" b="1" dirty="0" err="1">
                <a:solidFill>
                  <a:srgbClr val="F44747"/>
                </a:solidFill>
                <a:effectLst/>
                <a:latin typeface="Consolas" panose="020B0609020204030204" pitchFamily="49" charset="0"/>
              </a:rPr>
              <a:t>event</a:t>
            </a:r>
            <a:r>
              <a:rPr lang="fr-FR" sz="1200" b="1" dirty="0">
                <a:solidFill>
                  <a:srgbClr val="F44747"/>
                </a:solidFill>
                <a:effectLst/>
                <a:latin typeface="Consolas" panose="020B0609020204030204" pitchFamily="49" charset="0"/>
              </a:rPr>
              <a:t>)"</a:t>
            </a:r>
            <a:r>
              <a:rPr lang="fr-FR" sz="1200" b="1" dirty="0">
                <a:solidFill>
                  <a:srgbClr val="344054"/>
                </a:solidFill>
                <a:effectLst/>
                <a:latin typeface="Consolas" panose="020B0609020204030204" pitchFamily="49" charset="0"/>
              </a:rPr>
              <a:t> </a:t>
            </a:r>
            <a:r>
              <a:rPr lang="fr-FR" sz="1200" b="1" dirty="0">
                <a:solidFill>
                  <a:srgbClr val="475467"/>
                </a:solidFill>
                <a:effectLst/>
                <a:latin typeface="Consolas" panose="020B0609020204030204" pitchFamily="49" charset="0"/>
              </a:rPr>
              <a:t>/&gt;</a:t>
            </a:r>
            <a:endParaRPr lang="fr-FR" sz="1200" b="1" dirty="0">
              <a:solidFill>
                <a:srgbClr val="344054"/>
              </a:solidFill>
              <a:effectLst/>
              <a:latin typeface="Consolas" panose="020B0609020204030204" pitchFamily="49" charset="0"/>
            </a:endParaRPr>
          </a:p>
          <a:p>
            <a:pPr>
              <a:lnSpc>
                <a:spcPts val="1425"/>
              </a:lnSpc>
              <a:buNone/>
            </a:pPr>
            <a:br>
              <a:rPr lang="fr-FR" sz="1000" b="0" dirty="0">
                <a:solidFill>
                  <a:srgbClr val="344054"/>
                </a:solidFill>
                <a:effectLst/>
                <a:latin typeface="Consolas" panose="020B0609020204030204" pitchFamily="49" charset="0"/>
              </a:rPr>
            </a:br>
            <a:endParaRPr lang="fr-FR" sz="1000" b="0" dirty="0">
              <a:solidFill>
                <a:srgbClr val="344054"/>
              </a:solidFill>
              <a:effectLst/>
              <a:latin typeface="Consolas" panose="020B0609020204030204" pitchFamily="49" charset="0"/>
            </a:endParaRPr>
          </a:p>
          <a:p>
            <a:pPr>
              <a:lnSpc>
                <a:spcPts val="1425"/>
              </a:lnSpc>
              <a:buNone/>
            </a:pPr>
            <a:endParaRPr lang="fr-FR" sz="1200" b="1" dirty="0">
              <a:solidFill>
                <a:srgbClr val="344054"/>
              </a:solidFill>
              <a:effectLst/>
              <a:latin typeface="Consolas" panose="020B0609020204030204" pitchFamily="49" charset="0"/>
            </a:endParaRPr>
          </a:p>
          <a:p>
            <a:pPr marL="285750" lvl="0" indent="-285750">
              <a:lnSpc>
                <a:spcPct val="100000"/>
              </a:lnSpc>
              <a:spcBef>
                <a:spcPts val="0"/>
              </a:spcBef>
              <a:defRPr/>
            </a:pPr>
            <a:r>
              <a:rPr lang="fr-FR" sz="1400" dirty="0">
                <a:solidFill>
                  <a:prstClr val="black"/>
                </a:solidFill>
              </a:rPr>
              <a:t>(keyup) lit la valeur après la frappe ; (keydown) précède la mise à jour.</a:t>
            </a:r>
          </a:p>
          <a:p>
            <a:pPr marL="285750" lvl="0" indent="-285750">
              <a:lnSpc>
                <a:spcPct val="100000"/>
              </a:lnSpc>
              <a:spcBef>
                <a:spcPts val="0"/>
              </a:spcBef>
              <a:defRPr/>
            </a:pPr>
            <a:r>
              <a:rPr lang="fr-FR" sz="1400" b="1" dirty="0">
                <a:solidFill>
                  <a:prstClr val="black"/>
                </a:solidFill>
              </a:rPr>
              <a:t>$event transmet l’événement clavier au gestionnaire.</a:t>
            </a:r>
          </a:p>
        </p:txBody>
      </p:sp>
      <p:sp>
        <p:nvSpPr>
          <p:cNvPr id="3" name="Espace réservé du numéro de diapositive 2">
            <a:extLst>
              <a:ext uri="{FF2B5EF4-FFF2-40B4-BE49-F238E27FC236}">
                <a16:creationId xmlns:a16="http://schemas.microsoft.com/office/drawing/2014/main" id="{D6AE21AF-6091-BDE3-E3E3-F4F03933FB46}"/>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78889617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5C83573-4779-447E-68A1-C9E78BB52914}"/>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5644F2C-EBA5-7630-E388-2B2E5BEE78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8A2F1616-1F5A-3689-1C95-E720F1C793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FB66739-F880-9499-BD4B-6CCD55364757}"/>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Gestion des évènements</a:t>
            </a:r>
            <a:endParaRPr lang="fr-FR" sz="5400" noProof="0" dirty="0">
              <a:solidFill>
                <a:srgbClr val="FFFFFF"/>
              </a:solidFill>
            </a:endParaRPr>
          </a:p>
        </p:txBody>
      </p:sp>
      <p:sp>
        <p:nvSpPr>
          <p:cNvPr id="4" name="Rectangle 1">
            <a:extLst>
              <a:ext uri="{FF2B5EF4-FFF2-40B4-BE49-F238E27FC236}">
                <a16:creationId xmlns:a16="http://schemas.microsoft.com/office/drawing/2014/main" id="{FEF26058-644F-EA89-0885-D42A701A6B6D}"/>
              </a:ext>
            </a:extLst>
          </p:cNvPr>
          <p:cNvSpPr>
            <a:spLocks noGrp="1" noChangeArrowheads="1"/>
          </p:cNvSpPr>
          <p:nvPr>
            <p:ph idx="1"/>
          </p:nvPr>
        </p:nvSpPr>
        <p:spPr bwMode="auto">
          <a:xfrm>
            <a:off x="6094476" y="393128"/>
            <a:ext cx="6019138" cy="588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Deux syntaxes, un même principe</a:t>
            </a:r>
          </a:p>
          <a:p>
            <a:pPr marL="0" indent="0" eaLnBrk="0" fontAlgn="base" hangingPunct="0">
              <a:lnSpc>
                <a:spcPct val="200000"/>
              </a:lnSpc>
              <a:spcBef>
                <a:spcPct val="0"/>
              </a:spcBef>
              <a:spcAft>
                <a:spcPct val="0"/>
              </a:spcAft>
              <a:buNone/>
            </a:pPr>
            <a:r>
              <a:rPr lang="fr-FR" sz="1800" b="1" dirty="0"/>
              <a:t>Concepts communs </a:t>
            </a:r>
            <a:r>
              <a:rPr lang="fr-FR" sz="1800" b="1" dirty="0" err="1"/>
              <a:t>React</a:t>
            </a:r>
            <a:r>
              <a:rPr lang="fr-FR" sz="1800" b="1" dirty="0"/>
              <a:t> / </a:t>
            </a:r>
            <a:r>
              <a:rPr lang="fr-FR" sz="1800" b="1" dirty="0" err="1"/>
              <a:t>Angular</a:t>
            </a:r>
            <a:endParaRPr lang="fr-FR" sz="1800" b="0" dirty="0">
              <a:solidFill>
                <a:srgbClr val="CCCCCC"/>
              </a:solidFill>
              <a:effectLst/>
              <a:latin typeface="Consolas" panose="020B0609020204030204" pitchFamily="49" charset="0"/>
            </a:endParaRPr>
          </a:p>
          <a:p>
            <a:r>
              <a:rPr lang="fr-FR" sz="1400" b="1" dirty="0"/>
              <a:t>Clics</a:t>
            </a:r>
            <a:r>
              <a:rPr lang="fr-FR" sz="1400" dirty="0"/>
              <a:t> : exécutent une fonction.</a:t>
            </a:r>
          </a:p>
          <a:p>
            <a:r>
              <a:rPr lang="fr-FR" sz="1400" b="1" dirty="0"/>
              <a:t>Formulaires</a:t>
            </a:r>
            <a:r>
              <a:rPr lang="fr-FR" sz="1400" dirty="0"/>
              <a:t> : soumis via un événement (</a:t>
            </a:r>
            <a:r>
              <a:rPr lang="fr-FR" sz="1400" b="1" i="1" dirty="0" err="1"/>
              <a:t>onSubmit</a:t>
            </a:r>
            <a:r>
              <a:rPr lang="fr-FR" sz="1400" dirty="0"/>
              <a:t> / (</a:t>
            </a:r>
            <a:r>
              <a:rPr lang="fr-FR" sz="1400" b="1" i="1" dirty="0" err="1"/>
              <a:t>ngSubmit</a:t>
            </a:r>
            <a:r>
              <a:rPr lang="fr-FR" sz="1400" dirty="0"/>
              <a:t>)).</a:t>
            </a:r>
          </a:p>
          <a:p>
            <a:r>
              <a:rPr lang="fr-FR" sz="1400" b="1" dirty="0"/>
              <a:t>Clavier :</a:t>
            </a:r>
            <a:r>
              <a:rPr lang="fr-FR" sz="1400" b="0" dirty="0"/>
              <a:t> onKeyDown (React) ou (keyup) (Angular) ; onChange suit la valeur.</a:t>
            </a:r>
          </a:p>
          <a:p>
            <a:r>
              <a:rPr lang="fr-FR" sz="1400" b="1" dirty="0"/>
              <a:t>Événement :</a:t>
            </a:r>
            <a:r>
              <a:rPr lang="fr-FR" sz="1400" b="0" dirty="0"/>
              <a:t> e en React ou $event en Angular, passé au gestionnaire.</a:t>
            </a:r>
          </a:p>
          <a:p>
            <a:endParaRPr kumimoji="0" lang="fr-FR" altLang="fr-FR" sz="1400" i="0" u="none" strike="noStrike" cap="none" normalizeH="0" baseline="0" dirty="0">
              <a:ln>
                <a:noFill/>
              </a:ln>
              <a:solidFill>
                <a:schemeClr val="tx1"/>
              </a:solidFill>
              <a:effectLst/>
              <a:latin typeface="Arial" panose="020B0604020202020204" pitchFamily="34"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a:p>
            <a:pPr marL="0" indent="0">
              <a:buNone/>
            </a:pPr>
            <a:r>
              <a:rPr lang="fr-FR" sz="1800" b="1" dirty="0"/>
              <a:t>Différences clés</a:t>
            </a:r>
          </a:p>
          <a:p>
            <a:r>
              <a:rPr lang="fr-FR" sz="1400" b="1" dirty="0" err="1"/>
              <a:t>React</a:t>
            </a:r>
            <a:endParaRPr lang="fr-FR" sz="1400" b="1" dirty="0"/>
          </a:p>
          <a:p>
            <a:pPr lvl="1"/>
            <a:r>
              <a:rPr lang="fr-FR" sz="1400" dirty="0"/>
              <a:t>Syntaxe en </a:t>
            </a:r>
            <a:r>
              <a:rPr lang="fr-FR" sz="1400" dirty="0" err="1"/>
              <a:t>camelCase</a:t>
            </a:r>
            <a:r>
              <a:rPr lang="fr-FR" sz="1400" dirty="0"/>
              <a:t> (</a:t>
            </a:r>
            <a:r>
              <a:rPr lang="fr-FR" sz="1400" b="1" i="1" dirty="0" err="1"/>
              <a:t>onClick</a:t>
            </a:r>
            <a:r>
              <a:rPr lang="fr-FR" sz="1400" b="1" i="1" dirty="0"/>
              <a:t>, </a:t>
            </a:r>
            <a:r>
              <a:rPr lang="fr-FR" sz="1400" b="1" i="1" dirty="0" err="1"/>
              <a:t>onSubmit</a:t>
            </a:r>
            <a:r>
              <a:rPr lang="fr-FR" sz="1400" dirty="0"/>
              <a:t>).</a:t>
            </a:r>
          </a:p>
          <a:p>
            <a:pPr lvl="1"/>
            <a:r>
              <a:rPr lang="fr-FR" sz="1400" b="0" dirty="0"/>
              <a:t>Champ contrôlé : useState et onChange synchronisent la saisie.</a:t>
            </a:r>
          </a:p>
          <a:p>
            <a:pPr lvl="1"/>
            <a:r>
              <a:rPr lang="fr-FR" sz="1400" b="0" dirty="0"/>
              <a:t>Handlers définis en JS et associés aux éléments JSX.</a:t>
            </a:r>
          </a:p>
          <a:p>
            <a:r>
              <a:rPr lang="fr-FR" sz="1400" b="1" dirty="0" err="1"/>
              <a:t>Angular</a:t>
            </a:r>
            <a:endParaRPr lang="fr-FR" sz="1400" b="1" dirty="0"/>
          </a:p>
          <a:p>
            <a:pPr lvl="1"/>
            <a:r>
              <a:rPr lang="fr-FR" sz="1400" dirty="0"/>
              <a:t>Syntaxe (</a:t>
            </a:r>
            <a:r>
              <a:rPr lang="fr-FR" sz="1400" dirty="0" err="1"/>
              <a:t>event</a:t>
            </a:r>
            <a:r>
              <a:rPr lang="fr-FR" sz="1400" dirty="0"/>
              <a:t>)="handler()".</a:t>
            </a:r>
          </a:p>
          <a:p>
            <a:pPr lvl="1"/>
            <a:r>
              <a:rPr lang="fr-FR" sz="1400" b="0" dirty="0" err="1"/>
              <a:t>ngModel facilite la saisie bidirectionnelle (FormsModule).</a:t>
            </a:r>
          </a:p>
          <a:p>
            <a:pPr lvl="1"/>
            <a:r>
              <a:rPr lang="fr-FR" sz="1400" dirty="0"/>
              <a:t>Séparation </a:t>
            </a:r>
            <a:r>
              <a:rPr lang="fr-FR" sz="1400" b="1" dirty="0"/>
              <a:t>claire HTML (</a:t>
            </a:r>
            <a:r>
              <a:rPr lang="fr-FR" sz="1400" b="1" dirty="0" err="1"/>
              <a:t>template</a:t>
            </a:r>
            <a:r>
              <a:rPr lang="fr-FR" sz="1400" b="1" dirty="0"/>
              <a:t>)</a:t>
            </a:r>
            <a:r>
              <a:rPr lang="fr-FR" sz="1400" dirty="0"/>
              <a:t> et </a:t>
            </a:r>
            <a:r>
              <a:rPr lang="fr-FR" sz="1400" b="1" dirty="0"/>
              <a:t>TS (logique).</a:t>
            </a:r>
            <a:endParaRPr kumimoji="0" lang="fr-FR" altLang="fr-FR" sz="2400" b="1"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B385A825-E7E6-998D-81CB-966F889DB0F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3814934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3637E18-5636-5B35-98C1-0A6D34484D5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CC06197-114C-F5C7-E301-87A5D9D865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F5131C7-8FD8-A861-F9A1-9B14142E23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CDFA156-6B0E-5390-5E02-28BC910BF413}"/>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4" name="Rectangle 1">
            <a:extLst>
              <a:ext uri="{FF2B5EF4-FFF2-40B4-BE49-F238E27FC236}">
                <a16:creationId xmlns:a16="http://schemas.microsoft.com/office/drawing/2014/main" id="{6452CC22-9391-F0E8-F674-F48182CAB066}"/>
              </a:ext>
            </a:extLst>
          </p:cNvPr>
          <p:cNvSpPr>
            <a:spLocks noGrp="1" noChangeArrowheads="1"/>
          </p:cNvSpPr>
          <p:nvPr>
            <p:ph idx="1"/>
          </p:nvPr>
        </p:nvSpPr>
        <p:spPr bwMode="auto">
          <a:xfrm>
            <a:off x="5919907" y="1021070"/>
            <a:ext cx="6116921" cy="44822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Des données reliées à l’interface</a:t>
            </a:r>
          </a:p>
          <a:p>
            <a:pPr marL="0" indent="0" eaLnBrk="0" fontAlgn="base" hangingPunct="0">
              <a:lnSpc>
                <a:spcPct val="200000"/>
              </a:lnSpc>
              <a:spcBef>
                <a:spcPct val="0"/>
              </a:spcBef>
              <a:spcAft>
                <a:spcPct val="0"/>
              </a:spcAft>
              <a:buNone/>
            </a:pPr>
            <a:r>
              <a:rPr lang="fr-FR" sz="1800" b="1" dirty="0"/>
              <a:t>Introduction à la liaison de données</a:t>
            </a:r>
            <a:endParaRPr lang="fr-FR" sz="1800" b="1" dirty="0">
              <a:solidFill>
                <a:srgbClr val="CCCCCC"/>
              </a:solidFill>
              <a:effectLst/>
              <a:latin typeface="Consolas" panose="020B0609020204030204" pitchFamily="49" charset="0"/>
            </a:endParaRPr>
          </a:p>
          <a:p>
            <a:pPr>
              <a:lnSpc>
                <a:spcPct val="150000"/>
              </a:lnSpc>
            </a:pPr>
            <a:r>
              <a:rPr lang="fr-FR" sz="1400" b="1" dirty="0"/>
              <a:t>La liaison de données</a:t>
            </a:r>
            <a:r>
              <a:rPr lang="fr-FR" sz="1400" b="0" dirty="0"/>
              <a:t> relie le code (JS/TS) à la vue (HTML/JSX).</a:t>
            </a:r>
          </a:p>
          <a:p>
            <a:pPr>
              <a:lnSpc>
                <a:spcPct val="150000"/>
              </a:lnSpc>
            </a:pPr>
            <a:r>
              <a:rPr lang="fr-FR" sz="1400" b="1" dirty="0"/>
              <a:t>Deux grands types :</a:t>
            </a:r>
          </a:p>
          <a:p>
            <a:pPr lvl="1">
              <a:lnSpc>
                <a:spcPct val="150000"/>
              </a:lnSpc>
            </a:pPr>
            <a:r>
              <a:rPr lang="fr-FR" sz="1400" b="1" dirty="0"/>
              <a:t>One-way binding</a:t>
            </a:r>
            <a:r>
              <a:rPr lang="fr-FR" sz="1400" b="0" dirty="0"/>
              <a:t> → une liaison transmet les données dans un sens à la fois.</a:t>
            </a:r>
          </a:p>
          <a:p>
            <a:pPr lvl="1">
              <a:lnSpc>
                <a:spcPct val="150000"/>
              </a:lnSpc>
            </a:pPr>
            <a:r>
              <a:rPr lang="fr-FR" sz="1400" b="1" dirty="0" err="1"/>
              <a:t>Two-way binding</a:t>
            </a:r>
            <a:r>
              <a:rPr lang="fr-FR" sz="1400" b="0" dirty="0" err="1"/>
              <a:t> → le code et le champ restent synchronisés.</a:t>
            </a:r>
          </a:p>
          <a:p>
            <a:pPr>
              <a:lnSpc>
                <a:spcPct val="150000"/>
              </a:lnSpc>
            </a:pPr>
            <a:r>
              <a:rPr lang="fr-FR" sz="1400" dirty="0" err="1"/>
              <a:t>React</a:t>
            </a:r>
            <a:r>
              <a:rPr lang="fr-FR" sz="1400" dirty="0"/>
              <a:t> et </a:t>
            </a:r>
            <a:r>
              <a:rPr lang="fr-FR" sz="1400" dirty="0" err="1"/>
              <a:t>Angular</a:t>
            </a:r>
            <a:r>
              <a:rPr lang="fr-FR" sz="1400" dirty="0"/>
              <a:t> proposent des approches différentes.</a:t>
            </a:r>
            <a:endParaRPr kumimoji="0" lang="fr-FR" altLang="fr-FR" sz="1400" i="0" u="none" strike="noStrike" cap="none" normalizeH="0" baseline="0" dirty="0">
              <a:ln>
                <a:noFill/>
              </a:ln>
              <a:solidFill>
                <a:schemeClr val="tx1"/>
              </a:solidFill>
              <a:effectLst/>
              <a:latin typeface="Arial" panose="020B0604020202020204" pitchFamily="34"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358D6D9D-8000-C972-6839-E66495E37899}"/>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2235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768CFC-831A-080D-18EA-F4975323F638}"/>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46B2DF64-6986-C213-FE09-E1CD7B2EB3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540C6EF3-DF46-AAC7-EAC1-69DA6ADF9C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6C637E3-97F2-5118-257F-62DA86C15DC1}"/>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4" name="Rectangle 1">
            <a:extLst>
              <a:ext uri="{FF2B5EF4-FFF2-40B4-BE49-F238E27FC236}">
                <a16:creationId xmlns:a16="http://schemas.microsoft.com/office/drawing/2014/main" id="{B30C8088-6E08-3E2F-F15C-B7B5D3E997CF}"/>
              </a:ext>
            </a:extLst>
          </p:cNvPr>
          <p:cNvSpPr>
            <a:spLocks noGrp="1" noChangeArrowheads="1"/>
          </p:cNvSpPr>
          <p:nvPr>
            <p:ph idx="1"/>
          </p:nvPr>
        </p:nvSpPr>
        <p:spPr bwMode="auto">
          <a:xfrm>
            <a:off x="6013842" y="136525"/>
            <a:ext cx="6116921" cy="46566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React : les props descendent</a:t>
            </a:r>
          </a:p>
          <a:p>
            <a:pPr marL="0" indent="0" eaLnBrk="0" fontAlgn="base" hangingPunct="0">
              <a:lnSpc>
                <a:spcPct val="200000"/>
              </a:lnSpc>
              <a:spcBef>
                <a:spcPct val="0"/>
              </a:spcBef>
              <a:spcAft>
                <a:spcPct val="0"/>
              </a:spcAft>
              <a:buNone/>
            </a:pPr>
            <a:r>
              <a:rPr lang="fr-FR" sz="1800" b="1" dirty="0"/>
              <a:t>Un flux de données descendant</a:t>
            </a:r>
            <a:endParaRPr lang="fr-FR" sz="1800" b="1" dirty="0">
              <a:solidFill>
                <a:srgbClr val="344054"/>
              </a:solidFill>
              <a:effectLst/>
              <a:latin typeface="Consolas" panose="020B0609020204030204" pitchFamily="49" charset="0"/>
            </a:endParaRPr>
          </a:p>
          <a:p>
            <a:pPr>
              <a:lnSpc>
                <a:spcPts val="1425"/>
              </a:lnSpc>
              <a:buNone/>
            </a:pPr>
            <a:r>
              <a:rPr lang="en-US" sz="1400" b="1" dirty="0">
                <a:solidFill>
                  <a:srgbClr val="1967B3"/>
                </a:solidFill>
                <a:effectLst/>
                <a:latin typeface="Consolas" panose="020B0609020204030204" pitchFamily="49" charset="0"/>
              </a:rPr>
              <a:t>function Greeting({ name }) {</a:t>
            </a:r>
          </a:p>
          <a:p>
            <a:pPr>
              <a:lnSpc>
                <a:spcPts val="1425"/>
              </a:lnSpc>
              <a:buNone/>
            </a:pPr>
            <a:r>
              <a:rPr lang="en-US" sz="1400" b="1" dirty="0">
                <a:solidFill>
                  <a:srgbClr val="344054"/>
                </a:solidFill>
                <a:effectLst/>
                <a:latin typeface="Consolas" panose="020B0609020204030204" pitchFamily="49" charset="0"/>
              </a:rPr>
              <a:t>  return &lt;h1&gt;Bonjour {name}&lt;/h1&gt;;</a:t>
            </a:r>
          </a:p>
          <a:p>
            <a:pPr>
              <a:lnSpc>
                <a:spcPts val="1425"/>
              </a:lnSpc>
              <a:buNone/>
            </a:pPr>
            <a:r>
              <a:rPr lang="en-US" sz="1400" b="1" dirty="0">
                <a:solidFill>
                  <a:srgbClr val="344054"/>
                </a:solidFill>
                <a:effectLst/>
                <a:latin typeface="Consolas" panose="020B0609020204030204" pitchFamily="49" charset="0"/>
              </a:rPr>
              <a:t>}</a:t>
            </a:r>
          </a:p>
          <a:p>
            <a:pPr>
              <a:lnSpc>
                <a:spcPts val="1425"/>
              </a:lnSpc>
              <a:buNone/>
            </a:pPr>
            <a:r>
              <a:rPr lang="en-US" sz="1400" b="1" dirty="0">
                <a:solidFill>
                  <a:srgbClr val="344054"/>
                </a:solidFill>
                <a:effectLst/>
                <a:latin typeface="Consolas" panose="020B0609020204030204" pitchFamily="49" charset="0"/>
              </a:rPr>
              <a:t>function App() { return &lt;Greeting name="Alice" /&gt;; }</a:t>
            </a:r>
          </a:p>
          <a:p>
            <a:pPr>
              <a:lnSpc>
                <a:spcPts val="1425"/>
              </a:lnSpc>
              <a:buNone/>
            </a:pPr>
            <a:endParaRPr lang="en-US" sz="1400" b="1" dirty="0">
              <a:solidFill>
                <a:srgbClr val="344054"/>
              </a:solidFill>
              <a:latin typeface="Consolas" panose="020B0609020204030204" pitchFamily="49" charset="0"/>
            </a:endParaRPr>
          </a:p>
          <a:p>
            <a:pPr>
              <a:lnSpc>
                <a:spcPts val="1425"/>
              </a:lnSpc>
            </a:pPr>
            <a:r>
              <a:rPr lang="fr-FR" sz="1400" dirty="0">
                <a:effectLst/>
              </a:rPr>
              <a:t>{name} affiche la prop reçue dans le JSX.</a:t>
            </a:r>
          </a:p>
          <a:p>
            <a:pPr>
              <a:lnSpc>
                <a:spcPts val="1425"/>
              </a:lnSpc>
            </a:pPr>
            <a:r>
              <a:rPr lang="fr-FR" sz="1400" dirty="0">
                <a:effectLst/>
              </a:rPr>
              <a:t>App transmet name à Greeting : parent → enfant.</a:t>
            </a:r>
          </a:p>
          <a:p>
            <a:pPr>
              <a:lnSpc>
                <a:spcPts val="1425"/>
              </a:lnSpc>
            </a:pPr>
            <a:r>
              <a:rPr lang="fr-FR" sz="1400" dirty="0">
                <a:effectLst/>
              </a:rPr>
              <a:t>Greeting reçoit une prop en lecture seule.</a:t>
            </a:r>
            <a:endParaRPr lang="en-US" sz="1400" dirty="0">
              <a:effectLst/>
            </a:endParaRPr>
          </a:p>
          <a:p>
            <a:pPr>
              <a:lnSpc>
                <a:spcPts val="1425"/>
              </a:lnSpc>
              <a:buNone/>
            </a:pPr>
            <a:br>
              <a:rPr lang="en-US" sz="1050" b="0" dirty="0">
                <a:solidFill>
                  <a:srgbClr val="344054"/>
                </a:solidFill>
                <a:effectLst/>
                <a:latin typeface="Consolas" panose="020B0609020204030204" pitchFamily="49" charset="0"/>
              </a:rPr>
            </a:br>
            <a:endParaRPr lang="en-US" sz="1050" b="0" dirty="0">
              <a:solidFill>
                <a:srgbClr val="344054"/>
              </a:solidFill>
              <a:effectLst/>
              <a:latin typeface="Consolas" panose="020B0609020204030204" pitchFamily="49"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479CEC16-2348-D5D4-F51E-96D0CAD04ED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4093294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3DEAE50-99B9-C74C-85FC-7513E85A75B5}"/>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A7367460-5060-438A-5E82-E30381D6DB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C65982C4-C091-E987-4222-2607D9A28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927E5336-4192-73E8-7850-82769A9CF9BC}"/>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4" name="Rectangle 1">
            <a:extLst>
              <a:ext uri="{FF2B5EF4-FFF2-40B4-BE49-F238E27FC236}">
                <a16:creationId xmlns:a16="http://schemas.microsoft.com/office/drawing/2014/main" id="{41C3623A-D06B-6519-7121-E1FAA55810BC}"/>
              </a:ext>
            </a:extLst>
          </p:cNvPr>
          <p:cNvSpPr>
            <a:spLocks noGrp="1" noChangeArrowheads="1"/>
          </p:cNvSpPr>
          <p:nvPr>
            <p:ph idx="1"/>
          </p:nvPr>
        </p:nvSpPr>
        <p:spPr bwMode="auto">
          <a:xfrm>
            <a:off x="5922402" y="231404"/>
            <a:ext cx="6116921" cy="612494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React : une saisie contrôlée</a:t>
            </a:r>
          </a:p>
          <a:p>
            <a:pPr marL="0" indent="0" algn="ctr" eaLnBrk="0" fontAlgn="base" hangingPunct="0">
              <a:lnSpc>
                <a:spcPct val="200000"/>
              </a:lnSpc>
              <a:spcBef>
                <a:spcPct val="0"/>
              </a:spcBef>
              <a:spcAft>
                <a:spcPct val="0"/>
              </a:spcAft>
              <a:buNone/>
            </a:pPr>
            <a:endParaRPr lang="fr-FR" altLang="fr-FR" sz="2400" dirty="0">
              <a:latin typeface="Arial" panose="020B0604020202020204" pitchFamily="34" charset="0"/>
            </a:endParaRPr>
          </a:p>
          <a:p>
            <a:pPr marL="0" indent="0" eaLnBrk="0" fontAlgn="base" hangingPunct="0">
              <a:lnSpc>
                <a:spcPct val="200000"/>
              </a:lnSpc>
              <a:spcBef>
                <a:spcPct val="0"/>
              </a:spcBef>
              <a:spcAft>
                <a:spcPct val="0"/>
              </a:spcAft>
              <a:buNone/>
            </a:pPr>
            <a:r>
              <a:rPr lang="fr-FR" sz="1800" b="1" dirty="0"/>
              <a:t>L’état pilote le champ ; onChange met l’état à jour</a:t>
            </a:r>
            <a:endParaRPr lang="fr-FR" sz="1800" b="1" dirty="0">
              <a:solidFill>
                <a:srgbClr val="344054"/>
              </a:solidFill>
              <a:effectLst/>
              <a:latin typeface="Consolas" panose="020B0609020204030204" pitchFamily="49" charset="0"/>
            </a:endParaRPr>
          </a:p>
          <a:p>
            <a:pPr>
              <a:lnSpc>
                <a:spcPts val="1425"/>
              </a:lnSpc>
              <a:buNone/>
            </a:pPr>
            <a:r>
              <a:rPr lang="fr-FR" sz="1400" b="0" dirty="0" err="1">
                <a:solidFill>
                  <a:srgbClr val="1967B3"/>
                </a:solidFill>
                <a:effectLst/>
                <a:latin typeface="Consolas" panose="020B0609020204030204" pitchFamily="49" charset="0"/>
              </a:rPr>
              <a:t>function</a:t>
            </a:r>
            <a:r>
              <a:rPr lang="fr-FR" sz="1400" b="0" dirty="0">
                <a:solidFill>
                  <a:srgbClr val="344054"/>
                </a:solidFill>
                <a:effectLst/>
                <a:latin typeface="Consolas" panose="020B0609020204030204" pitchFamily="49" charset="0"/>
              </a:rPr>
              <a:t> </a:t>
            </a:r>
            <a:r>
              <a:rPr lang="fr-FR" sz="1400" b="0" dirty="0" err="1">
                <a:effectLst/>
                <a:latin typeface="Consolas" panose="020B0609020204030204" pitchFamily="49" charset="0"/>
              </a:rPr>
              <a:t>Form</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err="1">
                <a:solidFill>
                  <a:srgbClr val="1967B3"/>
                </a:solidFill>
                <a:effectLst/>
                <a:latin typeface="Consolas" panose="020B0609020204030204" pitchFamily="49" charset="0"/>
              </a:rPr>
              <a:t>const</a:t>
            </a:r>
            <a:r>
              <a:rPr lang="fr-FR" sz="1400" b="0" dirty="0">
                <a:solidFill>
                  <a:srgbClr val="344054"/>
                </a:solidFill>
                <a:effectLst/>
                <a:latin typeface="Consolas" panose="020B0609020204030204" pitchFamily="49" charset="0"/>
              </a:rPr>
              <a:t> [</a:t>
            </a:r>
            <a:r>
              <a:rPr lang="fr-FR" sz="1400" b="0" dirty="0" err="1">
                <a:solidFill>
                  <a:srgbClr val="006FAB"/>
                </a:solidFill>
                <a:effectLst/>
                <a:latin typeface="Consolas" panose="020B0609020204030204" pitchFamily="49" charset="0"/>
              </a:rPr>
              <a:t>name</a:t>
            </a:r>
            <a:r>
              <a:rPr lang="fr-FR" sz="1400" b="0" dirty="0">
                <a:solidFill>
                  <a:srgbClr val="344054"/>
                </a:solidFill>
                <a:effectLst/>
                <a:latin typeface="Consolas" panose="020B0609020204030204" pitchFamily="49" charset="0"/>
              </a:rPr>
              <a:t>, </a:t>
            </a:r>
            <a:r>
              <a:rPr lang="fr-FR" sz="1400" b="0" dirty="0" err="1">
                <a:effectLst/>
                <a:latin typeface="Consolas" panose="020B0609020204030204" pitchFamily="49" charset="0"/>
              </a:rPr>
              <a:t>setName</a:t>
            </a:r>
            <a:r>
              <a:rPr lang="fr-FR" sz="1400" b="0" dirty="0">
                <a:solidFill>
                  <a:srgbClr val="344054"/>
                </a:solidFill>
                <a:effectLst/>
                <a:latin typeface="Consolas" panose="020B0609020204030204" pitchFamily="49" charset="0"/>
              </a:rPr>
              <a:t>] </a:t>
            </a:r>
            <a:r>
              <a:rPr lang="fr-FR" sz="1400" b="0" dirty="0">
                <a:solidFill>
                  <a:srgbClr val="475467"/>
                </a:solidFill>
                <a:effectLst/>
                <a:latin typeface="Consolas" panose="020B0609020204030204" pitchFamily="49" charset="0"/>
              </a:rPr>
              <a:t>=</a:t>
            </a:r>
            <a:r>
              <a:rPr lang="fr-FR" sz="1400" b="0" dirty="0">
                <a:solidFill>
                  <a:srgbClr val="344054"/>
                </a:solidFill>
                <a:effectLst/>
                <a:latin typeface="Consolas" panose="020B0609020204030204" pitchFamily="49" charset="0"/>
              </a:rPr>
              <a:t> </a:t>
            </a:r>
            <a:r>
              <a:rPr lang="fr-FR" sz="1400" b="0" dirty="0" err="1">
                <a:solidFill>
                  <a:srgbClr val="007A68"/>
                </a:solidFill>
                <a:effectLst/>
                <a:latin typeface="Consolas" panose="020B0609020204030204" pitchFamily="49" charset="0"/>
              </a:rPr>
              <a:t>React</a:t>
            </a:r>
            <a:r>
              <a:rPr lang="fr-FR" sz="1400" b="0" dirty="0" err="1">
                <a:solidFill>
                  <a:srgbClr val="344054"/>
                </a:solidFill>
                <a:effectLst/>
                <a:latin typeface="Consolas" panose="020B0609020204030204" pitchFamily="49" charset="0"/>
              </a:rPr>
              <a:t>.</a:t>
            </a:r>
            <a:r>
              <a:rPr lang="fr-FR" sz="1400" b="0" dirty="0" err="1">
                <a:effectLst/>
                <a:latin typeface="Consolas" panose="020B0609020204030204" pitchFamily="49" charset="0"/>
              </a:rPr>
              <a:t>useState</a:t>
            </a:r>
            <a:r>
              <a:rPr lang="fr-FR" sz="1400" b="0" dirty="0">
                <a:solidFill>
                  <a:srgbClr val="344054"/>
                </a:solidFill>
                <a:effectLst/>
                <a:latin typeface="Consolas" panose="020B0609020204030204" pitchFamily="49" charset="0"/>
              </a:rPr>
              <a:t>(</a:t>
            </a:r>
            <a:r>
              <a:rPr lang="fr-FR" sz="1400" b="0" dirty="0">
                <a:solidFill>
                  <a:srgbClr val="A64B27"/>
                </a:solidFill>
                <a:effectLst/>
                <a:latin typeface="Consolas" panose="020B0609020204030204" pitchFamily="49" charset="0"/>
              </a:rPr>
              <a:t>""</a:t>
            </a:r>
            <a:r>
              <a:rPr lang="fr-FR" sz="1400" b="0" dirty="0">
                <a:solidFill>
                  <a:srgbClr val="344054"/>
                </a:solidFill>
                <a:effectLst/>
                <a:latin typeface="Consolas" panose="020B0609020204030204" pitchFamily="49" charset="0"/>
              </a:rPr>
              <a:t>);</a:t>
            </a: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814193"/>
                </a:solidFill>
                <a:effectLst/>
                <a:latin typeface="Consolas" panose="020B0609020204030204" pitchFamily="49" charset="0"/>
              </a:rPr>
              <a:t>return</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475467"/>
                </a:solidFill>
                <a:effectLst/>
                <a:latin typeface="Consolas" panose="020B0609020204030204" pitchFamily="49" charset="0"/>
              </a:rPr>
              <a:t>&lt;</a:t>
            </a:r>
            <a:r>
              <a:rPr lang="fr-FR" sz="1400" b="0" dirty="0">
                <a:solidFill>
                  <a:srgbClr val="1967B3"/>
                </a:solidFill>
                <a:effectLst/>
                <a:latin typeface="Consolas" panose="020B0609020204030204" pitchFamily="49" charset="0"/>
              </a:rPr>
              <a:t>div</a:t>
            </a:r>
            <a:r>
              <a:rPr lang="fr-FR" sz="1400" b="0" dirty="0">
                <a:solidFill>
                  <a:srgbClr val="475467"/>
                </a:solidFill>
                <a:effectLst/>
                <a:latin typeface="Consolas" panose="020B0609020204030204" pitchFamily="49" charset="0"/>
              </a:rPr>
              <a:t>&gt;</a:t>
            </a:r>
            <a:endParaRPr lang="fr-FR" sz="1400" b="0" dirty="0">
              <a:solidFill>
                <a:srgbClr val="344054"/>
              </a:solidFill>
              <a:effectLst/>
              <a:latin typeface="Consolas" panose="020B0609020204030204" pitchFamily="49" charset="0"/>
            </a:endParaRP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475467"/>
                </a:solidFill>
                <a:effectLst/>
                <a:latin typeface="Consolas" panose="020B0609020204030204" pitchFamily="49" charset="0"/>
              </a:rPr>
              <a:t>&lt;</a:t>
            </a:r>
            <a:r>
              <a:rPr lang="fr-FR" sz="1400" b="0" dirty="0">
                <a:solidFill>
                  <a:srgbClr val="1967B3"/>
                </a:solidFill>
                <a:effectLst/>
                <a:latin typeface="Consolas" panose="020B0609020204030204" pitchFamily="49" charset="0"/>
              </a:rPr>
              <a:t>input</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005A9C"/>
                </a:solidFill>
                <a:effectLst/>
                <a:latin typeface="Consolas" panose="020B0609020204030204" pitchFamily="49" charset="0"/>
              </a:rPr>
              <a:t>type</a:t>
            </a:r>
            <a:r>
              <a:rPr lang="fr-FR" sz="1400" b="0" dirty="0">
                <a:solidFill>
                  <a:srgbClr val="475467"/>
                </a:solidFill>
                <a:effectLst/>
                <a:latin typeface="Consolas" panose="020B0609020204030204" pitchFamily="49" charset="0"/>
              </a:rPr>
              <a:t>=</a:t>
            </a:r>
            <a:r>
              <a:rPr lang="fr-FR" sz="1400" b="0" dirty="0">
                <a:solidFill>
                  <a:srgbClr val="A64B27"/>
                </a:solidFill>
                <a:effectLst/>
                <a:latin typeface="Consolas" panose="020B0609020204030204" pitchFamily="49" charset="0"/>
              </a:rPr>
              <a:t>"</a:t>
            </a:r>
            <a:r>
              <a:rPr lang="fr-FR" sz="1400" b="0" dirty="0" err="1">
                <a:solidFill>
                  <a:srgbClr val="A64B27"/>
                </a:solidFill>
                <a:effectLst/>
                <a:latin typeface="Consolas" panose="020B0609020204030204" pitchFamily="49" charset="0"/>
              </a:rPr>
              <a:t>text</a:t>
            </a:r>
            <a:r>
              <a:rPr lang="fr-FR" sz="1400" b="0" dirty="0">
                <a:solidFill>
                  <a:srgbClr val="A64B27"/>
                </a:solidFill>
                <a:effectLst/>
                <a:latin typeface="Consolas" panose="020B0609020204030204" pitchFamily="49" charset="0"/>
              </a:rPr>
              <a:t>"</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005A9C"/>
                </a:solidFill>
                <a:effectLst/>
                <a:latin typeface="Consolas" panose="020B0609020204030204" pitchFamily="49" charset="0"/>
              </a:rPr>
              <a:t>value</a:t>
            </a:r>
            <a:r>
              <a:rPr lang="fr-FR" sz="1400" b="0" dirty="0">
                <a:solidFill>
                  <a:srgbClr val="475467"/>
                </a:solidFill>
                <a:effectLst/>
                <a:latin typeface="Consolas" panose="020B0609020204030204" pitchFamily="49" charset="0"/>
              </a:rPr>
              <a:t>=</a:t>
            </a:r>
            <a:r>
              <a:rPr lang="fr-FR" sz="1400" b="0" dirty="0">
                <a:solidFill>
                  <a:srgbClr val="1967B3"/>
                </a:solidFill>
                <a:effectLst/>
                <a:latin typeface="Consolas" panose="020B0609020204030204" pitchFamily="49" charset="0"/>
              </a:rPr>
              <a:t>{</a:t>
            </a:r>
            <a:r>
              <a:rPr lang="fr-FR" sz="1400" b="0" dirty="0" err="1">
                <a:solidFill>
                  <a:srgbClr val="006FAB"/>
                </a:solidFill>
                <a:effectLst/>
                <a:latin typeface="Consolas" panose="020B0609020204030204" pitchFamily="49" charset="0"/>
              </a:rPr>
              <a:t>name</a:t>
            </a:r>
            <a:r>
              <a:rPr lang="fr-FR" sz="1400" b="0" dirty="0">
                <a:solidFill>
                  <a:srgbClr val="1967B3"/>
                </a:solidFill>
                <a:effectLst/>
                <a:latin typeface="Consolas" panose="020B0609020204030204" pitchFamily="49" charset="0"/>
              </a:rPr>
              <a:t>}</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err="1">
                <a:solidFill>
                  <a:srgbClr val="005A9C"/>
                </a:solidFill>
                <a:effectLst/>
                <a:latin typeface="Consolas" panose="020B0609020204030204" pitchFamily="49" charset="0"/>
              </a:rPr>
              <a:t>onChange</a:t>
            </a:r>
            <a:r>
              <a:rPr lang="fr-FR" sz="1400" b="0" dirty="0">
                <a:solidFill>
                  <a:srgbClr val="475467"/>
                </a:solidFill>
                <a:effectLst/>
                <a:latin typeface="Consolas" panose="020B0609020204030204" pitchFamily="49" charset="0"/>
              </a:rPr>
              <a:t>=</a:t>
            </a:r>
            <a:r>
              <a:rPr lang="fr-FR" sz="1400" b="0" dirty="0">
                <a:solidFill>
                  <a:srgbClr val="1967B3"/>
                </a:solidFill>
                <a:effectLst/>
                <a:latin typeface="Consolas" panose="020B0609020204030204" pitchFamily="49" charset="0"/>
              </a:rPr>
              <a:t>{</a:t>
            </a:r>
            <a:r>
              <a:rPr lang="fr-FR" sz="1400" b="0" dirty="0">
                <a:solidFill>
                  <a:srgbClr val="475467"/>
                </a:solidFill>
                <a:effectLst/>
                <a:latin typeface="Consolas" panose="020B0609020204030204" pitchFamily="49" charset="0"/>
              </a:rPr>
              <a:t>(</a:t>
            </a:r>
            <a:r>
              <a:rPr lang="fr-FR" sz="1400" b="0" dirty="0">
                <a:solidFill>
                  <a:srgbClr val="005A9C"/>
                </a:solidFill>
                <a:effectLst/>
                <a:latin typeface="Consolas" panose="020B0609020204030204" pitchFamily="49" charset="0"/>
              </a:rPr>
              <a:t>e</a:t>
            </a:r>
            <a:r>
              <a:rPr lang="fr-FR" sz="1400" b="0" dirty="0">
                <a:solidFill>
                  <a:srgbClr val="475467"/>
                </a:solidFill>
                <a:effectLst/>
                <a:latin typeface="Consolas" panose="020B0609020204030204" pitchFamily="49" charset="0"/>
              </a:rPr>
              <a:t>) </a:t>
            </a:r>
            <a:r>
              <a:rPr lang="fr-FR" sz="1400" b="0" dirty="0">
                <a:solidFill>
                  <a:srgbClr val="1967B3"/>
                </a:solidFill>
                <a:effectLst/>
                <a:latin typeface="Consolas" panose="020B0609020204030204" pitchFamily="49" charset="0"/>
              </a:rPr>
              <a:t>=&gt;</a:t>
            </a:r>
            <a:r>
              <a:rPr lang="fr-FR" sz="1400" b="0" dirty="0">
                <a:solidFill>
                  <a:srgbClr val="475467"/>
                </a:solidFill>
                <a:effectLst/>
                <a:latin typeface="Consolas" panose="020B0609020204030204" pitchFamily="49" charset="0"/>
              </a:rPr>
              <a:t> </a:t>
            </a:r>
            <a:r>
              <a:rPr lang="fr-FR" sz="1400" b="0" dirty="0" err="1">
                <a:effectLst/>
                <a:latin typeface="Consolas" panose="020B0609020204030204" pitchFamily="49" charset="0"/>
              </a:rPr>
              <a:t>setName</a:t>
            </a:r>
            <a:r>
              <a:rPr lang="fr-FR" sz="1400" b="0" dirty="0">
                <a:solidFill>
                  <a:srgbClr val="475467"/>
                </a:solidFill>
                <a:effectLst/>
                <a:latin typeface="Consolas" panose="020B0609020204030204" pitchFamily="49" charset="0"/>
              </a:rPr>
              <a:t>(</a:t>
            </a:r>
            <a:r>
              <a:rPr lang="fr-FR" sz="1400" b="0" dirty="0" err="1">
                <a:solidFill>
                  <a:srgbClr val="005A9C"/>
                </a:solidFill>
                <a:effectLst/>
                <a:latin typeface="Consolas" panose="020B0609020204030204" pitchFamily="49" charset="0"/>
              </a:rPr>
              <a:t>e</a:t>
            </a:r>
            <a:r>
              <a:rPr lang="fr-FR" sz="1400" b="0" dirty="0" err="1">
                <a:solidFill>
                  <a:srgbClr val="475467"/>
                </a:solidFill>
                <a:effectLst/>
                <a:latin typeface="Consolas" panose="020B0609020204030204" pitchFamily="49" charset="0"/>
              </a:rPr>
              <a:t>.</a:t>
            </a:r>
            <a:r>
              <a:rPr lang="fr-FR" sz="1400" b="0" dirty="0" err="1">
                <a:solidFill>
                  <a:srgbClr val="005A9C"/>
                </a:solidFill>
                <a:effectLst/>
                <a:latin typeface="Consolas" panose="020B0609020204030204" pitchFamily="49" charset="0"/>
              </a:rPr>
              <a:t>target</a:t>
            </a:r>
            <a:r>
              <a:rPr lang="fr-FR" sz="1400" b="0" dirty="0" err="1">
                <a:solidFill>
                  <a:srgbClr val="475467"/>
                </a:solidFill>
                <a:effectLst/>
                <a:latin typeface="Consolas" panose="020B0609020204030204" pitchFamily="49" charset="0"/>
              </a:rPr>
              <a:t>.</a:t>
            </a:r>
            <a:r>
              <a:rPr lang="fr-FR" sz="1400" b="0" dirty="0" err="1">
                <a:solidFill>
                  <a:srgbClr val="005A9C"/>
                </a:solidFill>
                <a:effectLst/>
                <a:latin typeface="Consolas" panose="020B0609020204030204" pitchFamily="49" charset="0"/>
              </a:rPr>
              <a:t>value</a:t>
            </a:r>
            <a:r>
              <a:rPr lang="fr-FR" sz="1400" b="0" dirty="0">
                <a:solidFill>
                  <a:srgbClr val="475467"/>
                </a:solidFill>
                <a:effectLst/>
                <a:latin typeface="Consolas" panose="020B0609020204030204" pitchFamily="49" charset="0"/>
              </a:rPr>
              <a:t>)</a:t>
            </a:r>
            <a:r>
              <a:rPr lang="fr-FR" sz="1400" b="0" dirty="0">
                <a:solidFill>
                  <a:srgbClr val="1967B3"/>
                </a:solidFill>
                <a:effectLst/>
                <a:latin typeface="Consolas" panose="020B0609020204030204" pitchFamily="49" charset="0"/>
              </a:rPr>
              <a:t>}</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475467"/>
                </a:solidFill>
                <a:effectLst/>
                <a:latin typeface="Consolas" panose="020B0609020204030204" pitchFamily="49" charset="0"/>
              </a:rPr>
              <a:t>/&gt;</a:t>
            </a:r>
            <a:endParaRPr lang="fr-FR" sz="1400" b="0" dirty="0">
              <a:solidFill>
                <a:srgbClr val="344054"/>
              </a:solidFill>
              <a:effectLst/>
              <a:latin typeface="Consolas" panose="020B0609020204030204" pitchFamily="49" charset="0"/>
            </a:endParaRP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475467"/>
                </a:solidFill>
                <a:effectLst/>
                <a:latin typeface="Consolas" panose="020B0609020204030204" pitchFamily="49" charset="0"/>
              </a:rPr>
              <a:t>&lt;</a:t>
            </a:r>
            <a:r>
              <a:rPr lang="fr-FR" sz="1400" b="0" dirty="0">
                <a:solidFill>
                  <a:srgbClr val="1967B3"/>
                </a:solidFill>
                <a:effectLst/>
                <a:latin typeface="Consolas" panose="020B0609020204030204" pitchFamily="49" charset="0"/>
              </a:rPr>
              <a:t>p</a:t>
            </a:r>
            <a:r>
              <a:rPr lang="fr-FR" sz="1400" b="0" dirty="0">
                <a:solidFill>
                  <a:srgbClr val="475467"/>
                </a:solidFill>
                <a:effectLst/>
                <a:latin typeface="Consolas" panose="020B0609020204030204" pitchFamily="49" charset="0"/>
              </a:rPr>
              <a:t>&gt;</a:t>
            </a:r>
            <a:r>
              <a:rPr lang="fr-FR" sz="1400" b="0" dirty="0">
                <a:solidFill>
                  <a:srgbClr val="344054"/>
                </a:solidFill>
                <a:effectLst/>
                <a:latin typeface="Consolas" panose="020B0609020204030204" pitchFamily="49" charset="0"/>
              </a:rPr>
              <a:t>Bonjour </a:t>
            </a:r>
            <a:r>
              <a:rPr lang="fr-FR" sz="1400" b="0" dirty="0">
                <a:solidFill>
                  <a:srgbClr val="1967B3"/>
                </a:solidFill>
                <a:effectLst/>
                <a:latin typeface="Consolas" panose="020B0609020204030204" pitchFamily="49" charset="0"/>
              </a:rPr>
              <a:t>{</a:t>
            </a:r>
            <a:r>
              <a:rPr lang="fr-FR" sz="1400" b="0" dirty="0" err="1">
                <a:solidFill>
                  <a:srgbClr val="006FAB"/>
                </a:solidFill>
                <a:effectLst/>
                <a:latin typeface="Consolas" panose="020B0609020204030204" pitchFamily="49" charset="0"/>
              </a:rPr>
              <a:t>name</a:t>
            </a:r>
            <a:r>
              <a:rPr lang="fr-FR" sz="1400" b="0" dirty="0">
                <a:solidFill>
                  <a:srgbClr val="1967B3"/>
                </a:solidFill>
                <a:effectLst/>
                <a:latin typeface="Consolas" panose="020B0609020204030204" pitchFamily="49" charset="0"/>
              </a:rPr>
              <a:t>}</a:t>
            </a:r>
            <a:r>
              <a:rPr lang="fr-FR" sz="1400" b="0" dirty="0">
                <a:solidFill>
                  <a:srgbClr val="475467"/>
                </a:solidFill>
                <a:effectLst/>
                <a:latin typeface="Consolas" panose="020B0609020204030204" pitchFamily="49" charset="0"/>
              </a:rPr>
              <a:t>&lt;/</a:t>
            </a:r>
            <a:r>
              <a:rPr lang="fr-FR" sz="1400" b="0" dirty="0">
                <a:solidFill>
                  <a:srgbClr val="1967B3"/>
                </a:solidFill>
                <a:effectLst/>
                <a:latin typeface="Consolas" panose="020B0609020204030204" pitchFamily="49" charset="0"/>
              </a:rPr>
              <a:t>p</a:t>
            </a:r>
            <a:r>
              <a:rPr lang="fr-FR" sz="1400" b="0" dirty="0">
                <a:solidFill>
                  <a:srgbClr val="475467"/>
                </a:solidFill>
                <a:effectLst/>
                <a:latin typeface="Consolas" panose="020B0609020204030204" pitchFamily="49" charset="0"/>
              </a:rPr>
              <a:t>&gt;</a:t>
            </a:r>
            <a:endParaRPr lang="fr-FR" sz="1400" b="0" dirty="0">
              <a:solidFill>
                <a:srgbClr val="344054"/>
              </a:solidFill>
              <a:effectLst/>
              <a:latin typeface="Consolas" panose="020B0609020204030204" pitchFamily="49" charset="0"/>
            </a:endParaRPr>
          </a:p>
          <a:p>
            <a:pPr>
              <a:lnSpc>
                <a:spcPts val="1425"/>
              </a:lnSpc>
              <a:buNone/>
            </a:pPr>
            <a:r>
              <a:rPr lang="fr-FR" sz="1400" b="0" dirty="0">
                <a:solidFill>
                  <a:srgbClr val="344054"/>
                </a:solidFill>
                <a:effectLst/>
                <a:latin typeface="Consolas" panose="020B0609020204030204" pitchFamily="49" charset="0"/>
              </a:rPr>
              <a:t>    </a:t>
            </a:r>
            <a:r>
              <a:rPr lang="fr-FR" sz="1400" b="0" dirty="0">
                <a:solidFill>
                  <a:srgbClr val="475467"/>
                </a:solidFill>
                <a:effectLst/>
                <a:latin typeface="Consolas" panose="020B0609020204030204" pitchFamily="49" charset="0"/>
              </a:rPr>
              <a:t>&lt;/</a:t>
            </a:r>
            <a:r>
              <a:rPr lang="fr-FR" sz="1400" b="0" dirty="0">
                <a:solidFill>
                  <a:srgbClr val="1967B3"/>
                </a:solidFill>
                <a:effectLst/>
                <a:latin typeface="Consolas" panose="020B0609020204030204" pitchFamily="49" charset="0"/>
              </a:rPr>
              <a:t>div</a:t>
            </a:r>
            <a:r>
              <a:rPr lang="fr-FR" sz="1400" b="0" dirty="0">
                <a:solidFill>
                  <a:srgbClr val="475467"/>
                </a:solidFill>
                <a:effectLst/>
                <a:latin typeface="Consolas" panose="020B0609020204030204" pitchFamily="49" charset="0"/>
              </a:rPr>
              <a:t>&gt;</a:t>
            </a:r>
            <a:endParaRPr lang="fr-FR" sz="1400" b="0" dirty="0">
              <a:solidFill>
                <a:srgbClr val="344054"/>
              </a:solidFill>
              <a:effectLst/>
              <a:latin typeface="Consolas" panose="020B0609020204030204" pitchFamily="49" charset="0"/>
            </a:endParaRPr>
          </a:p>
          <a:p>
            <a:pPr>
              <a:lnSpc>
                <a:spcPts val="1425"/>
              </a:lnSpc>
              <a:buNone/>
            </a:pP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a:t>
            </a:r>
            <a:endParaRPr kumimoji="0" lang="fr-FR" altLang="fr-FR" sz="14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B0DF1638-E385-BE47-1FA6-6410785657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ZoneTexte 6">
            <a:extLst>
              <a:ext uri="{FF2B5EF4-FFF2-40B4-BE49-F238E27FC236}">
                <a16:creationId xmlns:a16="http://schemas.microsoft.com/office/drawing/2014/main" id="{C40BA2DF-EDCE-DF7F-EB17-F11E087BC1DF}"/>
              </a:ext>
            </a:extLst>
          </p:cNvPr>
          <p:cNvSpPr txBox="1"/>
          <p:nvPr/>
        </p:nvSpPr>
        <p:spPr>
          <a:xfrm>
            <a:off x="662939" y="4673080"/>
            <a:ext cx="6097384" cy="16747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fr-FR" sz="1400" b="1" dirty="0" err="1"/>
              <a:t>React ne fournit pas ici de double liaison automatique.</a:t>
            </a:r>
          </a:p>
          <a:p>
            <a:pPr marL="285750" indent="-285750">
              <a:lnSpc>
                <a:spcPct val="150000"/>
              </a:lnSpc>
              <a:buFont typeface="Arial" panose="020B0604020202020204" pitchFamily="34" charset="0"/>
              <a:buChar char="•"/>
            </a:pPr>
            <a:r>
              <a:rPr lang="fr-FR" sz="1400" dirty="0"/>
              <a:t>Un champ contrôlé associe :</a:t>
            </a:r>
          </a:p>
          <a:p>
            <a:pPr marL="742950" lvl="1" indent="-285750">
              <a:lnSpc>
                <a:spcPct val="150000"/>
              </a:lnSpc>
              <a:buFont typeface="Arial" panose="020B0604020202020204" pitchFamily="34" charset="0"/>
              <a:buChar char="•"/>
            </a:pPr>
            <a:r>
              <a:rPr lang="fr-FR" sz="1400" b="1" dirty="0"/>
              <a:t>value={name}</a:t>
            </a:r>
            <a:r>
              <a:rPr lang="fr-FR" sz="1400" b="0" dirty="0"/>
              <a:t> affiche l’état dans le champ.</a:t>
            </a:r>
          </a:p>
          <a:p>
            <a:pPr marL="742950" lvl="1" indent="-285750">
              <a:lnSpc>
                <a:spcPct val="150000"/>
              </a:lnSpc>
              <a:buFont typeface="Arial" panose="020B0604020202020204" pitchFamily="34" charset="0"/>
              <a:buChar char="•"/>
            </a:pPr>
            <a:r>
              <a:rPr lang="fr-FR" sz="1400" b="1" dirty="0" err="1"/>
              <a:t>onChange</a:t>
            </a:r>
            <a:r>
              <a:rPr lang="fr-FR" sz="1400" b="0" dirty="0" err="1"/>
              <a:t> met à jour name après la saisie.</a:t>
            </a:r>
          </a:p>
          <a:p>
            <a:pPr marL="285750" indent="-285750">
              <a:lnSpc>
                <a:spcPct val="150000"/>
              </a:lnSpc>
              <a:buFont typeface="Arial" panose="020B0604020202020204" pitchFamily="34" charset="0"/>
              <a:buChar char="•"/>
            </a:pPr>
            <a:r>
              <a:rPr lang="fr-FR" sz="1400" b="0" dirty="0"/>
              <a:t>Il s’agit d’un champ contrôlé.</a:t>
            </a:r>
          </a:p>
        </p:txBody>
      </p:sp>
    </p:spTree>
    <p:extLst>
      <p:ext uri="{BB962C8B-B14F-4D97-AF65-F5344CB8AC3E}">
        <p14:creationId xmlns:p14="http://schemas.microsoft.com/office/powerpoint/2010/main" val="393600594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7A88310-B8E9-909F-2CD1-E48FD477F80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21EC9EC3-EBF2-E589-331C-3ACF498DF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51876A19-3DE1-F661-3197-FF39AF5B67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2B3D911-AD67-BA13-FFE1-79256DC59113}"/>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4" name="Rectangle 1">
            <a:extLst>
              <a:ext uri="{FF2B5EF4-FFF2-40B4-BE49-F238E27FC236}">
                <a16:creationId xmlns:a16="http://schemas.microsoft.com/office/drawing/2014/main" id="{0B796597-A556-ECD3-13A3-13F199394C9E}"/>
              </a:ext>
            </a:extLst>
          </p:cNvPr>
          <p:cNvSpPr>
            <a:spLocks noGrp="1" noChangeArrowheads="1"/>
          </p:cNvSpPr>
          <p:nvPr>
            <p:ph idx="1"/>
          </p:nvPr>
        </p:nvSpPr>
        <p:spPr bwMode="auto">
          <a:xfrm>
            <a:off x="5947341" y="1014297"/>
            <a:ext cx="6116921" cy="45284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Angular : interpoler une valeur</a:t>
            </a:r>
          </a:p>
          <a:p>
            <a:pPr marL="0" indent="0" eaLnBrk="0" fontAlgn="base" hangingPunct="0">
              <a:lnSpc>
                <a:spcPct val="200000"/>
              </a:lnSpc>
              <a:spcBef>
                <a:spcPct val="0"/>
              </a:spcBef>
              <a:spcAft>
                <a:spcPct val="0"/>
              </a:spcAft>
              <a:buNone/>
            </a:pPr>
            <a:r>
              <a:rPr lang="fr-FR" sz="1800" b="1" dirty="0"/>
              <a:t>Interpolation : de la classe au template</a:t>
            </a:r>
            <a:endParaRPr lang="fr-FR" sz="1800" b="1" dirty="0">
              <a:solidFill>
                <a:srgbClr val="344054"/>
              </a:solidFill>
              <a:effectLst/>
              <a:latin typeface="Consolas" panose="020B0609020204030204" pitchFamily="49" charset="0"/>
            </a:endParaRPr>
          </a:p>
          <a:p>
            <a:pPr>
              <a:lnSpc>
                <a:spcPts val="1425"/>
              </a:lnSpc>
              <a:buNone/>
            </a:pPr>
            <a:r>
              <a:rPr lang="en-US" sz="1400" b="1" dirty="0">
                <a:solidFill>
                  <a:schemeClr val="accent6">
                    <a:lumMod val="75000"/>
                  </a:schemeClr>
                </a:solidFill>
                <a:latin typeface="Consolas" panose="020B0609020204030204" pitchFamily="49" charset="0"/>
              </a:rPr>
              <a:t>//</a:t>
            </a:r>
            <a:r>
              <a:rPr lang="en-US" sz="1400" b="1" dirty="0" err="1">
                <a:solidFill>
                  <a:schemeClr val="accent6">
                    <a:lumMod val="75000"/>
                  </a:schemeClr>
                </a:solidFill>
                <a:latin typeface="Consolas" panose="020B0609020204030204" pitchFamily="49" charset="0"/>
              </a:rPr>
              <a:t>app.ts</a:t>
            </a:r>
            <a:endParaRPr lang="en-US" sz="1400" b="1" dirty="0">
              <a:solidFill>
                <a:schemeClr val="accent6">
                  <a:lumMod val="75000"/>
                </a:schemeClr>
              </a:solidFill>
              <a:latin typeface="Consolas" panose="020B0609020204030204" pitchFamily="49" charset="0"/>
            </a:endParaRPr>
          </a:p>
          <a:p>
            <a:pPr>
              <a:lnSpc>
                <a:spcPts val="1425"/>
              </a:lnSpc>
              <a:buNone/>
            </a:pPr>
            <a:r>
              <a:rPr lang="fr-FR" sz="1400" b="1" dirty="0" err="1">
                <a:solidFill>
                  <a:srgbClr val="005A9C"/>
                </a:solidFill>
                <a:effectLst/>
                <a:latin typeface="Consolas" panose="020B0609020204030204" pitchFamily="49" charset="0"/>
              </a:rPr>
              <a:t>name</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A64B27"/>
                </a:solidFill>
                <a:latin typeface="Consolas" panose="020B0609020204030204" pitchFamily="49" charset="0"/>
              </a:rPr>
              <a:t>"Alice</a:t>
            </a:r>
            <a:r>
              <a:rPr lang="fr-FR" sz="1400" b="1" dirty="0">
                <a:solidFill>
                  <a:srgbClr val="A64B27"/>
                </a:solidFill>
                <a:effectLst/>
                <a:latin typeface="Consolas" panose="020B0609020204030204" pitchFamily="49" charset="0"/>
              </a:rPr>
              <a:t>"</a:t>
            </a:r>
            <a:r>
              <a:rPr lang="fr-FR" sz="1400" b="1" dirty="0">
                <a:solidFill>
                  <a:srgbClr val="344054"/>
                </a:solidFill>
                <a:effectLst/>
                <a:latin typeface="Consolas" panose="020B0609020204030204" pitchFamily="49" charset="0"/>
              </a:rPr>
              <a:t>;</a:t>
            </a:r>
          </a:p>
          <a:p>
            <a:pPr>
              <a:lnSpc>
                <a:spcPts val="1425"/>
              </a:lnSpc>
              <a:buNone/>
            </a:pPr>
            <a:endParaRPr lang="fr-FR" sz="1400" b="1" dirty="0">
              <a:solidFill>
                <a:srgbClr val="344054"/>
              </a:solidFill>
              <a:latin typeface="Consolas" panose="020B0609020204030204" pitchFamily="49" charset="0"/>
            </a:endParaRPr>
          </a:p>
          <a:p>
            <a:pPr>
              <a:lnSpc>
                <a:spcPts val="1425"/>
              </a:lnSpc>
              <a:buNone/>
            </a:pPr>
            <a:r>
              <a:rPr lang="en-US" sz="1400" b="1" dirty="0">
                <a:solidFill>
                  <a:schemeClr val="accent6">
                    <a:lumMod val="75000"/>
                  </a:schemeClr>
                </a:solidFill>
                <a:latin typeface="Consolas" panose="020B0609020204030204" pitchFamily="49" charset="0"/>
              </a:rPr>
              <a:t>//app.html</a:t>
            </a:r>
          </a:p>
          <a:p>
            <a:pPr>
              <a:lnSpc>
                <a:spcPts val="1425"/>
              </a:lnSpc>
              <a:buNone/>
            </a:pPr>
            <a:r>
              <a:rPr lang="fr-FR" sz="1400" b="1" dirty="0">
                <a:solidFill>
                  <a:srgbClr val="475467"/>
                </a:solidFill>
                <a:effectLst/>
                <a:latin typeface="Consolas" panose="020B0609020204030204" pitchFamily="49" charset="0"/>
              </a:rPr>
              <a:t>&lt;</a:t>
            </a:r>
            <a:r>
              <a:rPr lang="fr-FR" sz="1400" b="1" dirty="0">
                <a:solidFill>
                  <a:srgbClr val="1967B3"/>
                </a:solidFill>
                <a:effectLst/>
                <a:latin typeface="Consolas" panose="020B0609020204030204" pitchFamily="49" charset="0"/>
              </a:rPr>
              <a:t>p</a:t>
            </a:r>
            <a:r>
              <a:rPr lang="fr-FR" sz="1400" b="1" dirty="0">
                <a:solidFill>
                  <a:srgbClr val="475467"/>
                </a:solidFill>
                <a:effectLst/>
                <a:latin typeface="Consolas" panose="020B0609020204030204" pitchFamily="49" charset="0"/>
              </a:rPr>
              <a:t>&gt;</a:t>
            </a:r>
            <a:r>
              <a:rPr lang="fr-FR" sz="1400" b="1" dirty="0">
                <a:solidFill>
                  <a:srgbClr val="344054"/>
                </a:solidFill>
                <a:effectLst/>
                <a:latin typeface="Consolas" panose="020B0609020204030204" pitchFamily="49" charset="0"/>
              </a:rPr>
              <a:t>Bonjour </a:t>
            </a:r>
            <a:r>
              <a:rPr lang="fr-FR" sz="1400" b="1" dirty="0">
                <a:solidFill>
                  <a:srgbClr val="1967B3"/>
                </a:solidFill>
                <a:effectLst/>
                <a:latin typeface="Consolas" panose="020B0609020204030204" pitchFamily="49" charset="0"/>
              </a:rPr>
              <a:t>{</a:t>
            </a:r>
            <a:r>
              <a:rPr lang="fr-FR" sz="1400" b="1" dirty="0">
                <a:solidFill>
                  <a:srgbClr val="475467"/>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name</a:t>
            </a:r>
            <a:r>
              <a:rPr lang="fr-FR" sz="1400" b="1" dirty="0">
                <a:solidFill>
                  <a:srgbClr val="475467"/>
                </a:solidFill>
                <a:effectLst/>
                <a:latin typeface="Consolas" panose="020B0609020204030204" pitchFamily="49" charset="0"/>
              </a:rPr>
              <a:t> }</a:t>
            </a:r>
            <a:r>
              <a:rPr lang="fr-FR" sz="1400" b="1" dirty="0">
                <a:solidFill>
                  <a:srgbClr val="1967B3"/>
                </a:solidFill>
                <a:effectLst/>
                <a:latin typeface="Consolas" panose="020B0609020204030204" pitchFamily="49" charset="0"/>
              </a:rPr>
              <a:t>}</a:t>
            </a:r>
            <a:r>
              <a:rPr lang="fr-FR" sz="1400" b="1" dirty="0">
                <a:solidFill>
                  <a:srgbClr val="475467"/>
                </a:solidFill>
                <a:effectLst/>
                <a:latin typeface="Consolas" panose="020B0609020204030204" pitchFamily="49" charset="0"/>
              </a:rPr>
              <a:t>&lt;/</a:t>
            </a:r>
            <a:r>
              <a:rPr lang="fr-FR" sz="1400" b="1" dirty="0">
                <a:solidFill>
                  <a:srgbClr val="1967B3"/>
                </a:solidFill>
                <a:effectLst/>
                <a:latin typeface="Consolas" panose="020B0609020204030204" pitchFamily="49" charset="0"/>
              </a:rPr>
              <a:t>p</a:t>
            </a:r>
            <a:r>
              <a:rPr lang="fr-FR" sz="1400" b="1" dirty="0">
                <a:solidFill>
                  <a:srgbClr val="475467"/>
                </a:solidFill>
                <a:effectLst/>
                <a:latin typeface="Consolas" panose="020B0609020204030204" pitchFamily="49" charset="0"/>
              </a:rPr>
              <a:t>&gt;</a:t>
            </a:r>
            <a:endParaRPr lang="fr-FR" sz="1400" b="1" dirty="0">
              <a:solidFill>
                <a:srgbClr val="344054"/>
              </a:solidFill>
              <a:effectLst/>
              <a:latin typeface="Consolas" panose="020B0609020204030204" pitchFamily="49" charset="0"/>
            </a:endParaRPr>
          </a:p>
          <a:p>
            <a:pPr>
              <a:lnSpc>
                <a:spcPts val="1425"/>
              </a:lnSpc>
              <a:buNone/>
            </a:pPr>
            <a:br>
              <a:rPr lang="fr-FR" sz="1050" b="0" dirty="0">
                <a:solidFill>
                  <a:srgbClr val="344054"/>
                </a:solidFill>
                <a:effectLst/>
                <a:latin typeface="Consolas" panose="020B0609020204030204" pitchFamily="49" charset="0"/>
              </a:rPr>
            </a:br>
            <a:endParaRPr lang="en-US" sz="1400" b="1" dirty="0">
              <a:solidFill>
                <a:srgbClr val="344054"/>
              </a:solidFill>
              <a:latin typeface="Consolas" panose="020B0609020204030204" pitchFamily="49" charset="0"/>
            </a:endParaRPr>
          </a:p>
          <a:p>
            <a:pPr>
              <a:lnSpc>
                <a:spcPts val="1425"/>
              </a:lnSpc>
            </a:pPr>
            <a:r>
              <a:rPr lang="fr-FR" sz="1400" dirty="0">
                <a:effectLst/>
              </a:rPr>
              <a:t>{{ name }} affiche la propriété name du composant.</a:t>
            </a:r>
          </a:p>
          <a:p>
            <a:pPr>
              <a:lnSpc>
                <a:spcPts val="1425"/>
              </a:lnSpc>
            </a:pPr>
            <a:r>
              <a:rPr lang="fr-FR" sz="1400" dirty="0">
                <a:effectLst/>
              </a:rPr>
              <a:t>Ici, la valeur passe de la classe vers le template.</a:t>
            </a:r>
            <a:br>
              <a:rPr lang="en-US" sz="1050" b="0" dirty="0">
                <a:solidFill>
                  <a:srgbClr val="344054"/>
                </a:solidFill>
                <a:effectLst/>
                <a:latin typeface="Consolas" panose="020B0609020204030204" pitchFamily="49" charset="0"/>
              </a:rPr>
            </a:br>
            <a:endParaRPr lang="en-US" sz="1050" b="0" dirty="0">
              <a:solidFill>
                <a:srgbClr val="344054"/>
              </a:solidFill>
              <a:effectLst/>
              <a:latin typeface="Consolas" panose="020B0609020204030204" pitchFamily="49"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79379B55-952C-B5B6-8EA0-CD86819399B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7280830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3DE054A-06FB-9AE1-73C2-D7ABAC02D01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ADD4FEA-DA6D-7E7A-19C6-2B1C2B17A4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C66011BF-CB67-2D79-8607-6D09C1E51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805DD294-EE23-5470-B742-262C7748FC13}"/>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4" name="Rectangle 1">
            <a:extLst>
              <a:ext uri="{FF2B5EF4-FFF2-40B4-BE49-F238E27FC236}">
                <a16:creationId xmlns:a16="http://schemas.microsoft.com/office/drawing/2014/main" id="{1025337D-DA83-7FEE-1B0B-2151F19AB0B3}"/>
              </a:ext>
            </a:extLst>
          </p:cNvPr>
          <p:cNvSpPr>
            <a:spLocks noGrp="1" noChangeArrowheads="1"/>
          </p:cNvSpPr>
          <p:nvPr>
            <p:ph idx="1"/>
          </p:nvPr>
        </p:nvSpPr>
        <p:spPr bwMode="auto">
          <a:xfrm>
            <a:off x="5947341" y="706521"/>
            <a:ext cx="6116921" cy="51439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Angular : ngModel relie champ et valeur</a:t>
            </a:r>
          </a:p>
          <a:p>
            <a:pPr marL="0" indent="0" eaLnBrk="0" fontAlgn="base" hangingPunct="0">
              <a:lnSpc>
                <a:spcPct val="200000"/>
              </a:lnSpc>
              <a:spcBef>
                <a:spcPct val="0"/>
              </a:spcBef>
              <a:spcAft>
                <a:spcPct val="0"/>
              </a:spcAft>
              <a:buNone/>
            </a:pPr>
            <a:r>
              <a:rPr lang="fr-FR" sz="1800" b="1" dirty="0" err="1"/>
              <a:t>Double liaison avec [(ngModel)]</a:t>
            </a:r>
            <a:endParaRPr lang="fr-FR" sz="1800" b="1" dirty="0">
              <a:solidFill>
                <a:srgbClr val="344054"/>
              </a:solidFill>
              <a:effectLst/>
              <a:latin typeface="Consolas" panose="020B0609020204030204" pitchFamily="49" charset="0"/>
            </a:endParaRPr>
          </a:p>
          <a:p>
            <a:pPr>
              <a:lnSpc>
                <a:spcPts val="1425"/>
              </a:lnSpc>
              <a:buNone/>
            </a:pPr>
            <a:r>
              <a:rPr lang="en-US" sz="1400" b="1" dirty="0">
                <a:solidFill>
                  <a:schemeClr val="accent6">
                    <a:lumMod val="75000"/>
                  </a:schemeClr>
                </a:solidFill>
                <a:latin typeface="Consolas" panose="020B0609020204030204" pitchFamily="49" charset="0"/>
              </a:rPr>
              <a:t>//</a:t>
            </a:r>
            <a:r>
              <a:rPr lang="en-US" sz="1400" b="1" dirty="0" err="1">
                <a:solidFill>
                  <a:schemeClr val="accent6">
                    <a:lumMod val="75000"/>
                  </a:schemeClr>
                </a:solidFill>
                <a:latin typeface="Consolas" panose="020B0609020204030204" pitchFamily="49" charset="0"/>
              </a:rPr>
              <a:t>app.ts</a:t>
            </a:r>
            <a:endParaRPr lang="en-US" sz="1400" b="1" dirty="0">
              <a:solidFill>
                <a:schemeClr val="accent6">
                  <a:lumMod val="75000"/>
                </a:schemeClr>
              </a:solidFill>
              <a:latin typeface="Consolas" panose="020B0609020204030204" pitchFamily="49" charset="0"/>
            </a:endParaRPr>
          </a:p>
          <a:p>
            <a:pPr>
              <a:lnSpc>
                <a:spcPts val="1425"/>
              </a:lnSpc>
              <a:buNone/>
            </a:pPr>
            <a:r>
              <a:rPr lang="fr-FR" sz="1400" b="1" dirty="0" err="1">
                <a:solidFill>
                  <a:srgbClr val="005A9C"/>
                </a:solidFill>
                <a:effectLst/>
                <a:latin typeface="Consolas" panose="020B0609020204030204" pitchFamily="49" charset="0"/>
              </a:rPr>
              <a:t>name</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A64B27"/>
                </a:solidFill>
                <a:effectLst/>
                <a:latin typeface="Consolas" panose="020B0609020204030204" pitchFamily="49" charset="0"/>
              </a:rPr>
              <a:t>""</a:t>
            </a:r>
            <a:r>
              <a:rPr lang="fr-FR" sz="1400" b="1" dirty="0">
                <a:solidFill>
                  <a:srgbClr val="344054"/>
                </a:solidFill>
                <a:effectLst/>
                <a:latin typeface="Consolas" panose="020B0609020204030204" pitchFamily="49" charset="0"/>
              </a:rPr>
              <a:t>;</a:t>
            </a:r>
          </a:p>
          <a:p>
            <a:pPr>
              <a:lnSpc>
                <a:spcPts val="1425"/>
              </a:lnSpc>
              <a:buNone/>
            </a:pPr>
            <a:endParaRPr lang="fr-FR" sz="1400" b="1" dirty="0">
              <a:solidFill>
                <a:srgbClr val="344054"/>
              </a:solidFill>
              <a:latin typeface="Consolas" panose="020B0609020204030204" pitchFamily="49" charset="0"/>
            </a:endParaRPr>
          </a:p>
          <a:p>
            <a:pPr>
              <a:lnSpc>
                <a:spcPts val="1425"/>
              </a:lnSpc>
              <a:buNone/>
            </a:pPr>
            <a:r>
              <a:rPr lang="en-US" sz="1400" b="1" dirty="0">
                <a:solidFill>
                  <a:schemeClr val="accent6">
                    <a:lumMod val="75000"/>
                  </a:schemeClr>
                </a:solidFill>
                <a:latin typeface="Consolas" panose="020B0609020204030204" pitchFamily="49" charset="0"/>
              </a:rPr>
              <a:t>//app.html</a:t>
            </a:r>
          </a:p>
          <a:p>
            <a:pPr>
              <a:lnSpc>
                <a:spcPts val="1425"/>
              </a:lnSpc>
              <a:buNone/>
            </a:pPr>
            <a:r>
              <a:rPr lang="fr-FR" sz="1400" b="1" dirty="0">
                <a:solidFill>
                  <a:srgbClr val="475467"/>
                </a:solidFill>
                <a:effectLst/>
                <a:latin typeface="Consolas" panose="020B0609020204030204" pitchFamily="49" charset="0"/>
              </a:rPr>
              <a:t>&lt;</a:t>
            </a:r>
            <a:r>
              <a:rPr lang="fr-FR" sz="1400" b="1" dirty="0">
                <a:solidFill>
                  <a:srgbClr val="1967B3"/>
                </a:solidFill>
                <a:effectLst/>
                <a:latin typeface="Consolas" panose="020B0609020204030204" pitchFamily="49" charset="0"/>
              </a:rPr>
              <a:t>input</a:t>
            </a:r>
            <a:r>
              <a:rPr lang="fr-FR" sz="1400" b="1" dirty="0">
                <a:solidFill>
                  <a:srgbClr val="344054"/>
                </a:solidFill>
                <a:effectLst/>
                <a:latin typeface="Consolas" panose="020B0609020204030204" pitchFamily="49" charset="0"/>
              </a:rPr>
              <a:t> </a:t>
            </a:r>
            <a:r>
              <a:rPr lang="fr-FR" sz="1400" b="1" dirty="0">
                <a:solidFill>
                  <a:srgbClr val="F44747"/>
                </a:solidFill>
                <a:effectLst/>
                <a:latin typeface="Consolas" panose="020B0609020204030204" pitchFamily="49" charset="0"/>
              </a:rPr>
              <a:t>[(</a:t>
            </a:r>
            <a:r>
              <a:rPr lang="fr-FR" sz="1400" b="1" dirty="0" err="1">
                <a:effectLst/>
                <a:latin typeface="Consolas" panose="020B0609020204030204" pitchFamily="49" charset="0"/>
              </a:rPr>
              <a:t>ngModel</a:t>
            </a:r>
            <a:r>
              <a:rPr lang="fr-FR" sz="1400" b="1" dirty="0">
                <a:solidFill>
                  <a:srgbClr val="F44747"/>
                </a:solidFill>
                <a:effectLst/>
                <a:latin typeface="Consolas" panose="020B0609020204030204" pitchFamily="49" charset="0"/>
              </a:rPr>
              <a:t>)]="</a:t>
            </a:r>
            <a:r>
              <a:rPr lang="fr-FR" sz="1400" b="1" dirty="0" err="1">
                <a:solidFill>
                  <a:srgbClr val="F44747"/>
                </a:solidFill>
                <a:effectLst/>
                <a:latin typeface="Consolas" panose="020B0609020204030204" pitchFamily="49" charset="0"/>
              </a:rPr>
              <a:t>name</a:t>
            </a:r>
            <a:r>
              <a:rPr lang="fr-FR" sz="1400" b="1" dirty="0">
                <a:solidFill>
                  <a:srgbClr val="F4474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/&gt;</a:t>
            </a:r>
            <a:endParaRPr lang="fr-FR" sz="1400" b="1" dirty="0">
              <a:solidFill>
                <a:srgbClr val="344054"/>
              </a:solidFill>
              <a:effectLst/>
              <a:latin typeface="Consolas" panose="020B0609020204030204" pitchFamily="49" charset="0"/>
            </a:endParaRPr>
          </a:p>
          <a:p>
            <a:pPr>
              <a:lnSpc>
                <a:spcPts val="1425"/>
              </a:lnSpc>
              <a:buNone/>
            </a:pPr>
            <a:r>
              <a:rPr lang="fr-FR" sz="1400" b="1" dirty="0">
                <a:solidFill>
                  <a:srgbClr val="475467"/>
                </a:solidFill>
                <a:effectLst/>
                <a:latin typeface="Consolas" panose="020B0609020204030204" pitchFamily="49" charset="0"/>
              </a:rPr>
              <a:t>&lt;</a:t>
            </a:r>
            <a:r>
              <a:rPr lang="fr-FR" sz="1400" b="1" dirty="0">
                <a:solidFill>
                  <a:srgbClr val="1967B3"/>
                </a:solidFill>
                <a:effectLst/>
                <a:latin typeface="Consolas" panose="020B0609020204030204" pitchFamily="49" charset="0"/>
              </a:rPr>
              <a:t>p</a:t>
            </a:r>
            <a:r>
              <a:rPr lang="fr-FR" sz="1400" b="1" dirty="0">
                <a:solidFill>
                  <a:srgbClr val="475467"/>
                </a:solidFill>
                <a:effectLst/>
                <a:latin typeface="Consolas" panose="020B0609020204030204" pitchFamily="49" charset="0"/>
              </a:rPr>
              <a:t>&gt;</a:t>
            </a:r>
            <a:r>
              <a:rPr lang="fr-FR" sz="1400" b="1" dirty="0">
                <a:solidFill>
                  <a:srgbClr val="344054"/>
                </a:solidFill>
                <a:effectLst/>
                <a:latin typeface="Consolas" panose="020B0609020204030204" pitchFamily="49" charset="0"/>
              </a:rPr>
              <a:t>Bonjour </a:t>
            </a:r>
            <a:r>
              <a:rPr lang="fr-FR" sz="1400" b="1" dirty="0">
                <a:solidFill>
                  <a:srgbClr val="1967B3"/>
                </a:solidFill>
                <a:effectLst/>
                <a:latin typeface="Consolas" panose="020B0609020204030204" pitchFamily="49" charset="0"/>
              </a:rPr>
              <a:t>{</a:t>
            </a:r>
            <a:r>
              <a:rPr lang="fr-FR" sz="1400" b="1" dirty="0">
                <a:solidFill>
                  <a:srgbClr val="475467"/>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name</a:t>
            </a:r>
            <a:r>
              <a:rPr lang="fr-FR" sz="1400" b="1" dirty="0">
                <a:solidFill>
                  <a:srgbClr val="475467"/>
                </a:solidFill>
                <a:effectLst/>
                <a:latin typeface="Consolas" panose="020B0609020204030204" pitchFamily="49" charset="0"/>
              </a:rPr>
              <a:t> }</a:t>
            </a:r>
            <a:r>
              <a:rPr lang="fr-FR" sz="1400" b="1" dirty="0">
                <a:solidFill>
                  <a:srgbClr val="1967B3"/>
                </a:solidFill>
                <a:effectLst/>
                <a:latin typeface="Consolas" panose="020B0609020204030204" pitchFamily="49" charset="0"/>
              </a:rPr>
              <a:t>}</a:t>
            </a:r>
            <a:r>
              <a:rPr lang="fr-FR" sz="1400" b="1" dirty="0">
                <a:solidFill>
                  <a:srgbClr val="475467"/>
                </a:solidFill>
                <a:effectLst/>
                <a:latin typeface="Consolas" panose="020B0609020204030204" pitchFamily="49" charset="0"/>
              </a:rPr>
              <a:t>&lt;/</a:t>
            </a:r>
            <a:r>
              <a:rPr lang="fr-FR" sz="1400" b="1" dirty="0">
                <a:solidFill>
                  <a:srgbClr val="1967B3"/>
                </a:solidFill>
                <a:effectLst/>
                <a:latin typeface="Consolas" panose="020B0609020204030204" pitchFamily="49" charset="0"/>
              </a:rPr>
              <a:t>p</a:t>
            </a:r>
            <a:r>
              <a:rPr lang="fr-FR" sz="1400" b="1" dirty="0">
                <a:solidFill>
                  <a:srgbClr val="475467"/>
                </a:solidFill>
                <a:effectLst/>
                <a:latin typeface="Consolas" panose="020B0609020204030204" pitchFamily="49" charset="0"/>
              </a:rPr>
              <a:t>&gt;</a:t>
            </a:r>
            <a:endParaRPr lang="fr-FR" sz="1400" b="1" dirty="0">
              <a:solidFill>
                <a:srgbClr val="344054"/>
              </a:solidFill>
              <a:effectLst/>
              <a:latin typeface="Consolas" panose="020B0609020204030204" pitchFamily="49" charset="0"/>
            </a:endParaRPr>
          </a:p>
          <a:p>
            <a:pPr>
              <a:lnSpc>
                <a:spcPts val="1425"/>
              </a:lnSpc>
              <a:buNone/>
            </a:pPr>
            <a:br>
              <a:rPr lang="fr-FR" sz="1050" b="0" dirty="0">
                <a:solidFill>
                  <a:srgbClr val="344054"/>
                </a:solidFill>
                <a:effectLst/>
                <a:latin typeface="Consolas" panose="020B0609020204030204" pitchFamily="49" charset="0"/>
              </a:rPr>
            </a:br>
            <a:endParaRPr lang="en-US" sz="1400" b="1" dirty="0">
              <a:solidFill>
                <a:srgbClr val="344054"/>
              </a:solidFill>
              <a:latin typeface="Consolas" panose="020B0609020204030204" pitchFamily="49" charset="0"/>
            </a:endParaRPr>
          </a:p>
          <a:p>
            <a:pPr>
              <a:lnSpc>
                <a:spcPts val="1425"/>
              </a:lnSpc>
            </a:pPr>
            <a:r>
              <a:rPr lang="fr-FR" sz="1400" dirty="0">
                <a:effectLst/>
              </a:rPr>
              <a:t>[(ngModel)] lie le champ à name ; FormsModule est requis.</a:t>
            </a:r>
          </a:p>
          <a:p>
            <a:pPr>
              <a:lnSpc>
                <a:spcPts val="1425"/>
              </a:lnSpc>
            </a:pPr>
            <a:r>
              <a:rPr lang="fr-FR" sz="1400" dirty="0">
                <a:effectLst/>
              </a:rPr>
              <a:t>Saisie → name est mis à jour dans le composant.</a:t>
            </a:r>
          </a:p>
          <a:p>
            <a:pPr>
              <a:lnSpc>
                <a:spcPts val="1425"/>
              </a:lnSpc>
            </a:pPr>
            <a:r>
              <a:rPr lang="fr-FR" sz="1400" dirty="0">
                <a:effectLst/>
              </a:rPr>
              <a:t>Modification de name → le champ et le texte sont mis à jour.</a:t>
            </a:r>
            <a:br>
              <a:rPr lang="en-US" sz="1050" b="0" dirty="0">
                <a:solidFill>
                  <a:srgbClr val="344054"/>
                </a:solidFill>
                <a:effectLst/>
                <a:latin typeface="Consolas" panose="020B0609020204030204" pitchFamily="49" charset="0"/>
              </a:rPr>
            </a:br>
            <a:endParaRPr lang="en-US" sz="1050" b="0" dirty="0">
              <a:solidFill>
                <a:srgbClr val="344054"/>
              </a:solidFill>
              <a:effectLst/>
              <a:latin typeface="Consolas" panose="020B0609020204030204" pitchFamily="49"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35E83BE5-0958-E599-B7E5-164604A161E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5101472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C861A-DF45-806A-5055-C36049ED457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F0F442B-8055-D286-6F0F-06D979C0A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8871B17-0325-F95A-E9CB-F02648768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D00E40E-7FBA-D885-58D7-7F27A8B6C88D}"/>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4" name="Rectangle 1">
            <a:extLst>
              <a:ext uri="{FF2B5EF4-FFF2-40B4-BE49-F238E27FC236}">
                <a16:creationId xmlns:a16="http://schemas.microsoft.com/office/drawing/2014/main" id="{E0025FCD-0DF5-CBE7-A736-FC98FB8E9FE6}"/>
              </a:ext>
            </a:extLst>
          </p:cNvPr>
          <p:cNvSpPr>
            <a:spLocks noGrp="1" noChangeArrowheads="1"/>
          </p:cNvSpPr>
          <p:nvPr>
            <p:ph idx="1"/>
          </p:nvPr>
        </p:nvSpPr>
        <p:spPr bwMode="auto">
          <a:xfrm>
            <a:off x="6072031" y="196626"/>
            <a:ext cx="6116921" cy="40282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Angular : trois syntaxes de liaison</a:t>
            </a:r>
          </a:p>
          <a:p>
            <a:pPr marL="0" indent="0" eaLnBrk="0" fontAlgn="base" hangingPunct="0">
              <a:lnSpc>
                <a:spcPct val="200000"/>
              </a:lnSpc>
              <a:spcBef>
                <a:spcPct val="0"/>
              </a:spcBef>
              <a:spcAft>
                <a:spcPct val="0"/>
              </a:spcAft>
              <a:buNone/>
            </a:pPr>
            <a:r>
              <a:rPr lang="fr-FR" sz="1800" b="1" dirty="0"/>
              <a:t>Propriété, événement et double liaison</a:t>
            </a:r>
            <a:endParaRPr lang="fr-FR" sz="1800" b="1" dirty="0">
              <a:solidFill>
                <a:srgbClr val="CCCCCC"/>
              </a:solidFill>
              <a:effectLst/>
              <a:latin typeface="Consolas" panose="020B0609020204030204" pitchFamily="49" charset="0"/>
            </a:endParaRPr>
          </a:p>
          <a:p>
            <a:pPr>
              <a:lnSpc>
                <a:spcPts val="1425"/>
              </a:lnSpc>
            </a:pPr>
            <a:r>
              <a:rPr lang="fr-FR" sz="1400" b="1" dirty="0" err="1">
                <a:effectLst/>
              </a:rPr>
              <a:t>Property binding []</a:t>
            </a:r>
            <a:r>
              <a:rPr lang="fr-FR" sz="1400" b="0" dirty="0" err="1">
                <a:effectLst/>
              </a:rPr>
              <a:t> → code vers propriété de l’élément.</a:t>
            </a:r>
          </a:p>
          <a:p>
            <a:pPr>
              <a:lnSpc>
                <a:spcPts val="1425"/>
              </a:lnSpc>
            </a:pPr>
            <a:r>
              <a:rPr lang="fr-FR" sz="1400" b="1" dirty="0">
                <a:effectLst/>
              </a:rPr>
              <a:t>Event binding ()</a:t>
            </a:r>
            <a:r>
              <a:rPr lang="fr-FR" sz="1400" b="0" dirty="0">
                <a:effectLst/>
              </a:rPr>
              <a:t> → événement vers gestionnaire.</a:t>
            </a:r>
          </a:p>
          <a:p>
            <a:pPr>
              <a:lnSpc>
                <a:spcPts val="1425"/>
              </a:lnSpc>
            </a:pPr>
            <a:r>
              <a:rPr lang="fr-FR" sz="1400" b="1" dirty="0" err="1">
                <a:effectLst/>
              </a:rPr>
              <a:t>Two-way binding [()]</a:t>
            </a:r>
            <a:r>
              <a:rPr lang="fr-FR" sz="1400" b="0" dirty="0" err="1">
                <a:effectLst/>
              </a:rPr>
              <a:t> → deux sens si l’API le permet.</a:t>
            </a:r>
          </a:p>
          <a:p>
            <a:pPr>
              <a:lnSpc>
                <a:spcPts val="1425"/>
              </a:lnSpc>
            </a:pPr>
            <a:r>
              <a:rPr lang="fr-FR" sz="1400" dirty="0">
                <a:effectLst/>
              </a:rPr>
              <a:t>À retenir :</a:t>
            </a:r>
          </a:p>
          <a:p>
            <a:pPr lvl="1">
              <a:lnSpc>
                <a:spcPts val="1425"/>
              </a:lnSpc>
            </a:pPr>
            <a:r>
              <a:rPr lang="fr-FR" sz="1400" dirty="0">
                <a:effectLst/>
              </a:rPr>
              <a:t>[] : code → élément (sens unique).</a:t>
            </a:r>
          </a:p>
          <a:p>
            <a:pPr lvl="1">
              <a:lnSpc>
                <a:spcPts val="1425"/>
              </a:lnSpc>
            </a:pPr>
            <a:r>
              <a:rPr lang="fr-FR" sz="1400" dirty="0">
                <a:effectLst/>
              </a:rPr>
              <a:t>() : événement → gestionnaire.</a:t>
            </a:r>
          </a:p>
          <a:p>
            <a:pPr lvl="1">
              <a:lnSpc>
                <a:spcPts val="1425"/>
              </a:lnSpc>
            </a:pPr>
            <a:r>
              <a:rPr lang="fr-FR" sz="1400" dirty="0">
                <a:effectLst/>
              </a:rPr>
              <a:t>[()] : deux sens avec une API compatible, comme ngModel.</a:t>
            </a:r>
            <a:br>
              <a:rPr lang="en-US" sz="650" b="0" dirty="0">
                <a:solidFill>
                  <a:srgbClr val="CCCCCC"/>
                </a:solidFill>
                <a:effectLst/>
                <a:latin typeface="Consolas" panose="020B0609020204030204" pitchFamily="49" charset="0"/>
              </a:rPr>
            </a:br>
            <a:endParaRPr lang="en-US" sz="650" b="0" dirty="0">
              <a:solidFill>
                <a:srgbClr val="CCCCCC"/>
              </a:solidFill>
              <a:effectLst/>
              <a:latin typeface="Consolas" panose="020B0609020204030204" pitchFamily="49"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p:txBody>
      </p:sp>
      <p:sp>
        <p:nvSpPr>
          <p:cNvPr id="3" name="Espace réservé du numéro de diapositive 2">
            <a:extLst>
              <a:ext uri="{FF2B5EF4-FFF2-40B4-BE49-F238E27FC236}">
                <a16:creationId xmlns:a16="http://schemas.microsoft.com/office/drawing/2014/main" id="{3457E5EF-F32B-92C1-BA7A-14B1E9080C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6" name="ZoneTexte 5">
            <a:extLst>
              <a:ext uri="{FF2B5EF4-FFF2-40B4-BE49-F238E27FC236}">
                <a16:creationId xmlns:a16="http://schemas.microsoft.com/office/drawing/2014/main" id="{ACB25CA2-72C2-C456-D28A-F1F2979A0BD4}"/>
              </a:ext>
            </a:extLst>
          </p:cNvPr>
          <p:cNvSpPr txBox="1"/>
          <p:nvPr/>
        </p:nvSpPr>
        <p:spPr>
          <a:xfrm>
            <a:off x="5908241" y="4510383"/>
            <a:ext cx="6097384" cy="1709442"/>
          </a:xfrm>
          <a:prstGeom prst="rect">
            <a:avLst/>
          </a:prstGeom>
          <a:noFill/>
        </p:spPr>
        <p:txBody>
          <a:bodyPr wrap="square">
            <a:spAutoFit/>
          </a:bodyPr>
          <a:lstStyle/>
          <a:p>
            <a:pPr>
              <a:lnSpc>
                <a:spcPts val="1425"/>
              </a:lnSpc>
              <a:buNone/>
            </a:pPr>
            <a:r>
              <a:rPr lang="en-US" sz="1400" b="1" dirty="0">
                <a:solidFill>
                  <a:schemeClr val="accent6">
                    <a:lumMod val="75000"/>
                  </a:schemeClr>
                </a:solidFill>
                <a:latin typeface="Consolas" panose="020B0609020204030204" pitchFamily="49" charset="0"/>
              </a:rPr>
              <a:t>//</a:t>
            </a:r>
            <a:r>
              <a:rPr lang="en-US" sz="1400" b="1" dirty="0" err="1">
                <a:solidFill>
                  <a:schemeClr val="accent6">
                    <a:lumMod val="75000"/>
                  </a:schemeClr>
                </a:solidFill>
                <a:latin typeface="Consolas" panose="020B0609020204030204" pitchFamily="49" charset="0"/>
              </a:rPr>
              <a:t>app.ts</a:t>
            </a:r>
            <a:r>
              <a:rPr lang="en-US" sz="1400" b="1" dirty="0">
                <a:solidFill>
                  <a:schemeClr val="accent6">
                    <a:lumMod val="75000"/>
                  </a:schemeClr>
                </a:solidFill>
                <a:latin typeface="Consolas" panose="020B0609020204030204" pitchFamily="49" charset="0"/>
              </a:rPr>
              <a:t> – Event Binding</a:t>
            </a:r>
          </a:p>
          <a:p>
            <a:pPr>
              <a:lnSpc>
                <a:spcPts val="1425"/>
              </a:lnSpc>
              <a:buNone/>
            </a:pPr>
            <a:r>
              <a:rPr lang="fr-FR" sz="1400" b="0" dirty="0" err="1">
                <a:effectLst/>
                <a:latin typeface="Consolas" panose="020B0609020204030204" pitchFamily="49" charset="0"/>
              </a:rPr>
              <a:t>onClick</a:t>
            </a:r>
            <a:r>
              <a:rPr lang="fr-FR" sz="1400" b="0" dirty="0">
                <a:solidFill>
                  <a:srgbClr val="344054"/>
                </a:solidFill>
                <a:effectLst/>
                <a:latin typeface="Consolas" panose="020B0609020204030204" pitchFamily="49" charset="0"/>
              </a:rPr>
              <a:t>() {</a:t>
            </a:r>
          </a:p>
          <a:p>
            <a:pPr>
              <a:lnSpc>
                <a:spcPts val="1425"/>
              </a:lnSpc>
              <a:buNone/>
            </a:pPr>
            <a:r>
              <a:rPr lang="fr-FR" sz="1400" b="0" dirty="0">
                <a:solidFill>
                  <a:srgbClr val="344054"/>
                </a:solidFill>
                <a:effectLst/>
                <a:latin typeface="Consolas" panose="020B0609020204030204" pitchFamily="49" charset="0"/>
              </a:rPr>
              <a:t>  </a:t>
            </a:r>
            <a:r>
              <a:rPr lang="fr-FR" sz="1400" b="0" dirty="0" err="1">
                <a:effectLst/>
                <a:latin typeface="Consolas" panose="020B0609020204030204" pitchFamily="49" charset="0"/>
              </a:rPr>
              <a:t>alert</a:t>
            </a:r>
            <a:r>
              <a:rPr lang="fr-FR" sz="1400" b="0" dirty="0">
                <a:solidFill>
                  <a:srgbClr val="344054"/>
                </a:solidFill>
                <a:effectLst/>
                <a:latin typeface="Consolas" panose="020B0609020204030204" pitchFamily="49" charset="0"/>
              </a:rPr>
              <a:t>(</a:t>
            </a:r>
            <a:r>
              <a:rPr lang="fr-FR" sz="1400" b="0" dirty="0">
                <a:solidFill>
                  <a:srgbClr val="A64B27"/>
                </a:solidFill>
                <a:effectLst/>
                <a:latin typeface="Consolas" panose="020B0609020204030204" pitchFamily="49" charset="0"/>
              </a:rPr>
              <a:t>"Bouton cliqué !"</a:t>
            </a:r>
            <a:r>
              <a:rPr lang="fr-FR" sz="1400" b="0" dirty="0">
                <a:solidFill>
                  <a:srgbClr val="344054"/>
                </a:solidFill>
                <a:effectLst/>
                <a:latin typeface="Consolas" panose="020B0609020204030204" pitchFamily="49" charset="0"/>
              </a:rPr>
              <a:t>);</a:t>
            </a:r>
          </a:p>
          <a:p>
            <a:pPr>
              <a:lnSpc>
                <a:spcPts val="1425"/>
              </a:lnSpc>
              <a:buNone/>
            </a:pPr>
            <a:r>
              <a:rPr lang="fr-FR" sz="1400" b="0" dirty="0">
                <a:solidFill>
                  <a:srgbClr val="344054"/>
                </a:solidFill>
                <a:effectLst/>
                <a:latin typeface="Consolas" panose="020B0609020204030204" pitchFamily="49" charset="0"/>
              </a:rPr>
              <a:t>}</a:t>
            </a:r>
            <a:endParaRPr lang="fr-FR" sz="1400" b="1" dirty="0">
              <a:solidFill>
                <a:srgbClr val="344054"/>
              </a:solidFill>
              <a:latin typeface="Consolas" panose="020B0609020204030204" pitchFamily="49" charset="0"/>
            </a:endParaRPr>
          </a:p>
          <a:p>
            <a:pPr>
              <a:lnSpc>
                <a:spcPts val="1425"/>
              </a:lnSpc>
              <a:buNone/>
            </a:pPr>
            <a:endParaRPr lang="fr-FR" sz="1400" b="1" dirty="0">
              <a:solidFill>
                <a:srgbClr val="344054"/>
              </a:solidFill>
              <a:latin typeface="Consolas" panose="020B0609020204030204" pitchFamily="49" charset="0"/>
            </a:endParaRPr>
          </a:p>
          <a:p>
            <a:pPr>
              <a:lnSpc>
                <a:spcPts val="1425"/>
              </a:lnSpc>
              <a:buNone/>
            </a:pPr>
            <a:r>
              <a:rPr lang="en-US" sz="1400" b="1" dirty="0">
                <a:solidFill>
                  <a:schemeClr val="accent6">
                    <a:lumMod val="75000"/>
                  </a:schemeClr>
                </a:solidFill>
                <a:latin typeface="Consolas" panose="020B0609020204030204" pitchFamily="49" charset="0"/>
              </a:rPr>
              <a:t>//app.html</a:t>
            </a:r>
          </a:p>
          <a:p>
            <a:pPr>
              <a:lnSpc>
                <a:spcPts val="1425"/>
              </a:lnSpc>
              <a:buNone/>
            </a:pPr>
            <a:r>
              <a:rPr lang="en-US" sz="1400" b="0" dirty="0">
                <a:solidFill>
                  <a:srgbClr val="475467"/>
                </a:solidFill>
                <a:effectLst/>
                <a:latin typeface="Consolas" panose="020B0609020204030204" pitchFamily="49" charset="0"/>
              </a:rPr>
              <a:t>&lt;</a:t>
            </a:r>
            <a:r>
              <a:rPr lang="en-US" sz="1400" b="0" dirty="0">
                <a:solidFill>
                  <a:srgbClr val="1967B3"/>
                </a:solidFill>
                <a:effectLst/>
                <a:latin typeface="Consolas" panose="020B0609020204030204" pitchFamily="49" charset="0"/>
              </a:rPr>
              <a:t>button</a:t>
            </a:r>
            <a:r>
              <a:rPr lang="en-US" sz="1400" b="0" dirty="0">
                <a:solidFill>
                  <a:srgbClr val="344054"/>
                </a:solidFill>
                <a:effectLst/>
                <a:latin typeface="Consolas" panose="020B0609020204030204" pitchFamily="49" charset="0"/>
              </a:rPr>
              <a:t> </a:t>
            </a:r>
            <a:r>
              <a:rPr lang="en-US" sz="1400" b="0" dirty="0">
                <a:solidFill>
                  <a:srgbClr val="F44747"/>
                </a:solidFill>
                <a:effectLst/>
                <a:latin typeface="Consolas" panose="020B0609020204030204" pitchFamily="49" charset="0"/>
              </a:rPr>
              <a:t>(click)="</a:t>
            </a:r>
            <a:r>
              <a:rPr lang="en-US" sz="1400" b="0" dirty="0" err="1">
                <a:solidFill>
                  <a:srgbClr val="F44747"/>
                </a:solidFill>
                <a:effectLst/>
                <a:latin typeface="Consolas" panose="020B0609020204030204" pitchFamily="49" charset="0"/>
              </a:rPr>
              <a:t>onClick</a:t>
            </a:r>
            <a:r>
              <a:rPr lang="en-US" sz="1400" b="0" dirty="0">
                <a:solidFill>
                  <a:srgbClr val="F44747"/>
                </a:solidFill>
                <a:effectLst/>
                <a:latin typeface="Consolas" panose="020B0609020204030204" pitchFamily="49" charset="0"/>
              </a:rPr>
              <a:t>()"&gt;</a:t>
            </a:r>
            <a:r>
              <a:rPr lang="en-US" sz="1400" b="0" dirty="0" err="1">
                <a:solidFill>
                  <a:srgbClr val="F44747"/>
                </a:solidFill>
                <a:effectLst/>
                <a:latin typeface="Consolas" panose="020B0609020204030204" pitchFamily="49" charset="0"/>
              </a:rPr>
              <a:t>Cliquez-moi</a:t>
            </a:r>
            <a:r>
              <a:rPr lang="en-US" sz="1400" b="0" dirty="0">
                <a:solidFill>
                  <a:srgbClr val="F44747"/>
                </a:solidFill>
                <a:effectLst/>
                <a:latin typeface="Consolas" panose="020B0609020204030204" pitchFamily="49" charset="0"/>
              </a:rPr>
              <a:t>&lt;/button&gt;</a:t>
            </a:r>
            <a:endParaRPr lang="en-US" sz="1400" b="0" dirty="0">
              <a:solidFill>
                <a:srgbClr val="344054"/>
              </a:solidFill>
              <a:effectLst/>
              <a:latin typeface="Consolas" panose="020B0609020204030204" pitchFamily="49" charset="0"/>
            </a:endParaRPr>
          </a:p>
          <a:p>
            <a:pPr>
              <a:lnSpc>
                <a:spcPts val="1425"/>
              </a:lnSpc>
              <a:buNone/>
            </a:pPr>
            <a:br>
              <a:rPr lang="en-US" sz="1400" b="0" dirty="0">
                <a:solidFill>
                  <a:srgbClr val="344054"/>
                </a:solidFill>
                <a:effectLst/>
                <a:latin typeface="Consolas" panose="020B0609020204030204" pitchFamily="49" charset="0"/>
              </a:rPr>
            </a:br>
            <a:endParaRPr lang="en-US" sz="1400" b="0" dirty="0">
              <a:solidFill>
                <a:srgbClr val="344054"/>
              </a:solidFill>
              <a:effectLst/>
              <a:latin typeface="Consolas" panose="020B0609020204030204" pitchFamily="49" charset="0"/>
            </a:endParaRPr>
          </a:p>
        </p:txBody>
      </p:sp>
      <p:sp>
        <p:nvSpPr>
          <p:cNvPr id="8" name="ZoneTexte 7">
            <a:extLst>
              <a:ext uri="{FF2B5EF4-FFF2-40B4-BE49-F238E27FC236}">
                <a16:creationId xmlns:a16="http://schemas.microsoft.com/office/drawing/2014/main" id="{43367794-9A6B-77E2-F216-E28D8A1DD010}"/>
              </a:ext>
            </a:extLst>
          </p:cNvPr>
          <p:cNvSpPr txBox="1"/>
          <p:nvPr/>
        </p:nvSpPr>
        <p:spPr>
          <a:xfrm>
            <a:off x="1424972" y="4510383"/>
            <a:ext cx="3338221" cy="1004506"/>
          </a:xfrm>
          <a:prstGeom prst="rect">
            <a:avLst/>
          </a:prstGeom>
          <a:noFill/>
        </p:spPr>
        <p:txBody>
          <a:bodyPr wrap="square">
            <a:spAutoFit/>
          </a:bodyPr>
          <a:lstStyle/>
          <a:p>
            <a:pPr>
              <a:lnSpc>
                <a:spcPts val="1425"/>
              </a:lnSpc>
              <a:buNone/>
            </a:pPr>
            <a:r>
              <a:rPr lang="en-US" sz="1400" b="1" dirty="0">
                <a:solidFill>
                  <a:schemeClr val="accent6">
                    <a:lumMod val="75000"/>
                  </a:schemeClr>
                </a:solidFill>
                <a:latin typeface="Consolas" panose="020B0609020204030204" pitchFamily="49" charset="0"/>
              </a:rPr>
              <a:t>//</a:t>
            </a:r>
            <a:r>
              <a:rPr lang="en-US" sz="1400" b="1" dirty="0" err="1">
                <a:solidFill>
                  <a:schemeClr val="accent6">
                    <a:lumMod val="75000"/>
                  </a:schemeClr>
                </a:solidFill>
                <a:latin typeface="Consolas" panose="020B0609020204030204" pitchFamily="49" charset="0"/>
              </a:rPr>
              <a:t>app.ts</a:t>
            </a:r>
            <a:r>
              <a:rPr lang="en-US" sz="1400" b="1" dirty="0">
                <a:solidFill>
                  <a:schemeClr val="accent6">
                    <a:lumMod val="75000"/>
                  </a:schemeClr>
                </a:solidFill>
                <a:latin typeface="Consolas" panose="020B0609020204030204" pitchFamily="49" charset="0"/>
              </a:rPr>
              <a:t> – Property Binding</a:t>
            </a:r>
          </a:p>
          <a:p>
            <a:pPr>
              <a:lnSpc>
                <a:spcPts val="1425"/>
              </a:lnSpc>
              <a:buNone/>
            </a:pPr>
            <a:r>
              <a:rPr lang="fr-FR" sz="1400" b="1" dirty="0" err="1">
                <a:solidFill>
                  <a:srgbClr val="005A9C"/>
                </a:solidFill>
                <a:latin typeface="Consolas" panose="020B0609020204030204" pitchFamily="49" charset="0"/>
              </a:rPr>
              <a:t>name</a:t>
            </a:r>
            <a:r>
              <a:rPr lang="fr-FR" sz="1400" b="1" dirty="0">
                <a:solidFill>
                  <a:srgbClr val="344054"/>
                </a:solidFill>
                <a:latin typeface="Consolas" panose="020B0609020204030204" pitchFamily="49" charset="0"/>
              </a:rPr>
              <a:t> </a:t>
            </a:r>
            <a:r>
              <a:rPr lang="fr-FR" sz="1400" b="1" dirty="0">
                <a:solidFill>
                  <a:srgbClr val="475467"/>
                </a:solidFill>
                <a:latin typeface="Consolas" panose="020B0609020204030204" pitchFamily="49" charset="0"/>
              </a:rPr>
              <a:t>=</a:t>
            </a:r>
            <a:r>
              <a:rPr lang="fr-FR" sz="1400" b="1" dirty="0">
                <a:solidFill>
                  <a:srgbClr val="344054"/>
                </a:solidFill>
                <a:latin typeface="Consolas" panose="020B0609020204030204" pitchFamily="49" charset="0"/>
              </a:rPr>
              <a:t> </a:t>
            </a:r>
            <a:r>
              <a:rPr lang="fr-FR" sz="1400" b="1" dirty="0">
                <a:solidFill>
                  <a:srgbClr val="A64B27"/>
                </a:solidFill>
                <a:latin typeface="Consolas" panose="020B0609020204030204" pitchFamily="49" charset="0"/>
              </a:rPr>
              <a:t>"</a:t>
            </a:r>
            <a:r>
              <a:rPr lang="fr-FR" sz="1400" b="1" dirty="0" err="1">
                <a:solidFill>
                  <a:srgbClr val="A64B27"/>
                </a:solidFill>
                <a:latin typeface="Consolas" panose="020B0609020204030204" pitchFamily="49" charset="0"/>
              </a:rPr>
              <a:t>alice</a:t>
            </a:r>
            <a:r>
              <a:rPr lang="fr-FR" sz="1400" b="1" dirty="0">
                <a:solidFill>
                  <a:srgbClr val="A64B27"/>
                </a:solidFill>
                <a:latin typeface="Consolas" panose="020B0609020204030204" pitchFamily="49" charset="0"/>
              </a:rPr>
              <a:t>"</a:t>
            </a:r>
            <a:r>
              <a:rPr lang="fr-FR" sz="1400" b="1" dirty="0">
                <a:solidFill>
                  <a:srgbClr val="344054"/>
                </a:solidFill>
                <a:latin typeface="Consolas" panose="020B0609020204030204" pitchFamily="49" charset="0"/>
              </a:rPr>
              <a:t>;</a:t>
            </a:r>
          </a:p>
          <a:p>
            <a:pPr>
              <a:lnSpc>
                <a:spcPts val="1425"/>
              </a:lnSpc>
              <a:buNone/>
            </a:pPr>
            <a:endParaRPr lang="fr-FR" sz="1400" b="1" dirty="0">
              <a:solidFill>
                <a:srgbClr val="344054"/>
              </a:solidFill>
              <a:latin typeface="Consolas" panose="020B0609020204030204" pitchFamily="49" charset="0"/>
            </a:endParaRPr>
          </a:p>
          <a:p>
            <a:pPr>
              <a:lnSpc>
                <a:spcPts val="1425"/>
              </a:lnSpc>
              <a:buNone/>
            </a:pPr>
            <a:r>
              <a:rPr lang="en-US" sz="1400" b="1" dirty="0">
                <a:solidFill>
                  <a:schemeClr val="accent6">
                    <a:lumMod val="75000"/>
                  </a:schemeClr>
                </a:solidFill>
                <a:latin typeface="Consolas" panose="020B0609020204030204" pitchFamily="49" charset="0"/>
              </a:rPr>
              <a:t>//app.html</a:t>
            </a:r>
          </a:p>
          <a:p>
            <a:pPr>
              <a:lnSpc>
                <a:spcPts val="1425"/>
              </a:lnSpc>
              <a:buNone/>
            </a:pPr>
            <a:r>
              <a:rPr lang="fr-FR" sz="1400" b="1" dirty="0">
                <a:solidFill>
                  <a:srgbClr val="475467"/>
                </a:solidFill>
                <a:latin typeface="Consolas" panose="020B0609020204030204" pitchFamily="49" charset="0"/>
              </a:rPr>
              <a:t>&lt;</a:t>
            </a:r>
            <a:r>
              <a:rPr lang="fr-FR" sz="1400" b="1" dirty="0">
                <a:solidFill>
                  <a:srgbClr val="1967B3"/>
                </a:solidFill>
                <a:latin typeface="Consolas" panose="020B0609020204030204" pitchFamily="49" charset="0"/>
              </a:rPr>
              <a:t>input</a:t>
            </a:r>
            <a:r>
              <a:rPr lang="fr-FR" sz="1400" b="1" dirty="0">
                <a:solidFill>
                  <a:srgbClr val="344054"/>
                </a:solidFill>
                <a:latin typeface="Consolas" panose="020B0609020204030204" pitchFamily="49" charset="0"/>
              </a:rPr>
              <a:t> </a:t>
            </a:r>
            <a:r>
              <a:rPr lang="fr-FR" sz="1400" b="1" dirty="0">
                <a:solidFill>
                  <a:srgbClr val="F44747"/>
                </a:solidFill>
                <a:latin typeface="Consolas" panose="020B0609020204030204" pitchFamily="49" charset="0"/>
              </a:rPr>
              <a:t>[</a:t>
            </a:r>
            <a:r>
              <a:rPr lang="fr-FR" sz="1400" b="1" dirty="0">
                <a:latin typeface="Consolas" panose="020B0609020204030204" pitchFamily="49" charset="0"/>
              </a:rPr>
              <a:t>value</a:t>
            </a:r>
            <a:r>
              <a:rPr lang="fr-FR" sz="1400" b="1" dirty="0">
                <a:solidFill>
                  <a:srgbClr val="F44747"/>
                </a:solidFill>
                <a:latin typeface="Consolas" panose="020B0609020204030204" pitchFamily="49" charset="0"/>
              </a:rPr>
              <a:t>]="</a:t>
            </a:r>
            <a:r>
              <a:rPr lang="fr-FR" sz="1400" b="1" dirty="0" err="1">
                <a:solidFill>
                  <a:srgbClr val="F44747"/>
                </a:solidFill>
                <a:latin typeface="Consolas" panose="020B0609020204030204" pitchFamily="49" charset="0"/>
              </a:rPr>
              <a:t>name</a:t>
            </a:r>
            <a:r>
              <a:rPr lang="fr-FR" sz="1400" b="1" dirty="0">
                <a:solidFill>
                  <a:srgbClr val="F44747"/>
                </a:solidFill>
                <a:latin typeface="Consolas" panose="020B0609020204030204" pitchFamily="49" charset="0"/>
              </a:rPr>
              <a:t>"</a:t>
            </a:r>
            <a:r>
              <a:rPr lang="fr-FR" sz="1400" b="1" dirty="0">
                <a:solidFill>
                  <a:srgbClr val="344054"/>
                </a:solidFill>
                <a:latin typeface="Consolas" panose="020B0609020204030204" pitchFamily="49" charset="0"/>
              </a:rPr>
              <a:t> </a:t>
            </a:r>
            <a:r>
              <a:rPr lang="fr-FR" sz="1400" b="1" dirty="0">
                <a:solidFill>
                  <a:srgbClr val="475467"/>
                </a:solidFill>
                <a:latin typeface="Consolas" panose="020B0609020204030204" pitchFamily="49" charset="0"/>
              </a:rPr>
              <a:t>/&gt;</a:t>
            </a:r>
          </a:p>
        </p:txBody>
      </p:sp>
    </p:spTree>
    <p:extLst>
      <p:ext uri="{BB962C8B-B14F-4D97-AF65-F5344CB8AC3E}">
        <p14:creationId xmlns:p14="http://schemas.microsoft.com/office/powerpoint/2010/main" val="3729706300"/>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C861A-DF45-806A-5055-C36049ED457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F0F442B-8055-D286-6F0F-06D979C0A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8871B17-0325-F95A-E9CB-F02648768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D00E40E-7FBA-D885-58D7-7F27A8B6C88D}"/>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3" name="Espace réservé du numéro de diapositive 2">
            <a:extLst>
              <a:ext uri="{FF2B5EF4-FFF2-40B4-BE49-F238E27FC236}">
                <a16:creationId xmlns:a16="http://schemas.microsoft.com/office/drawing/2014/main" id="{3457E5EF-F32B-92C1-BA7A-14B1E9080C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3DF167BC-2743-40A0-8811-0BC1A8E58A02}"/>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input() et output() : le composant enfant</a:t>
            </a:r>
          </a:p>
        </p:txBody>
      </p:sp>
      <p:sp>
        <p:nvSpPr>
          <p:cNvPr id="101" name="example-label">
            <a:extLst>
              <a:ext uri="{FF2B5EF4-FFF2-40B4-BE49-F238E27FC236}">
                <a16:creationId xmlns:a16="http://schemas.microsoft.com/office/drawing/2014/main" id="{43D35719-062A-496B-B467-952DB5923822}"/>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task-item.ts</a:t>
            </a:r>
          </a:p>
        </p:txBody>
      </p:sp>
      <p:sp>
        <p:nvSpPr>
          <p:cNvPr id="102" name="angular-code">
            <a:extLst>
              <a:ext uri="{FF2B5EF4-FFF2-40B4-BE49-F238E27FC236}">
                <a16:creationId xmlns:a16="http://schemas.microsoft.com/office/drawing/2014/main" id="{3003FCFF-BB42-4EA1-B8A0-FEEC2B187A7D}"/>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Component</a:t>
            </a:r>
            <a:r>
              <a:t>, </a:t>
            </a:r>
            <a:r>
              <a:rPr>
                <a:solidFill>
                  <a:srgbClr val="008977"/>
                </a:solidFill>
              </a:rPr>
              <a:t>input</a:t>
            </a:r>
            <a:r>
              <a:t>, </a:t>
            </a:r>
            <a:r>
              <a:rPr>
                <a:solidFill>
                  <a:srgbClr val="008977"/>
                </a:solidFill>
              </a:rPr>
              <a:t>output</a:t>
            </a:r>
            <a:r>
              <a:t> }</a:t>
            </a:r>
          </a:p>
          <a:p>
            <a:pPr>
              <a:spcAft>
                <a:spcPts val="0"/>
              </a:spcAft>
              <a:defRPr sz="1350" b="0">
                <a:solidFill>
                  <a:srgbClr val="000000"/>
                </a:solidFill>
                <a:latin typeface="Consolas"/>
                <a:ea typeface="Consolas"/>
                <a:cs typeface="Consolas"/>
              </a:defRPr>
            </a:pPr>
            <a:r>
              <a:t>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Task</a:t>
            </a:r>
            <a:r>
              <a:t> } </a:t>
            </a:r>
            <a:r>
              <a:rPr>
                <a:solidFill>
                  <a:srgbClr val="8D36A8"/>
                </a:solidFill>
              </a:rPr>
              <a:t>from</a:t>
            </a:r>
            <a:r>
              <a:t> </a:t>
            </a:r>
            <a:r>
              <a:rPr>
                <a:solidFill>
                  <a:srgbClr val="B44520"/>
                </a:solidFill>
              </a:rPr>
              <a:t>'./task'</a:t>
            </a:r>
            <a:r>
              <a:t>;</a:t>
            </a:r>
          </a:p>
          <a:p>
            <a:pPr>
              <a:spcAft>
                <a:spcPts val="0"/>
              </a:spcAft>
              <a:defRPr sz="1350" b="0">
                <a:solidFill>
                  <a:srgbClr val="000000"/>
                </a:solidFill>
                <a:latin typeface="Consolas"/>
                <a:ea typeface="Consolas"/>
                <a:cs typeface="Consolas"/>
              </a:defRPr>
            </a:pPr>
            <a:r>
              <a:t>@</a:t>
            </a:r>
            <a:r>
              <a:rPr>
                <a:solidFill>
                  <a:srgbClr val="008977"/>
                </a:solidFill>
              </a:rPr>
              <a:t>Component</a:t>
            </a:r>
            <a:r>
              <a:t>({</a:t>
            </a:r>
          </a:p>
          <a:p>
            <a:pPr>
              <a:spcAft>
                <a:spcPts val="0"/>
              </a:spcAft>
              <a:defRPr sz="1350" b="0">
                <a:solidFill>
                  <a:srgbClr val="000000"/>
                </a:solidFill>
                <a:latin typeface="Consolas"/>
                <a:ea typeface="Consolas"/>
                <a:cs typeface="Consolas"/>
              </a:defRPr>
            </a:pPr>
            <a:r>
              <a:t>  selector: </a:t>
            </a:r>
            <a:r>
              <a:rPr>
                <a:solidFill>
                  <a:srgbClr val="B44520"/>
                </a:solidFill>
              </a:rPr>
              <a:t>'app-task-item'</a:t>
            </a:r>
            <a:r>
              <a:t>, standalone: </a:t>
            </a:r>
            <a:r>
              <a:rPr>
                <a:solidFill>
                  <a:srgbClr val="8D36A8"/>
                </a:solidFill>
              </a:rPr>
              <a:t>true</a:t>
            </a:r>
            <a:r>
              <a:t>,</a:t>
            </a:r>
          </a:p>
          <a:p>
            <a:pPr>
              <a:spcAft>
                <a:spcPts val="0"/>
              </a:spcAft>
              <a:defRPr sz="1350" b="0">
                <a:solidFill>
                  <a:srgbClr val="000000"/>
                </a:solidFill>
                <a:latin typeface="Consolas"/>
                <a:ea typeface="Consolas"/>
                <a:cs typeface="Consolas"/>
              </a:defRPr>
            </a:pPr>
            <a:r>
              <a:t>  template: `</a:t>
            </a:r>
          </a:p>
          <a:p>
            <a:pPr>
              <a:spcAft>
                <a:spcPts val="0"/>
              </a:spcAft>
              <a:defRPr sz="1350" b="0">
                <a:solidFill>
                  <a:srgbClr val="000000"/>
                </a:solidFill>
                <a:latin typeface="Consolas"/>
                <a:ea typeface="Consolas"/>
                <a:cs typeface="Consolas"/>
              </a:defRPr>
            </a:pPr>
            <a:r>
              <a:t>    &lt;label&gt;</a:t>
            </a:r>
          </a:p>
          <a:p>
            <a:pPr>
              <a:spcAft>
                <a:spcPts val="0"/>
              </a:spcAft>
              <a:defRPr sz="1350" b="0">
                <a:solidFill>
                  <a:srgbClr val="000000"/>
                </a:solidFill>
                <a:latin typeface="Consolas"/>
                <a:ea typeface="Consolas"/>
                <a:cs typeface="Consolas"/>
              </a:defRPr>
            </a:pPr>
            <a:r>
              <a:t>      &lt;</a:t>
            </a:r>
            <a:r>
              <a:rPr>
                <a:solidFill>
                  <a:srgbClr val="008977"/>
                </a:solidFill>
              </a:rPr>
              <a:t>input</a:t>
            </a:r>
            <a:r>
              <a:t> type=</a:t>
            </a:r>
            <a:r>
              <a:rPr>
                <a:solidFill>
                  <a:srgbClr val="B44520"/>
                </a:solidFill>
              </a:rPr>
              <a:t>"checkbox"</a:t>
            </a:r>
            <a:r>
              <a:t> [checked]=</a:t>
            </a:r>
            <a:r>
              <a:rPr>
                <a:solidFill>
                  <a:srgbClr val="B44520"/>
                </a:solidFill>
              </a:rPr>
              <a:t>"task().done"</a:t>
            </a:r>
          </a:p>
          <a:p>
            <a:pPr>
              <a:spcAft>
                <a:spcPts val="0"/>
              </a:spcAft>
              <a:defRPr sz="1350" b="0">
                <a:solidFill>
                  <a:srgbClr val="000000"/>
                </a:solidFill>
                <a:latin typeface="Consolas"/>
                <a:ea typeface="Consolas"/>
                <a:cs typeface="Consolas"/>
              </a:defRPr>
            </a:pPr>
            <a:r>
              <a:t>        (change)=</a:t>
            </a:r>
            <a:r>
              <a:rPr>
                <a:solidFill>
                  <a:srgbClr val="B44520"/>
                </a:solidFill>
              </a:rPr>
              <a:t>"toggled.emit(task().id)"</a:t>
            </a:r>
            <a:r>
              <a:t>&gt;</a:t>
            </a:r>
          </a:p>
          <a:p>
            <a:pPr>
              <a:spcAft>
                <a:spcPts val="0"/>
              </a:spcAft>
              <a:defRPr sz="1350" b="0">
                <a:solidFill>
                  <a:srgbClr val="000000"/>
                </a:solidFill>
                <a:latin typeface="Consolas"/>
                <a:ea typeface="Consolas"/>
                <a:cs typeface="Consolas"/>
              </a:defRPr>
            </a:pPr>
            <a:r>
              <a:t>      {{ task().title }}</a:t>
            </a:r>
          </a:p>
          <a:p>
            <a:pPr>
              <a:spcAft>
                <a:spcPts val="0"/>
              </a:spcAft>
              <a:defRPr sz="1350" b="0">
                <a:solidFill>
                  <a:srgbClr val="000000"/>
                </a:solidFill>
                <a:latin typeface="Consolas"/>
                <a:ea typeface="Consolas"/>
                <a:cs typeface="Consolas"/>
              </a:defRPr>
            </a:pPr>
            <a:r>
              <a:t>    &lt;/label&gt;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TaskItem {</a:t>
            </a:r>
          </a:p>
          <a:p>
            <a:pPr>
              <a:spcAft>
                <a:spcPts val="0"/>
              </a:spcAft>
              <a:defRPr sz="1350" b="0">
                <a:solidFill>
                  <a:srgbClr val="000000"/>
                </a:solidFill>
                <a:latin typeface="Consolas"/>
                <a:ea typeface="Consolas"/>
                <a:cs typeface="Consolas"/>
              </a:defRPr>
            </a:pPr>
            <a:r>
              <a:t>  </a:t>
            </a:r>
            <a:r>
              <a:rPr>
                <a:solidFill>
                  <a:srgbClr val="8D36A8"/>
                </a:solidFill>
              </a:rPr>
              <a:t>readonly</a:t>
            </a:r>
            <a:r>
              <a:t> task = </a:t>
            </a:r>
            <a:r>
              <a:rPr>
                <a:solidFill>
                  <a:srgbClr val="008977"/>
                </a:solidFill>
              </a:rPr>
              <a:t>input</a:t>
            </a:r>
            <a:r>
              <a:t>.required&lt;</a:t>
            </a:r>
            <a:r>
              <a:rPr>
                <a:solidFill>
                  <a:srgbClr val="008977"/>
                </a:solidFill>
              </a:rPr>
              <a:t>Task</a:t>
            </a:r>
            <a:r>
              <a:t>&gt;();</a:t>
            </a:r>
          </a:p>
          <a:p>
            <a:pPr>
              <a:spcAft>
                <a:spcPts val="0"/>
              </a:spcAft>
              <a:defRPr sz="1350" b="0">
                <a:solidFill>
                  <a:srgbClr val="000000"/>
                </a:solidFill>
                <a:latin typeface="Consolas"/>
                <a:ea typeface="Consolas"/>
                <a:cs typeface="Consolas"/>
              </a:defRPr>
            </a:pPr>
            <a:r>
              <a:t>  </a:t>
            </a:r>
            <a:r>
              <a:rPr>
                <a:solidFill>
                  <a:srgbClr val="8D36A8"/>
                </a:solidFill>
              </a:rPr>
              <a:t>readonly</a:t>
            </a:r>
            <a:r>
              <a:t> toggled = </a:t>
            </a:r>
            <a:r>
              <a:rPr>
                <a:solidFill>
                  <a:srgbClr val="008977"/>
                </a:solidFill>
              </a:rPr>
              <a:t>output</a:t>
            </a:r>
            <a:r>
              <a:t>&lt;string&gt;();</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F4626CE0-BEED-4BB6-B1C2-90F2EAECE411}"/>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D2987F98-6FC7-4941-AEA8-BF4EF9EDA81C}"/>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input.required&lt;Task&gt;() impose une entrée au parent.</a:t>
            </a:r>
          </a:p>
          <a:p>
            <a:pPr marL="152400" indent="-114300">
              <a:spcAft>
                <a:spcPts val="500"/>
              </a:spcAft>
              <a:buChar char="•"/>
              <a:defRPr sz="1500" b="0">
                <a:solidFill>
                  <a:srgbClr val="000000"/>
                </a:solidFill>
                <a:latin typeface="Calibri"/>
                <a:ea typeface="Calibri"/>
                <a:cs typeface="Calibri"/>
              </a:defRPr>
            </a:pPr>
            <a:r>
              <a:t>task() lit l’InputSignal.</a:t>
            </a:r>
          </a:p>
          <a:p>
            <a:pPr marL="152400" indent="-114300">
              <a:spcAft>
                <a:spcPts val="500"/>
              </a:spcAft>
              <a:buChar char="•"/>
              <a:defRPr sz="1500" b="0">
                <a:solidFill>
                  <a:srgbClr val="000000"/>
                </a:solidFill>
                <a:latin typeface="Calibri"/>
                <a:ea typeface="Calibri"/>
                <a:cs typeface="Calibri"/>
              </a:defRPr>
            </a:pPr>
            <a:r>
              <a:t>emit(id) transmet une intention au parent.</a:t>
            </a:r>
          </a:p>
          <a:p>
            <a:pPr marL="152400" indent="-114300">
              <a:spcAft>
                <a:spcPts val="500"/>
              </a:spcAft>
              <a:buChar char="•"/>
              <a:defRPr sz="1500" b="0">
                <a:solidFill>
                  <a:srgbClr val="000000"/>
                </a:solidFill>
                <a:latin typeface="Calibri"/>
                <a:ea typeface="Calibri"/>
                <a:cs typeface="Calibri"/>
              </a:defRPr>
            </a:pPr>
            <a:r>
              <a:t>output() fournit un émetteur, pas un signal de valeur.</a:t>
            </a:r>
          </a:p>
        </p:txBody>
      </p:sp>
    </p:spTree>
    <p:extLst>
      <p:ext uri="{BB962C8B-B14F-4D97-AF65-F5344CB8AC3E}">
        <p14:creationId xmlns:p14="http://schemas.microsoft.com/office/powerpoint/2010/main" val="372970630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C861A-DF45-806A-5055-C36049ED457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F0F442B-8055-D286-6F0F-06D979C0A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8871B17-0325-F95A-E9CB-F02648768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D00E40E-7FBA-D885-58D7-7F27A8B6C88D}"/>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3" name="Espace réservé du numéro de diapositive 2">
            <a:extLst>
              <a:ext uri="{FF2B5EF4-FFF2-40B4-BE49-F238E27FC236}">
                <a16:creationId xmlns:a16="http://schemas.microsoft.com/office/drawing/2014/main" id="{3457E5EF-F32B-92C1-BA7A-14B1E9080C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B82E8121-F673-4865-AE5F-43699F538A15}"/>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input() et output() : le composant parent</a:t>
            </a:r>
          </a:p>
        </p:txBody>
      </p:sp>
      <p:sp>
        <p:nvSpPr>
          <p:cNvPr id="101" name="example-label">
            <a:extLst>
              <a:ext uri="{FF2B5EF4-FFF2-40B4-BE49-F238E27FC236}">
                <a16:creationId xmlns:a16="http://schemas.microsoft.com/office/drawing/2014/main" id="{1079150F-FD04-45BE-9EE2-2746BF849542}"/>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Données descendantes et action remontante</a:t>
            </a:r>
          </a:p>
        </p:txBody>
      </p:sp>
      <p:sp>
        <p:nvSpPr>
          <p:cNvPr id="102" name="angular-code">
            <a:extLst>
              <a:ext uri="{FF2B5EF4-FFF2-40B4-BE49-F238E27FC236}">
                <a16:creationId xmlns:a16="http://schemas.microsoft.com/office/drawing/2014/main" id="{503886E0-BD8A-4DF2-9DC4-905941A11395}"/>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Component</a:t>
            </a:r>
            <a:r>
              <a:t>, </a:t>
            </a:r>
            <a:r>
              <a:rPr>
                <a:solidFill>
                  <a:srgbClr val="008977"/>
                </a:solidFill>
              </a:rPr>
              <a:t>signal</a:t>
            </a:r>
            <a:r>
              <a:t> }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rPr>
                <a:solidFill>
                  <a:srgbClr val="8D36A8"/>
                </a:solidFill>
              </a:rPr>
              <a:t>import</a:t>
            </a:r>
            <a:r>
              <a:t> { TaskItem } </a:t>
            </a:r>
            <a:r>
              <a:rPr>
                <a:solidFill>
                  <a:srgbClr val="8D36A8"/>
                </a:solidFill>
              </a:rPr>
              <a:t>from</a:t>
            </a:r>
            <a:r>
              <a:t> </a:t>
            </a:r>
            <a:r>
              <a:rPr>
                <a:solidFill>
                  <a:srgbClr val="B44520"/>
                </a:solidFill>
              </a:rPr>
              <a:t>'./task-item'</a:t>
            </a:r>
            <a:r>
              <a:t>;</a:t>
            </a:r>
          </a:p>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Task</a:t>
            </a:r>
            <a:r>
              <a:t> } </a:t>
            </a:r>
            <a:r>
              <a:rPr>
                <a:solidFill>
                  <a:srgbClr val="8D36A8"/>
                </a:solidFill>
              </a:rPr>
              <a:t>from</a:t>
            </a:r>
            <a:r>
              <a:t> </a:t>
            </a:r>
            <a:r>
              <a:rPr>
                <a:solidFill>
                  <a:srgbClr val="B44520"/>
                </a:solidFill>
              </a:rPr>
              <a:t>'./task'</a:t>
            </a:r>
            <a:r>
              <a:t>;</a:t>
            </a:r>
          </a:p>
          <a:p>
            <a:pPr>
              <a:spcAft>
                <a:spcPts val="0"/>
              </a:spcAft>
              <a:defRPr sz="1350" b="0">
                <a:solidFill>
                  <a:srgbClr val="000000"/>
                </a:solidFill>
                <a:latin typeface="Consolas"/>
                <a:ea typeface="Consolas"/>
                <a:cs typeface="Consolas"/>
              </a:defRPr>
            </a:pPr>
            <a:r>
              <a:t>@</a:t>
            </a:r>
            <a:r>
              <a:rPr>
                <a:solidFill>
                  <a:srgbClr val="008977"/>
                </a:solidFill>
              </a:rPr>
              <a:t>Component</a:t>
            </a:r>
            <a:r>
              <a:t>({</a:t>
            </a:r>
          </a:p>
          <a:p>
            <a:pPr>
              <a:spcAft>
                <a:spcPts val="0"/>
              </a:spcAft>
              <a:defRPr sz="1350" b="0">
                <a:solidFill>
                  <a:srgbClr val="000000"/>
                </a:solidFill>
                <a:latin typeface="Consolas"/>
                <a:ea typeface="Consolas"/>
                <a:cs typeface="Consolas"/>
              </a:defRPr>
            </a:pPr>
            <a:r>
              <a:t>  selector: </a:t>
            </a:r>
            <a:r>
              <a:rPr>
                <a:solidFill>
                  <a:srgbClr val="B44520"/>
                </a:solidFill>
              </a:rPr>
              <a:t>'app-task-list'</a:t>
            </a:r>
            <a:r>
              <a:t>, standalone: </a:t>
            </a:r>
            <a:r>
              <a:rPr>
                <a:solidFill>
                  <a:srgbClr val="8D36A8"/>
                </a:solidFill>
              </a:rPr>
              <a:t>true</a:t>
            </a:r>
            <a:r>
              <a:t>,</a:t>
            </a:r>
          </a:p>
          <a:p>
            <a:pPr>
              <a:spcAft>
                <a:spcPts val="0"/>
              </a:spcAft>
              <a:defRPr sz="1350" b="0">
                <a:solidFill>
                  <a:srgbClr val="000000"/>
                </a:solidFill>
                <a:latin typeface="Consolas"/>
                <a:ea typeface="Consolas"/>
                <a:cs typeface="Consolas"/>
              </a:defRPr>
            </a:pPr>
            <a:r>
              <a:t>  imports: [TaskItem],</a:t>
            </a:r>
          </a:p>
          <a:p>
            <a:pPr>
              <a:spcAft>
                <a:spcPts val="0"/>
              </a:spcAft>
              <a:defRPr sz="1350" b="0">
                <a:solidFill>
                  <a:srgbClr val="000000"/>
                </a:solidFill>
                <a:latin typeface="Consolas"/>
                <a:ea typeface="Consolas"/>
                <a:cs typeface="Consolas"/>
              </a:defRPr>
            </a:pPr>
            <a:r>
              <a:t>  template: `</a:t>
            </a:r>
          </a:p>
          <a:p>
            <a:pPr>
              <a:spcAft>
                <a:spcPts val="0"/>
              </a:spcAft>
              <a:defRPr sz="1350" b="0">
                <a:solidFill>
                  <a:srgbClr val="000000"/>
                </a:solidFill>
                <a:latin typeface="Consolas"/>
                <a:ea typeface="Consolas"/>
                <a:cs typeface="Consolas"/>
              </a:defRPr>
            </a:pPr>
            <a:r>
              <a:t>    @for (t of tasks(); track t.id) {</a:t>
            </a:r>
          </a:p>
          <a:p>
            <a:pPr>
              <a:spcAft>
                <a:spcPts val="0"/>
              </a:spcAft>
              <a:defRPr sz="1350" b="0">
                <a:solidFill>
                  <a:srgbClr val="000000"/>
                </a:solidFill>
                <a:latin typeface="Consolas"/>
                <a:ea typeface="Consolas"/>
                <a:cs typeface="Consolas"/>
              </a:defRPr>
            </a:pPr>
            <a:r>
              <a:t>      &lt;app-task-item [task]=</a:t>
            </a:r>
            <a:r>
              <a:rPr>
                <a:solidFill>
                  <a:srgbClr val="B44520"/>
                </a:solidFill>
              </a:rPr>
              <a:t>"t"</a:t>
            </a:r>
          </a:p>
          <a:p>
            <a:pPr>
              <a:spcAft>
                <a:spcPts val="0"/>
              </a:spcAft>
              <a:defRPr sz="1350" b="0">
                <a:solidFill>
                  <a:srgbClr val="000000"/>
                </a:solidFill>
                <a:latin typeface="Consolas"/>
                <a:ea typeface="Consolas"/>
                <a:cs typeface="Consolas"/>
              </a:defRPr>
            </a:pPr>
            <a:r>
              <a:t>        (toggled)=</a:t>
            </a:r>
            <a:r>
              <a:rPr>
                <a:solidFill>
                  <a:srgbClr val="B44520"/>
                </a:solidFill>
              </a:rPr>
              <a:t>"toggle($event)"</a:t>
            </a:r>
            <a:r>
              <a:t> /&gt;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TaskList {</a:t>
            </a:r>
          </a:p>
          <a:p>
            <a:pPr>
              <a:spcAft>
                <a:spcPts val="0"/>
              </a:spcAft>
              <a:defRPr sz="1350" b="0">
                <a:solidFill>
                  <a:srgbClr val="000000"/>
                </a:solidFill>
                <a:latin typeface="Consolas"/>
                <a:ea typeface="Consolas"/>
                <a:cs typeface="Consolas"/>
              </a:defRPr>
            </a:pPr>
            <a:r>
              <a:t>  </a:t>
            </a:r>
            <a:r>
              <a:rPr>
                <a:solidFill>
                  <a:srgbClr val="8D36A8"/>
                </a:solidFill>
              </a:rPr>
              <a:t>readonly</a:t>
            </a:r>
            <a:r>
              <a:t> tasks = </a:t>
            </a:r>
            <a:r>
              <a:rPr>
                <a:solidFill>
                  <a:srgbClr val="008977"/>
                </a:solidFill>
              </a:rPr>
              <a:t>signal</a:t>
            </a:r>
            <a:r>
              <a:t>&lt;</a:t>
            </a:r>
            <a:r>
              <a:rPr>
                <a:solidFill>
                  <a:srgbClr val="008977"/>
                </a:solidFill>
              </a:rPr>
              <a:t>Task</a:t>
            </a:r>
            <a:r>
              <a:t>[]&gt;([]);</a:t>
            </a:r>
          </a:p>
          <a:p>
            <a:pPr>
              <a:spcAft>
                <a:spcPts val="0"/>
              </a:spcAft>
              <a:defRPr sz="1350" b="0">
                <a:solidFill>
                  <a:srgbClr val="000000"/>
                </a:solidFill>
                <a:latin typeface="Consolas"/>
                <a:ea typeface="Consolas"/>
                <a:cs typeface="Consolas"/>
              </a:defRPr>
            </a:pPr>
            <a:r>
              <a:t>  toggle(id: string) {</a:t>
            </a:r>
          </a:p>
          <a:p>
            <a:pPr>
              <a:spcAft>
                <a:spcPts val="0"/>
              </a:spcAft>
              <a:defRPr sz="1350" b="0">
                <a:solidFill>
                  <a:srgbClr val="000000"/>
                </a:solidFill>
                <a:latin typeface="Consolas"/>
                <a:ea typeface="Consolas"/>
                <a:cs typeface="Consolas"/>
              </a:defRPr>
            </a:pPr>
            <a:r>
              <a:t>    this.tasks.update(list =&gt; list.map(t =&gt;</a:t>
            </a:r>
          </a:p>
          <a:p>
            <a:pPr>
              <a:spcAft>
                <a:spcPts val="0"/>
              </a:spcAft>
              <a:defRPr sz="1350" b="0">
                <a:solidFill>
                  <a:srgbClr val="000000"/>
                </a:solidFill>
                <a:latin typeface="Consolas"/>
                <a:ea typeface="Consolas"/>
                <a:cs typeface="Consolas"/>
              </a:defRPr>
            </a:pPr>
            <a:r>
              <a:t>      t.id === id ? { ...t, done: !t.done } : 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34C17B60-45C3-4538-B281-66C859B66565}"/>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11EA6D1D-0F49-4940-B921-56AEFFA9D0F2}"/>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[task] fournit l’objet à l’enfant.</a:t>
            </a:r>
          </a:p>
          <a:p>
            <a:pPr marL="152400" indent="-114300">
              <a:spcAft>
                <a:spcPts val="500"/>
              </a:spcAft>
              <a:buChar char="•"/>
              <a:defRPr sz="1500" b="0">
                <a:solidFill>
                  <a:srgbClr val="000000"/>
                </a:solidFill>
                <a:latin typeface="Calibri"/>
                <a:ea typeface="Calibri"/>
                <a:cs typeface="Calibri"/>
              </a:defRPr>
            </a:pPr>
            <a:r>
              <a:t>(toggled) reçoit l’identifiant via $event.</a:t>
            </a:r>
          </a:p>
          <a:p>
            <a:pPr marL="152400" indent="-114300">
              <a:spcAft>
                <a:spcPts val="500"/>
              </a:spcAft>
              <a:buChar char="•"/>
              <a:defRPr sz="1500" b="0">
                <a:solidFill>
                  <a:srgbClr val="000000"/>
                </a:solidFill>
                <a:latin typeface="Calibri"/>
                <a:ea typeface="Calibri"/>
                <a:cs typeface="Calibri"/>
              </a:defRPr>
            </a:pPr>
            <a:r>
              <a:t>Le parent décide comment modifier son état.</a:t>
            </a:r>
          </a:p>
          <a:p>
            <a:pPr marL="152400" indent="-114300">
              <a:spcAft>
                <a:spcPts val="500"/>
              </a:spcAft>
              <a:buChar char="•"/>
              <a:defRPr sz="1500" b="0">
                <a:solidFill>
                  <a:srgbClr val="000000"/>
                </a:solidFill>
                <a:latin typeface="Calibri"/>
                <a:ea typeface="Calibri"/>
                <a:cs typeface="Calibri"/>
              </a:defRPr>
            </a:pPr>
            <a:r>
              <a:t>En React : prop task et callback onToggle.</a:t>
            </a:r>
          </a:p>
        </p:txBody>
      </p:sp>
    </p:spTree>
    <p:extLst>
      <p:ext uri="{BB962C8B-B14F-4D97-AF65-F5344CB8AC3E}">
        <p14:creationId xmlns:p14="http://schemas.microsoft.com/office/powerpoint/2010/main" val="3729706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C861A-DF45-806A-5055-C36049ED457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F0F442B-8055-D286-6F0F-06D979C0A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8871B17-0325-F95A-E9CB-F02648768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D00E40E-7FBA-D885-58D7-7F27A8B6C88D}"/>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3" name="Espace réservé du numéro de diapositive 2">
            <a:extLst>
              <a:ext uri="{FF2B5EF4-FFF2-40B4-BE49-F238E27FC236}">
                <a16:creationId xmlns:a16="http://schemas.microsoft.com/office/drawing/2014/main" id="{3457E5EF-F32B-92C1-BA7A-14B1E9080C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35</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5A36183D-F058-4ADC-976F-A1BBA32D5933}"/>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Signal et saisie : deux liaisons explicites</a:t>
            </a:r>
          </a:p>
        </p:txBody>
      </p:sp>
      <p:sp>
        <p:nvSpPr>
          <p:cNvPr id="101" name="example-label">
            <a:extLst>
              <a:ext uri="{FF2B5EF4-FFF2-40B4-BE49-F238E27FC236}">
                <a16:creationId xmlns:a16="http://schemas.microsoft.com/office/drawing/2014/main" id="{C0ED43A7-19D3-4F9A-9EF4-6DA4002DD014}"/>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Une valeur lue et un événement de mise à jour</a:t>
            </a:r>
          </a:p>
        </p:txBody>
      </p:sp>
      <p:sp>
        <p:nvSpPr>
          <p:cNvPr id="102" name="angular-code">
            <a:extLst>
              <a:ext uri="{FF2B5EF4-FFF2-40B4-BE49-F238E27FC236}">
                <a16:creationId xmlns:a16="http://schemas.microsoft.com/office/drawing/2014/main" id="{DE9B8F23-963B-411B-8712-E092DD9D5CDF}"/>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Component</a:t>
            </a:r>
            <a:r>
              <a:t>, </a:t>
            </a:r>
            <a:r>
              <a:rPr>
                <a:solidFill>
                  <a:srgbClr val="008977"/>
                </a:solidFill>
              </a:rPr>
              <a:t>signal</a:t>
            </a:r>
            <a:r>
              <a:t> }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t>@</a:t>
            </a:r>
            <a:r>
              <a:rPr>
                <a:solidFill>
                  <a:srgbClr val="008977"/>
                </a:solidFill>
              </a:rPr>
              <a:t>Component</a:t>
            </a:r>
            <a:r>
              <a:t>({</a:t>
            </a:r>
          </a:p>
          <a:p>
            <a:pPr>
              <a:spcAft>
                <a:spcPts val="0"/>
              </a:spcAft>
              <a:defRPr sz="1350" b="0">
                <a:solidFill>
                  <a:srgbClr val="000000"/>
                </a:solidFill>
                <a:latin typeface="Consolas"/>
                <a:ea typeface="Consolas"/>
                <a:cs typeface="Consolas"/>
              </a:defRPr>
            </a:pPr>
            <a:r>
              <a:t>  selector: </a:t>
            </a:r>
            <a:r>
              <a:rPr>
                <a:solidFill>
                  <a:srgbClr val="B44520"/>
                </a:solidFill>
              </a:rPr>
              <a:t>'app-greeting'</a:t>
            </a:r>
            <a:r>
              <a:t>, standalone: </a:t>
            </a:r>
            <a:r>
              <a:rPr>
                <a:solidFill>
                  <a:srgbClr val="8D36A8"/>
                </a:solidFill>
              </a:rPr>
              <a:t>true</a:t>
            </a:r>
            <a:r>
              <a:t>,</a:t>
            </a:r>
          </a:p>
          <a:p>
            <a:pPr>
              <a:spcAft>
                <a:spcPts val="0"/>
              </a:spcAft>
              <a:defRPr sz="1350" b="0">
                <a:solidFill>
                  <a:srgbClr val="000000"/>
                </a:solidFill>
                <a:latin typeface="Consolas"/>
                <a:ea typeface="Consolas"/>
                <a:cs typeface="Consolas"/>
              </a:defRPr>
            </a:pPr>
            <a:r>
              <a:t>  template: `</a:t>
            </a:r>
          </a:p>
          <a:p>
            <a:pPr>
              <a:spcAft>
                <a:spcPts val="0"/>
              </a:spcAft>
              <a:defRPr sz="1350" b="0">
                <a:solidFill>
                  <a:srgbClr val="000000"/>
                </a:solidFill>
                <a:latin typeface="Consolas"/>
                <a:ea typeface="Consolas"/>
                <a:cs typeface="Consolas"/>
              </a:defRPr>
            </a:pPr>
            <a:r>
              <a:t>    &lt;label for=</a:t>
            </a:r>
            <a:r>
              <a:rPr>
                <a:solidFill>
                  <a:srgbClr val="B44520"/>
                </a:solidFill>
              </a:rPr>
              <a:t>"name"</a:t>
            </a:r>
            <a:r>
              <a:t>&gt;Nom&lt;/label&gt;</a:t>
            </a:r>
          </a:p>
          <a:p>
            <a:pPr>
              <a:spcAft>
                <a:spcPts val="0"/>
              </a:spcAft>
              <a:defRPr sz="1350" b="0">
                <a:solidFill>
                  <a:srgbClr val="000000"/>
                </a:solidFill>
                <a:latin typeface="Consolas"/>
                <a:ea typeface="Consolas"/>
                <a:cs typeface="Consolas"/>
              </a:defRPr>
            </a:pPr>
            <a:r>
              <a:t>    &lt;</a:t>
            </a:r>
            <a:r>
              <a:rPr>
                <a:solidFill>
                  <a:srgbClr val="008977"/>
                </a:solidFill>
              </a:rPr>
              <a:t>input</a:t>
            </a:r>
            <a:r>
              <a:t> id=</a:t>
            </a:r>
            <a:r>
              <a:rPr>
                <a:solidFill>
                  <a:srgbClr val="B44520"/>
                </a:solidFill>
              </a:rPr>
              <a:t>"name"</a:t>
            </a:r>
            <a:r>
              <a:t> #nameField [value]=</a:t>
            </a:r>
            <a:r>
              <a:rPr>
                <a:solidFill>
                  <a:srgbClr val="B44520"/>
                </a:solidFill>
              </a:rPr>
              <a:t>"name()"</a:t>
            </a:r>
          </a:p>
          <a:p>
            <a:pPr>
              <a:spcAft>
                <a:spcPts val="0"/>
              </a:spcAft>
              <a:defRPr sz="1350" b="0">
                <a:solidFill>
                  <a:srgbClr val="000000"/>
                </a:solidFill>
                <a:latin typeface="Consolas"/>
                <a:ea typeface="Consolas"/>
                <a:cs typeface="Consolas"/>
              </a:defRPr>
            </a:pPr>
            <a:r>
              <a:t>      (</a:t>
            </a:r>
            <a:r>
              <a:rPr>
                <a:solidFill>
                  <a:srgbClr val="008977"/>
                </a:solidFill>
              </a:rPr>
              <a:t>input</a:t>
            </a:r>
            <a:r>
              <a:t>)=</a:t>
            </a:r>
            <a:r>
              <a:rPr>
                <a:solidFill>
                  <a:srgbClr val="B44520"/>
                </a:solidFill>
              </a:rPr>
              <a:t>"name.set(nameField.value)"</a:t>
            </a:r>
            <a:r>
              <a:t>&gt;</a:t>
            </a:r>
          </a:p>
          <a:p>
            <a:pPr>
              <a:spcAft>
                <a:spcPts val="0"/>
              </a:spcAft>
              <a:defRPr sz="1350" b="0">
                <a:solidFill>
                  <a:srgbClr val="000000"/>
                </a:solidFill>
                <a:latin typeface="Consolas"/>
                <a:ea typeface="Consolas"/>
                <a:cs typeface="Consolas"/>
              </a:defRPr>
            </a:pPr>
            <a:r>
              <a:t>    &lt;p&gt;Bonjour {{ name() }}&lt;/p&gt;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Greeting {</a:t>
            </a:r>
          </a:p>
          <a:p>
            <a:pPr>
              <a:spcAft>
                <a:spcPts val="0"/>
              </a:spcAft>
              <a:defRPr sz="1350" b="0">
                <a:solidFill>
                  <a:srgbClr val="000000"/>
                </a:solidFill>
                <a:latin typeface="Consolas"/>
                <a:ea typeface="Consolas"/>
                <a:cs typeface="Consolas"/>
              </a:defRPr>
            </a:pPr>
            <a:r>
              <a:t>  </a:t>
            </a:r>
            <a:r>
              <a:rPr>
                <a:solidFill>
                  <a:srgbClr val="8D36A8"/>
                </a:solidFill>
              </a:rPr>
              <a:t>readonly</a:t>
            </a:r>
            <a:r>
              <a:t> name = </a:t>
            </a:r>
            <a:r>
              <a:rPr>
                <a:solidFill>
                  <a:srgbClr val="008977"/>
                </a:solidFill>
              </a:rPr>
              <a:t>signal</a:t>
            </a:r>
            <a:r>
              <a:t>(</a:t>
            </a:r>
            <a:r>
              <a:rPr>
                <a:solidFill>
                  <a:srgbClr val="B44520"/>
                </a:solidFill>
              </a:rPr>
              <a:t>'Alice'</a:t>
            </a:r>
            <a:r>
              <a:t>);</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A7A5D64E-A41D-4894-B25A-A274A2B5F299}"/>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8B593DAF-A44A-44A7-A84E-A3AC8F3CC562}"/>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[value] lit name() dans le champ.</a:t>
            </a:r>
          </a:p>
          <a:p>
            <a:pPr marL="152400" indent="-114300">
              <a:spcAft>
                <a:spcPts val="500"/>
              </a:spcAft>
              <a:buChar char="•"/>
              <a:defRPr sz="1500" b="0">
                <a:solidFill>
                  <a:srgbClr val="000000"/>
                </a:solidFill>
                <a:latin typeface="Calibri"/>
                <a:ea typeface="Calibri"/>
                <a:cs typeface="Calibri"/>
              </a:defRPr>
            </a:pPr>
            <a:r>
              <a:t>(input) écrit la nouvelle valeur avec set().</a:t>
            </a:r>
          </a:p>
          <a:p>
            <a:pPr marL="152400" indent="-114300">
              <a:spcAft>
                <a:spcPts val="500"/>
              </a:spcAft>
              <a:buChar char="•"/>
              <a:defRPr sz="1500" b="0">
                <a:solidFill>
                  <a:srgbClr val="000000"/>
                </a:solidFill>
                <a:latin typeface="Calibri"/>
                <a:ea typeface="Calibri"/>
                <a:cs typeface="Calibri"/>
              </a:defRPr>
            </a:pPr>
            <a:r>
              <a:t>L’événement input couvre aussi le collage.</a:t>
            </a:r>
          </a:p>
          <a:p>
            <a:pPr marL="152400" indent="-114300">
              <a:spcAft>
                <a:spcPts val="500"/>
              </a:spcAft>
              <a:buChar char="•"/>
              <a:defRPr sz="1500" b="0">
                <a:solidFill>
                  <a:srgbClr val="000000"/>
                </a:solidFill>
                <a:latin typeface="Calibri"/>
                <a:ea typeface="Calibri"/>
                <a:cs typeface="Calibri"/>
              </a:defRPr>
            </a:pPr>
            <a:r>
              <a:t>Cette liaison simple ne remplace pas un modèle de formulaire.</a:t>
            </a:r>
          </a:p>
        </p:txBody>
      </p:sp>
    </p:spTree>
    <p:extLst>
      <p:ext uri="{BB962C8B-B14F-4D97-AF65-F5344CB8AC3E}">
        <p14:creationId xmlns:p14="http://schemas.microsoft.com/office/powerpoint/2010/main" val="372970630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B0C861A-DF45-806A-5055-C36049ED457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F0F442B-8055-D286-6F0F-06D979C0A6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8871B17-0325-F95A-E9CB-F026487683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4D00E40E-7FBA-D885-58D7-7F27A8B6C88D}"/>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Liaison de Données</a:t>
            </a:r>
          </a:p>
        </p:txBody>
      </p:sp>
      <p:sp>
        <p:nvSpPr>
          <p:cNvPr id="3" name="Espace réservé du numéro de diapositive 2">
            <a:extLst>
              <a:ext uri="{FF2B5EF4-FFF2-40B4-BE49-F238E27FC236}">
                <a16:creationId xmlns:a16="http://schemas.microsoft.com/office/drawing/2014/main" id="{3457E5EF-F32B-92C1-BA7A-14B1E9080C5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36</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B03DBEC0-0D71-43F0-BA33-5175D0865625}"/>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Templates modernes : @if et @for</a:t>
            </a:r>
          </a:p>
        </p:txBody>
      </p:sp>
      <p:sp>
        <p:nvSpPr>
          <p:cNvPr id="101" name="example-label">
            <a:extLst>
              <a:ext uri="{FF2B5EF4-FFF2-40B4-BE49-F238E27FC236}">
                <a16:creationId xmlns:a16="http://schemas.microsoft.com/office/drawing/2014/main" id="{623DB1EE-FF5F-4449-B0B9-4305E22CAB82}"/>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Des blocs intégrés au template</a:t>
            </a:r>
          </a:p>
        </p:txBody>
      </p:sp>
      <p:sp>
        <p:nvSpPr>
          <p:cNvPr id="102" name="angular-code">
            <a:extLst>
              <a:ext uri="{FF2B5EF4-FFF2-40B4-BE49-F238E27FC236}">
                <a16:creationId xmlns:a16="http://schemas.microsoft.com/office/drawing/2014/main" id="{7853E116-74FA-4079-B463-BB9B92DD417C}"/>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t>@</a:t>
            </a:r>
            <a:r>
              <a:rPr>
                <a:solidFill>
                  <a:srgbClr val="8D36A8"/>
                </a:solidFill>
              </a:rPr>
              <a:t>if</a:t>
            </a:r>
            <a:r>
              <a:t> (tasks().length &gt; </a:t>
            </a:r>
            <a:r>
              <a:rPr>
                <a:solidFill>
                  <a:srgbClr val="558B2F"/>
                </a:solidFill>
              </a:rPr>
              <a:t>0</a:t>
            </a:r>
            <a:r>
              <a:t>) {</a:t>
            </a:r>
          </a:p>
          <a:p>
            <a:pPr>
              <a:spcAft>
                <a:spcPts val="0"/>
              </a:spcAft>
              <a:defRPr sz="1350" b="0">
                <a:solidFill>
                  <a:srgbClr val="000000"/>
                </a:solidFill>
                <a:latin typeface="Consolas"/>
                <a:ea typeface="Consolas"/>
                <a:cs typeface="Consolas"/>
              </a:defRPr>
            </a:pPr>
            <a:r>
              <a:t>  &lt;p&gt;{{ tasks().length }} tâche(s)&lt;/p&gt;</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t>@for (task of tasks(); track task.id) {</a:t>
            </a:r>
          </a:p>
          <a:p>
            <a:pPr>
              <a:spcAft>
                <a:spcPts val="0"/>
              </a:spcAft>
              <a:defRPr sz="1350" b="0">
                <a:solidFill>
                  <a:srgbClr val="000000"/>
                </a:solidFill>
                <a:latin typeface="Consolas"/>
                <a:ea typeface="Consolas"/>
                <a:cs typeface="Consolas"/>
              </a:defRPr>
            </a:pPr>
            <a:r>
              <a:t>  &lt;label&gt;</a:t>
            </a:r>
          </a:p>
          <a:p>
            <a:pPr>
              <a:spcAft>
                <a:spcPts val="0"/>
              </a:spcAft>
              <a:defRPr sz="1350" b="0">
                <a:solidFill>
                  <a:srgbClr val="000000"/>
                </a:solidFill>
                <a:latin typeface="Consolas"/>
                <a:ea typeface="Consolas"/>
                <a:cs typeface="Consolas"/>
              </a:defRPr>
            </a:pPr>
            <a:r>
              <a:t>    &lt;</a:t>
            </a:r>
            <a:r>
              <a:rPr>
                <a:solidFill>
                  <a:srgbClr val="008977"/>
                </a:solidFill>
              </a:rPr>
              <a:t>input</a:t>
            </a:r>
            <a:r>
              <a:t> type=</a:t>
            </a:r>
            <a:r>
              <a:rPr>
                <a:solidFill>
                  <a:srgbClr val="B44520"/>
                </a:solidFill>
              </a:rPr>
              <a:t>"checkbox"</a:t>
            </a:r>
            <a:r>
              <a:t> [checked]=</a:t>
            </a:r>
            <a:r>
              <a:rPr>
                <a:solidFill>
                  <a:srgbClr val="B44520"/>
                </a:solidFill>
              </a:rPr>
              <a:t>"task.done"</a:t>
            </a:r>
          </a:p>
          <a:p>
            <a:pPr>
              <a:spcAft>
                <a:spcPts val="0"/>
              </a:spcAft>
              <a:defRPr sz="1350" b="0">
                <a:solidFill>
                  <a:srgbClr val="000000"/>
                </a:solidFill>
                <a:latin typeface="Consolas"/>
                <a:ea typeface="Consolas"/>
                <a:cs typeface="Consolas"/>
              </a:defRPr>
            </a:pPr>
            <a:r>
              <a:t>      (change)=</a:t>
            </a:r>
            <a:r>
              <a:rPr>
                <a:solidFill>
                  <a:srgbClr val="B44520"/>
                </a:solidFill>
              </a:rPr>
              <a:t>"toggle(task.id)"</a:t>
            </a:r>
            <a:r>
              <a:t>&gt;</a:t>
            </a:r>
          </a:p>
          <a:p>
            <a:pPr>
              <a:spcAft>
                <a:spcPts val="0"/>
              </a:spcAft>
              <a:defRPr sz="1350" b="0">
                <a:solidFill>
                  <a:srgbClr val="000000"/>
                </a:solidFill>
                <a:latin typeface="Consolas"/>
                <a:ea typeface="Consolas"/>
                <a:cs typeface="Consolas"/>
              </a:defRPr>
            </a:pPr>
            <a:r>
              <a:t>    {{ task.title }}</a:t>
            </a:r>
          </a:p>
          <a:p>
            <a:pPr>
              <a:spcAft>
                <a:spcPts val="0"/>
              </a:spcAft>
              <a:defRPr sz="1350" b="0">
                <a:solidFill>
                  <a:srgbClr val="000000"/>
                </a:solidFill>
                <a:latin typeface="Consolas"/>
                <a:ea typeface="Consolas"/>
                <a:cs typeface="Consolas"/>
              </a:defRPr>
            </a:pPr>
            <a:r>
              <a:t>  &lt;/label&gt;</a:t>
            </a:r>
          </a:p>
          <a:p>
            <a:pPr>
              <a:spcAft>
                <a:spcPts val="0"/>
              </a:spcAft>
              <a:defRPr sz="1350" b="0">
                <a:solidFill>
                  <a:srgbClr val="000000"/>
                </a:solidFill>
                <a:latin typeface="Consolas"/>
                <a:ea typeface="Consolas"/>
                <a:cs typeface="Consolas"/>
              </a:defRPr>
            </a:pPr>
            <a:r>
              <a:t>} @empty {</a:t>
            </a:r>
          </a:p>
          <a:p>
            <a:pPr>
              <a:spcAft>
                <a:spcPts val="0"/>
              </a:spcAft>
              <a:defRPr sz="1350" b="0">
                <a:solidFill>
                  <a:srgbClr val="000000"/>
                </a:solidFill>
                <a:latin typeface="Consolas"/>
                <a:ea typeface="Consolas"/>
                <a:cs typeface="Consolas"/>
              </a:defRPr>
            </a:pPr>
            <a:r>
              <a:t>  &lt;p&gt;Aucune tâche pour le moment.&lt;/p&gt;</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3D0F23C7-A9DA-4C68-9871-5ADC662C067E}"/>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F4833FD3-CC8E-4E6F-AA86-67B5F1999021}"/>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@if affiche un bloc sous condition.</a:t>
            </a:r>
          </a:p>
          <a:p>
            <a:pPr marL="152400" indent="-114300">
              <a:spcAft>
                <a:spcPts val="500"/>
              </a:spcAft>
              <a:buChar char="•"/>
              <a:defRPr sz="1500" b="0">
                <a:solidFill>
                  <a:srgbClr val="000000"/>
                </a:solidFill>
                <a:latin typeface="Calibri"/>
                <a:ea typeface="Calibri"/>
                <a:cs typeface="Calibri"/>
              </a:defRPr>
            </a:pPr>
            <a:r>
              <a:t>@for parcourt les données et suit chaque id.</a:t>
            </a:r>
          </a:p>
          <a:p>
            <a:pPr marL="152400" indent="-114300">
              <a:spcAft>
                <a:spcPts val="500"/>
              </a:spcAft>
              <a:buChar char="•"/>
              <a:defRPr sz="1500" b="0">
                <a:solidFill>
                  <a:srgbClr val="000000"/>
                </a:solidFill>
                <a:latin typeface="Calibri"/>
                <a:ea typeface="Calibri"/>
                <a:cs typeface="Calibri"/>
              </a:defRPr>
            </a:pPr>
            <a:r>
              <a:t>@empty donne un retour lorsque la liste est vide.</a:t>
            </a:r>
          </a:p>
          <a:p>
            <a:pPr marL="152400" indent="-114300">
              <a:spcAft>
                <a:spcPts val="500"/>
              </a:spcAft>
              <a:buChar char="•"/>
              <a:defRPr sz="1500" b="0">
                <a:solidFill>
                  <a:srgbClr val="000000"/>
                </a:solidFill>
                <a:latin typeface="Calibri"/>
                <a:ea typeface="Calibri"/>
                <a:cs typeface="Calibri"/>
              </a:defRPr>
            </a:pPr>
            <a:r>
              <a:t>Les blocs intégrés ne demandent pas CommonModule.</a:t>
            </a:r>
          </a:p>
        </p:txBody>
      </p:sp>
    </p:spTree>
    <p:extLst>
      <p:ext uri="{BB962C8B-B14F-4D97-AF65-F5344CB8AC3E}">
        <p14:creationId xmlns:p14="http://schemas.microsoft.com/office/powerpoint/2010/main" val="37297063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47085-CB4A-A7F4-67ED-C9C4DC15FF7B}"/>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95480B2-67C1-27BE-247F-DFF3510BA8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4B45AD85-ACCF-D025-BF8D-86340191FAE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368A0F0-90B1-DA42-A1FA-3E0A7835AD16}"/>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Liaison de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4127A7FC-3243-DAE6-FBFD-9D0246CF7F09}"/>
              </a:ext>
            </a:extLst>
          </p:cNvPr>
          <p:cNvSpPr>
            <a:spLocks noGrp="1" noChangeArrowheads="1"/>
          </p:cNvSpPr>
          <p:nvPr>
            <p:ph idx="1"/>
          </p:nvPr>
        </p:nvSpPr>
        <p:spPr bwMode="auto">
          <a:xfrm>
            <a:off x="6094476" y="586261"/>
            <a:ext cx="6019138" cy="550150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React et Angular : deux approches</a:t>
            </a:r>
          </a:p>
          <a:p>
            <a:pPr marL="0" indent="0" eaLnBrk="0" fontAlgn="base" hangingPunct="0">
              <a:lnSpc>
                <a:spcPct val="200000"/>
              </a:lnSpc>
              <a:spcBef>
                <a:spcPct val="0"/>
              </a:spcBef>
              <a:spcAft>
                <a:spcPct val="0"/>
              </a:spcAft>
              <a:buNone/>
            </a:pPr>
            <a:r>
              <a:rPr lang="fr-FR" sz="1800" b="1" dirty="0"/>
              <a:t>Concepts communs </a:t>
            </a:r>
            <a:r>
              <a:rPr lang="fr-FR" sz="1800" b="1" dirty="0" err="1"/>
              <a:t>React</a:t>
            </a:r>
            <a:r>
              <a:rPr lang="fr-FR" sz="1800" b="1" dirty="0"/>
              <a:t> / </a:t>
            </a:r>
            <a:r>
              <a:rPr lang="fr-FR" sz="1800" b="1" dirty="0" err="1"/>
              <a:t>Angular</a:t>
            </a:r>
            <a:endParaRPr lang="fr-FR" sz="1800" b="0" dirty="0">
              <a:solidFill>
                <a:srgbClr val="CCCCCC"/>
              </a:solidFill>
              <a:effectLst/>
              <a:latin typeface="Consolas" panose="020B0609020204030204" pitchFamily="49" charset="0"/>
            </a:endParaRPr>
          </a:p>
          <a:p>
            <a:r>
              <a:rPr lang="fr-FR" sz="1400" b="0" dirty="0"/>
              <a:t>Les données du composant alimentent la vue.</a:t>
            </a:r>
          </a:p>
          <a:p>
            <a:r>
              <a:rPr lang="fr-FR" sz="1400" b="0" dirty="0"/>
              <a:t>Une mise à jour réactive actualise la vue.</a:t>
            </a:r>
          </a:p>
          <a:p>
            <a:r>
              <a:rPr lang="fr-FR" sz="1400" b="0" dirty="0"/>
              <a:t>Les formulaires relient la saisie aux données du composant.</a:t>
            </a:r>
            <a:endParaRPr kumimoji="0" lang="fr-FR" altLang="fr-FR" sz="1400" i="0" u="none" strike="noStrike" cap="none" normalizeH="0" baseline="0" dirty="0">
              <a:ln>
                <a:noFill/>
              </a:ln>
              <a:solidFill>
                <a:schemeClr val="tx1"/>
              </a:solidFill>
              <a:effectLst/>
              <a:latin typeface="Arial" panose="020B0604020202020204" pitchFamily="34" charset="0"/>
            </a:endParaRP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a:p>
            <a:pPr marL="0" indent="0">
              <a:buNone/>
            </a:pPr>
            <a:r>
              <a:rPr lang="fr-FR" sz="1800" b="1" dirty="0"/>
              <a:t>Différences clés</a:t>
            </a:r>
          </a:p>
          <a:p>
            <a:r>
              <a:rPr lang="fr-FR" sz="1400" b="1" dirty="0" err="1"/>
              <a:t>React</a:t>
            </a:r>
            <a:endParaRPr lang="fr-FR" sz="1400" b="1" dirty="0"/>
          </a:p>
          <a:p>
            <a:pPr lvl="1"/>
            <a:r>
              <a:rPr lang="fr-FR" sz="1400" b="0" dirty="0"/>
              <a:t>Les props descendent du parent vers l’enfant.</a:t>
            </a:r>
          </a:p>
          <a:p>
            <a:pPr lvl="1"/>
            <a:r>
              <a:rPr lang="fr-FR" sz="1400" b="0" dirty="0" err="1"/>
              <a:t>Champ contrôlé : value et onChange relient saisie et état.</a:t>
            </a:r>
          </a:p>
          <a:p>
            <a:pPr lvl="1"/>
            <a:r>
              <a:rPr lang="fr-FR" sz="1400" b="0" dirty="0"/>
              <a:t>L’état demeure la source de vérité explicite.</a:t>
            </a:r>
          </a:p>
          <a:p>
            <a:r>
              <a:rPr lang="fr-FR" sz="1400" b="1" dirty="0" err="1"/>
              <a:t>Angular</a:t>
            </a:r>
            <a:endParaRPr lang="fr-FR" sz="1400" b="1" dirty="0"/>
          </a:p>
          <a:p>
            <a:pPr lvl="1"/>
            <a:r>
              <a:rPr lang="fr-FR" sz="1400" b="0" dirty="0"/>
              <a:t>Liaisons de propriétés et d’événements dans le template.</a:t>
            </a:r>
          </a:p>
          <a:p>
            <a:pPr lvl="1"/>
            <a:r>
              <a:rPr lang="fr-FR" sz="1400" b="0" i="0" dirty="0"/>
              <a:t>[(ngModel)] synchronise champ et propriété.</a:t>
            </a:r>
          </a:p>
          <a:p>
            <a:pPr lvl="1"/>
            <a:r>
              <a:rPr lang="fr-FR" sz="1400" b="0" dirty="0"/>
              <a:t>Formulaires pilotés par le template ou réactifs.</a:t>
            </a:r>
            <a:endParaRPr lang="fr-FR" sz="1400" b="1" dirty="0">
              <a:latin typeface="Arial" panose="020B0604020202020204" pitchFamily="34" charset="0"/>
            </a:endParaRPr>
          </a:p>
          <a:p>
            <a:pPr lvl="1"/>
            <a:r>
              <a:rPr lang="fr-FR" sz="1400" b="0" i="0" dirty="0">
                <a:latin typeface="Arial" panose="020B0604020202020204" pitchFamily="34" charset="0"/>
              </a:rPr>
              <a:t>Pour ngModel : importer FormsModule (composant ou module).</a:t>
            </a:r>
            <a:endParaRPr lang="fr-FR" sz="1400" dirty="0"/>
          </a:p>
        </p:txBody>
      </p:sp>
      <p:sp>
        <p:nvSpPr>
          <p:cNvPr id="3" name="Espace réservé du numéro de diapositive 2">
            <a:extLst>
              <a:ext uri="{FF2B5EF4-FFF2-40B4-BE49-F238E27FC236}">
                <a16:creationId xmlns:a16="http://schemas.microsoft.com/office/drawing/2014/main" id="{1F51E920-3E5C-7097-220A-839B73A6C77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37</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5585343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B0A45F9-7666-E7DA-5C06-E41CC3A8D2B7}"/>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06823B0-6873-1F6E-D278-FA76686284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5A87AA5A-A8FE-6FA3-BB3F-1BD398F0DE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4C475E8-441F-3683-15B4-A178198F0B45}"/>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B40C1BF2-1D2A-E79D-2F7D-3560560A19B2}"/>
              </a:ext>
            </a:extLst>
          </p:cNvPr>
          <p:cNvSpPr>
            <a:spLocks noGrp="1" noChangeArrowheads="1"/>
          </p:cNvSpPr>
          <p:nvPr>
            <p:ph idx="1"/>
          </p:nvPr>
        </p:nvSpPr>
        <p:spPr bwMode="auto">
          <a:xfrm>
            <a:off x="6094476" y="1104128"/>
            <a:ext cx="6019138" cy="44657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Persistance des données</a:t>
            </a:r>
          </a:p>
          <a:p>
            <a:pPr marL="0" indent="0">
              <a:buNone/>
            </a:pPr>
            <a:r>
              <a:rPr lang="fr-FR" sz="1800" b="1" dirty="0"/>
              <a:t>Pourquoi persister les données ?</a:t>
            </a:r>
          </a:p>
          <a:p>
            <a:pPr>
              <a:lnSpc>
                <a:spcPct val="150000"/>
              </a:lnSpc>
            </a:pPr>
            <a:r>
              <a:rPr lang="fr-FR" sz="1400" dirty="0"/>
              <a:t>Un état gardé seulement en mémoire disparaît au rechargement de la page.</a:t>
            </a:r>
          </a:p>
          <a:p>
            <a:pPr>
              <a:lnSpc>
                <a:spcPct val="150000"/>
              </a:lnSpc>
            </a:pPr>
            <a:r>
              <a:rPr lang="fr-FR" sz="1400" dirty="0"/>
              <a:t>La persistance conserve les données dans le navigateur ou sur un serveur.</a:t>
            </a:r>
          </a:p>
          <a:p>
            <a:pPr>
              <a:lnSpc>
                <a:spcPct val="150000"/>
              </a:lnSpc>
            </a:pPr>
            <a:r>
              <a:rPr lang="fr-FR" sz="1400" dirty="0"/>
              <a:t>Méthodes courantes côté front :</a:t>
            </a:r>
          </a:p>
          <a:p>
            <a:pPr lvl="1">
              <a:lnSpc>
                <a:spcPct val="150000"/>
              </a:lnSpc>
            </a:pPr>
            <a:r>
              <a:rPr lang="fr-FR" sz="1400" b="1" dirty="0" err="1"/>
              <a:t>localStorage (entre sessions) / sessionStorage (durée de l’onglet).</a:t>
            </a:r>
          </a:p>
          <a:p>
            <a:pPr lvl="1">
              <a:lnSpc>
                <a:spcPct val="150000"/>
              </a:lnSpc>
            </a:pPr>
            <a:r>
              <a:rPr lang="fr-FR" sz="1400" b="1" dirty="0" err="1"/>
              <a:t>IndexedDB (données structurées ou plus volumineuses).</a:t>
            </a:r>
          </a:p>
          <a:p>
            <a:pPr lvl="1">
              <a:lnSpc>
                <a:spcPct val="150000"/>
              </a:lnSpc>
            </a:pPr>
            <a:r>
              <a:rPr lang="fr-FR" sz="1400" b="1" dirty="0"/>
              <a:t>API vers un serveur : stockage côté back-end, partagé entre appareils.</a:t>
            </a:r>
          </a:p>
          <a:p>
            <a:pPr>
              <a:lnSpc>
                <a:spcPct val="150000"/>
              </a:lnSpc>
            </a:pPr>
            <a:r>
              <a:rPr lang="fr-FR" sz="1400" dirty="0"/>
              <a:t>Ici, on se concentre sur </a:t>
            </a:r>
            <a:r>
              <a:rPr lang="fr-FR" sz="1400" b="1" dirty="0" err="1"/>
              <a:t>localStorage</a:t>
            </a:r>
            <a:r>
              <a:rPr lang="fr-FR" sz="1400" dirty="0"/>
              <a:t>.</a:t>
            </a:r>
          </a:p>
        </p:txBody>
      </p:sp>
      <p:sp>
        <p:nvSpPr>
          <p:cNvPr id="3" name="Espace réservé du numéro de diapositive 2">
            <a:extLst>
              <a:ext uri="{FF2B5EF4-FFF2-40B4-BE49-F238E27FC236}">
                <a16:creationId xmlns:a16="http://schemas.microsoft.com/office/drawing/2014/main" id="{CA15EC4B-257E-4779-990A-A30D4B4A64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85780120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C5D4FC-6BD4-A4EC-0A31-9732CAA98911}"/>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B8EE188E-5FF8-8C20-67B9-809CD4743FC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649DD4CD-085D-A7D1-EEC6-660B24D5FEF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5E4CF5EA-4182-E7A2-421E-7F368D11CDFA}"/>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25445C00-0262-22B3-E41A-9C1252569BAD}"/>
              </a:ext>
            </a:extLst>
          </p:cNvPr>
          <p:cNvSpPr>
            <a:spLocks noGrp="1" noChangeArrowheads="1"/>
          </p:cNvSpPr>
          <p:nvPr>
            <p:ph idx="1"/>
          </p:nvPr>
        </p:nvSpPr>
        <p:spPr bwMode="auto">
          <a:xfrm>
            <a:off x="6094476" y="1523473"/>
            <a:ext cx="6019138" cy="362708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Persistance des données</a:t>
            </a:r>
          </a:p>
          <a:p>
            <a:pPr marL="0" indent="0">
              <a:buNone/>
            </a:pPr>
            <a:r>
              <a:rPr lang="fr-FR" sz="1800" b="1" dirty="0"/>
              <a:t>API </a:t>
            </a:r>
            <a:r>
              <a:rPr lang="fr-FR" sz="1800" b="1" i="1" dirty="0" err="1"/>
              <a:t>localStorage</a:t>
            </a:r>
            <a:r>
              <a:rPr lang="fr-FR" sz="1800" b="1" dirty="0"/>
              <a:t> (navigateur)</a:t>
            </a:r>
          </a:p>
          <a:p>
            <a:pPr>
              <a:lnSpc>
                <a:spcPct val="150000"/>
              </a:lnSpc>
            </a:pPr>
            <a:r>
              <a:rPr lang="fr-FR" sz="1400" dirty="0" err="1"/>
              <a:t>localStorage.setItem</a:t>
            </a:r>
            <a:r>
              <a:rPr lang="fr-FR" sz="1400" dirty="0"/>
              <a:t>("clé", "valeur") → stocker une donnée.</a:t>
            </a:r>
          </a:p>
          <a:p>
            <a:pPr>
              <a:lnSpc>
                <a:spcPct val="150000"/>
              </a:lnSpc>
            </a:pPr>
            <a:r>
              <a:rPr lang="fr-FR" sz="1400" dirty="0" err="1"/>
              <a:t>localStorage.getItem</a:t>
            </a:r>
            <a:r>
              <a:rPr lang="fr-FR" sz="1400" dirty="0"/>
              <a:t>("clé") → une chaîne ou null si absente.</a:t>
            </a:r>
          </a:p>
          <a:p>
            <a:pPr>
              <a:lnSpc>
                <a:spcPct val="150000"/>
              </a:lnSpc>
            </a:pPr>
            <a:r>
              <a:rPr lang="fr-FR" sz="1400" dirty="0" err="1"/>
              <a:t>localStorage.removeItem</a:t>
            </a:r>
            <a:r>
              <a:rPr lang="fr-FR" sz="1400" dirty="0"/>
              <a:t>("clé") → supprimer une donnée.</a:t>
            </a:r>
          </a:p>
          <a:p>
            <a:pPr>
              <a:lnSpc>
                <a:spcPct val="150000"/>
              </a:lnSpc>
            </a:pPr>
            <a:r>
              <a:rPr lang="fr-FR" sz="1400" dirty="0" err="1"/>
              <a:t>localStorage.clear</a:t>
            </a:r>
            <a:r>
              <a:rPr lang="fr-FR" sz="1400" dirty="0"/>
              <a:t>() → vider les clés de cette origine.</a:t>
            </a:r>
            <a:br>
              <a:rPr lang="fr-FR" sz="1400" dirty="0"/>
            </a:br>
            <a:r>
              <a:rPr lang="fr-FR" sz="1400" dirty="0"/>
              <a:t>Valeurs en chaînes : JSON.stringify() / JSON.parse() pour objets et tableaux.</a:t>
            </a:r>
          </a:p>
        </p:txBody>
      </p:sp>
      <p:sp>
        <p:nvSpPr>
          <p:cNvPr id="3" name="Espace réservé du numéro de diapositive 2">
            <a:extLst>
              <a:ext uri="{FF2B5EF4-FFF2-40B4-BE49-F238E27FC236}">
                <a16:creationId xmlns:a16="http://schemas.microsoft.com/office/drawing/2014/main" id="{131367E1-212D-80E9-BA5A-FA383D8DA66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39</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799765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008C60A-E0A3-2AF9-3CC0-6D3F7F3EB76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A071CBE-03CF-8756-EA49-43194A9EF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89D054C9-130D-8A68-92AF-FD08BD8777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7BF71F34-29FF-9E00-1D09-F54F360C82B9}"/>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35A8DE82-C5F2-5815-6989-2AAA924D037C}"/>
              </a:ext>
            </a:extLst>
          </p:cNvPr>
          <p:cNvSpPr>
            <a:spLocks noGrp="1" noChangeArrowheads="1"/>
          </p:cNvSpPr>
          <p:nvPr>
            <p:ph idx="1"/>
          </p:nvPr>
        </p:nvSpPr>
        <p:spPr bwMode="auto">
          <a:xfrm>
            <a:off x="6094476" y="175124"/>
            <a:ext cx="6019138" cy="6323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Persistance des données</a:t>
            </a:r>
          </a:p>
          <a:p>
            <a:pPr marL="0" indent="0">
              <a:buNone/>
            </a:pPr>
            <a:r>
              <a:rPr lang="fr-FR" sz="1800" b="1" dirty="0"/>
              <a:t>Persistance en </a:t>
            </a:r>
            <a:r>
              <a:rPr lang="fr-FR" sz="1800" b="1" dirty="0" err="1"/>
              <a:t>React</a:t>
            </a:r>
            <a:r>
              <a:rPr lang="fr-FR" sz="1800" b="1" dirty="0"/>
              <a:t> (</a:t>
            </a:r>
            <a:r>
              <a:rPr lang="fr-FR" sz="1800" b="1" dirty="0" err="1"/>
              <a:t>useEffect</a:t>
            </a:r>
            <a:r>
              <a:rPr lang="fr-FR" sz="1800" b="1" dirty="0"/>
              <a:t> + </a:t>
            </a:r>
            <a:r>
              <a:rPr lang="fr-FR" sz="1800" b="1" dirty="0" err="1"/>
              <a:t>localStorage</a:t>
            </a:r>
            <a:r>
              <a:rPr lang="fr-FR" sz="1800" b="1" dirty="0"/>
              <a:t>)</a:t>
            </a:r>
          </a:p>
          <a:p>
            <a:pPr marL="0" indent="0">
              <a:buNone/>
            </a:pPr>
            <a:endParaRPr lang="fr-FR" sz="1800" b="1" dirty="0"/>
          </a:p>
          <a:p>
            <a:pPr>
              <a:lnSpc>
                <a:spcPts val="1425"/>
              </a:lnSpc>
              <a:buNone/>
            </a:pPr>
            <a:r>
              <a:rPr lang="fr-FR" sz="1400" b="1" dirty="0" err="1">
                <a:solidFill>
                  <a:srgbClr val="1967B3"/>
                </a:solidFill>
                <a:effectLst/>
                <a:latin typeface="Consolas" panose="020B0609020204030204" pitchFamily="49" charset="0"/>
              </a:rPr>
              <a:t>function</a:t>
            </a:r>
            <a:r>
              <a:rPr lang="fr-FR" sz="1400" b="1" dirty="0">
                <a:solidFill>
                  <a:srgbClr val="344054"/>
                </a:solidFill>
                <a:effectLst/>
                <a:latin typeface="Consolas" panose="020B0609020204030204" pitchFamily="49" charset="0"/>
              </a:rPr>
              <a:t> </a:t>
            </a:r>
            <a:r>
              <a:rPr lang="fr-FR" sz="1400" b="1" dirty="0">
                <a:effectLst/>
                <a:latin typeface="Consolas" panose="020B0609020204030204" pitchFamily="49" charset="0"/>
              </a:rPr>
              <a:t>App</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1967B3"/>
                </a:solidFill>
                <a:effectLst/>
                <a:latin typeface="Consolas" panose="020B0609020204030204" pitchFamily="49" charset="0"/>
              </a:rPr>
              <a:t>const</a:t>
            </a:r>
            <a:r>
              <a:rPr lang="fr-FR" sz="1400" b="1" dirty="0">
                <a:solidFill>
                  <a:srgbClr val="344054"/>
                </a:solidFill>
                <a:effectLst/>
                <a:latin typeface="Consolas" panose="020B0609020204030204" pitchFamily="49" charset="0"/>
              </a:rPr>
              <a:t> [</a:t>
            </a:r>
            <a:r>
              <a:rPr lang="fr-FR" sz="1400" b="1" dirty="0" err="1">
                <a:solidFill>
                  <a:srgbClr val="006FAB"/>
                </a:solidFill>
                <a:effectLst/>
                <a:latin typeface="Consolas" panose="020B0609020204030204" pitchFamily="49" charset="0"/>
              </a:rPr>
              <a:t>tasks</a:t>
            </a:r>
            <a:r>
              <a:rPr lang="fr-FR" sz="1400" b="1" dirty="0">
                <a:solidFill>
                  <a:srgbClr val="344054"/>
                </a:solidFill>
                <a:effectLst/>
                <a:latin typeface="Consolas" panose="020B0609020204030204" pitchFamily="49" charset="0"/>
              </a:rPr>
              <a:t>, </a:t>
            </a:r>
            <a:r>
              <a:rPr lang="fr-FR" sz="1400" b="1" dirty="0" err="1">
                <a:effectLst/>
                <a:latin typeface="Consolas" panose="020B0609020204030204" pitchFamily="49" charset="0"/>
              </a:rPr>
              <a:t>setTasks</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7A68"/>
                </a:solidFill>
                <a:effectLst/>
                <a:latin typeface="Consolas" panose="020B0609020204030204" pitchFamily="49" charset="0"/>
              </a:rPr>
              <a:t>React</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useState</a:t>
            </a:r>
            <a:r>
              <a:rPr lang="fr-FR" sz="1400" b="1" dirty="0">
                <a:solidFill>
                  <a:srgbClr val="344054"/>
                </a:solidFill>
                <a:effectLst/>
                <a:latin typeface="Consolas" panose="020B0609020204030204" pitchFamily="49" charset="0"/>
              </a:rPr>
              <a:t>(() </a:t>
            </a:r>
            <a:r>
              <a:rPr lang="fr-FR" sz="1400" b="1" dirty="0">
                <a:solidFill>
                  <a:srgbClr val="1967B3"/>
                </a:solidFill>
                <a:effectLst/>
                <a:latin typeface="Consolas" panose="020B0609020204030204" pitchFamily="49" charset="0"/>
              </a:rPr>
              <a:t>=&gt;</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1967B3"/>
                </a:solidFill>
                <a:effectLst/>
                <a:latin typeface="Consolas" panose="020B0609020204030204" pitchFamily="49" charset="0"/>
              </a:rPr>
              <a:t>const</a:t>
            </a:r>
            <a:r>
              <a:rPr lang="fr-FR" sz="1400" b="1" dirty="0">
                <a:solidFill>
                  <a:srgbClr val="344054"/>
                </a:solidFill>
                <a:effectLst/>
                <a:latin typeface="Consolas" panose="020B0609020204030204" pitchFamily="49" charset="0"/>
              </a:rPr>
              <a:t> </a:t>
            </a:r>
            <a:r>
              <a:rPr lang="fr-FR" sz="1400" b="1" dirty="0" err="1">
                <a:solidFill>
                  <a:srgbClr val="006FAB"/>
                </a:solidFill>
                <a:effectLst/>
                <a:latin typeface="Consolas" panose="020B0609020204030204" pitchFamily="49" charset="0"/>
              </a:rPr>
              <a:t>saved</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localStorage</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getItem</a:t>
            </a:r>
            <a:r>
              <a:rPr lang="fr-FR" sz="1400" b="1" dirty="0">
                <a:solidFill>
                  <a:srgbClr val="344054"/>
                </a:solidFill>
                <a:effectLst/>
                <a:latin typeface="Consolas" panose="020B0609020204030204" pitchFamily="49" charset="0"/>
              </a:rPr>
              <a:t>(</a:t>
            </a:r>
            <a:r>
              <a:rPr lang="fr-FR" sz="1400" b="1" dirty="0">
                <a:solidFill>
                  <a:srgbClr val="A64B27"/>
                </a:solidFill>
                <a:effectLst/>
                <a:latin typeface="Consolas" panose="020B0609020204030204" pitchFamily="49" charset="0"/>
              </a:rPr>
              <a:t>"</a:t>
            </a:r>
            <a:r>
              <a:rPr lang="fr-FR" sz="1400" b="1" dirty="0" err="1">
                <a:solidFill>
                  <a:srgbClr val="A64B27"/>
                </a:solidFill>
                <a:effectLst/>
                <a:latin typeface="Consolas" panose="020B0609020204030204" pitchFamily="49" charset="0"/>
              </a:rPr>
              <a:t>tasks</a:t>
            </a:r>
            <a:r>
              <a:rPr lang="fr-FR" sz="1400" b="1" dirty="0">
                <a:solidFill>
                  <a:srgbClr val="A64B27"/>
                </a:solidFill>
                <a:effectLst/>
                <a:latin typeface="Consolas" panose="020B0609020204030204" pitchFamily="49" charset="0"/>
              </a:rPr>
              <a:t>"</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    </a:t>
            </a:r>
            <a:r>
              <a:rPr lang="fr-FR" sz="1400" b="1" dirty="0">
                <a:solidFill>
                  <a:srgbClr val="814193"/>
                </a:solidFill>
                <a:effectLst/>
                <a:latin typeface="Consolas" panose="020B0609020204030204" pitchFamily="49" charset="0"/>
              </a:rPr>
              <a:t>return</a:t>
            </a:r>
            <a:r>
              <a:rPr lang="fr-FR" sz="1400" b="1" dirty="0">
                <a:solidFill>
                  <a:srgbClr val="344054"/>
                </a:solidFill>
                <a:effectLst/>
                <a:latin typeface="Consolas" panose="020B0609020204030204" pitchFamily="49" charset="0"/>
              </a:rPr>
              <a:t> </a:t>
            </a:r>
            <a:r>
              <a:rPr lang="fr-FR" sz="1400" b="1" dirty="0" err="1">
                <a:solidFill>
                  <a:srgbClr val="006FAB"/>
                </a:solidFill>
                <a:effectLst/>
                <a:latin typeface="Consolas" panose="020B0609020204030204" pitchFamily="49" charset="0"/>
              </a:rPr>
              <a:t>saved</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JSON</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parse</a:t>
            </a:r>
            <a:r>
              <a:rPr lang="fr-FR" sz="1400" b="1" dirty="0">
                <a:solidFill>
                  <a:srgbClr val="344054"/>
                </a:solidFill>
                <a:effectLst/>
                <a:latin typeface="Consolas" panose="020B0609020204030204" pitchFamily="49" charset="0"/>
              </a:rPr>
              <a:t>(</a:t>
            </a:r>
            <a:r>
              <a:rPr lang="fr-FR" sz="1400" b="1" dirty="0" err="1">
                <a:solidFill>
                  <a:srgbClr val="006FAB"/>
                </a:solidFill>
                <a:effectLst/>
                <a:latin typeface="Consolas" panose="020B0609020204030204" pitchFamily="49" charset="0"/>
              </a:rPr>
              <a:t>saved</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p>
          <a:p>
            <a:pPr>
              <a:lnSpc>
                <a:spcPts val="1425"/>
              </a:lnSpc>
              <a:buNone/>
            </a:pPr>
            <a:endParaRPr lang="fr-FR" sz="1400" b="1" dirty="0">
              <a:solidFill>
                <a:srgbClr val="344054"/>
              </a:solidFill>
              <a:effectLst/>
              <a:latin typeface="Consolas" panose="020B0609020204030204" pitchFamily="49" charset="0"/>
            </a:endParaRP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007A68"/>
                </a:solidFill>
                <a:effectLst/>
                <a:latin typeface="Consolas" panose="020B0609020204030204" pitchFamily="49" charset="0"/>
              </a:rPr>
              <a:t>React</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useEffect</a:t>
            </a:r>
            <a:r>
              <a:rPr lang="fr-FR" sz="1400" b="1" dirty="0">
                <a:solidFill>
                  <a:srgbClr val="344054"/>
                </a:solidFill>
                <a:effectLst/>
                <a:latin typeface="Consolas" panose="020B0609020204030204" pitchFamily="49" charset="0"/>
              </a:rPr>
              <a:t>(() </a:t>
            </a:r>
            <a:r>
              <a:rPr lang="fr-FR" sz="1400" b="1" dirty="0">
                <a:solidFill>
                  <a:srgbClr val="1967B3"/>
                </a:solidFill>
                <a:effectLst/>
                <a:latin typeface="Consolas" panose="020B0609020204030204" pitchFamily="49" charset="0"/>
              </a:rPr>
              <a:t>=&gt;</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localStorage</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setItem</a:t>
            </a:r>
            <a:r>
              <a:rPr lang="fr-FR" sz="1400" b="1" dirty="0">
                <a:solidFill>
                  <a:srgbClr val="344054"/>
                </a:solidFill>
                <a:effectLst/>
                <a:latin typeface="Consolas" panose="020B0609020204030204" pitchFamily="49" charset="0"/>
              </a:rPr>
              <a:t>(</a:t>
            </a:r>
            <a:r>
              <a:rPr lang="fr-FR" sz="1400" b="1" dirty="0">
                <a:solidFill>
                  <a:srgbClr val="A64B27"/>
                </a:solidFill>
                <a:effectLst/>
                <a:latin typeface="Consolas" panose="020B0609020204030204" pitchFamily="49" charset="0"/>
              </a:rPr>
              <a:t>"</a:t>
            </a:r>
            <a:r>
              <a:rPr lang="fr-FR" sz="1400" b="1" dirty="0" err="1">
                <a:solidFill>
                  <a:srgbClr val="A64B27"/>
                </a:solidFill>
                <a:effectLst/>
                <a:latin typeface="Consolas" panose="020B0609020204030204" pitchFamily="49" charset="0"/>
              </a:rPr>
              <a:t>tasks</a:t>
            </a:r>
            <a:r>
              <a:rPr lang="fr-FR" sz="1400" b="1" dirty="0">
                <a:solidFill>
                  <a:srgbClr val="A64B2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JSON</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stringify</a:t>
            </a:r>
            <a:r>
              <a:rPr lang="fr-FR" sz="1400" b="1" dirty="0">
                <a:solidFill>
                  <a:srgbClr val="344054"/>
                </a:solidFill>
                <a:effectLst/>
                <a:latin typeface="Consolas" panose="020B0609020204030204" pitchFamily="49" charset="0"/>
              </a:rPr>
              <a:t>(</a:t>
            </a:r>
            <a:r>
              <a:rPr lang="fr-FR" sz="1400" b="1" dirty="0" err="1">
                <a:solidFill>
                  <a:srgbClr val="006FAB"/>
                </a:solidFill>
                <a:effectLst/>
                <a:latin typeface="Consolas" panose="020B0609020204030204" pitchFamily="49" charset="0"/>
              </a:rPr>
              <a:t>tasks</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  }, [</a:t>
            </a:r>
            <a:r>
              <a:rPr lang="fr-FR" sz="1400" b="1" dirty="0" err="1">
                <a:solidFill>
                  <a:srgbClr val="006FAB"/>
                </a:solidFill>
                <a:effectLst/>
                <a:latin typeface="Consolas" panose="020B0609020204030204" pitchFamily="49" charset="0"/>
              </a:rPr>
              <a:t>tasks</a:t>
            </a:r>
            <a:r>
              <a:rPr lang="fr-FR" sz="1400" b="1" dirty="0">
                <a:solidFill>
                  <a:srgbClr val="344054"/>
                </a:solidFill>
                <a:effectLst/>
                <a:latin typeface="Consolas" panose="020B0609020204030204" pitchFamily="49" charset="0"/>
              </a:rPr>
              <a:t>]);</a:t>
            </a:r>
          </a:p>
          <a:p>
            <a:pPr>
              <a:lnSpc>
                <a:spcPts val="1425"/>
              </a:lnSpc>
              <a:buNone/>
            </a:pPr>
            <a:br>
              <a:rPr lang="fr-FR" sz="1400" b="1" dirty="0">
                <a:solidFill>
                  <a:srgbClr val="344054"/>
                </a:solidFill>
                <a:effectLst/>
                <a:latin typeface="Consolas" panose="020B0609020204030204" pitchFamily="49" charset="0"/>
              </a:rPr>
            </a:br>
            <a:endParaRPr lang="fr-FR" sz="1400" b="1" dirty="0">
              <a:solidFill>
                <a:srgbClr val="344054"/>
              </a:solidFill>
              <a:effectLst/>
              <a:latin typeface="Consolas" panose="020B0609020204030204" pitchFamily="49" charset="0"/>
            </a:endParaRPr>
          </a:p>
          <a:p>
            <a:pPr>
              <a:lnSpc>
                <a:spcPts val="1425"/>
              </a:lnSpc>
              <a:buNone/>
            </a:pPr>
            <a:r>
              <a:rPr lang="fr-FR" sz="1400" b="1" dirty="0">
                <a:solidFill>
                  <a:srgbClr val="344054"/>
                </a:solidFill>
                <a:effectLst/>
                <a:latin typeface="Consolas" panose="020B0609020204030204" pitchFamily="49" charset="0"/>
              </a:rPr>
              <a:t>  </a:t>
            </a:r>
            <a:r>
              <a:rPr lang="fr-FR" sz="1400" b="1" dirty="0">
                <a:solidFill>
                  <a:srgbClr val="3E6B30"/>
                </a:solidFill>
                <a:effectLst/>
                <a:latin typeface="Consolas" panose="020B0609020204030204" pitchFamily="49" charset="0"/>
              </a:rPr>
              <a:t>// ...</a:t>
            </a:r>
            <a:r>
              <a:rPr lang="fr-FR" sz="1400" b="1" dirty="0" err="1">
                <a:solidFill>
                  <a:srgbClr val="3E6B30"/>
                </a:solidFill>
                <a:effectLst/>
                <a:latin typeface="Consolas" panose="020B0609020204030204" pitchFamily="49" charset="0"/>
              </a:rPr>
              <a:t>render</a:t>
            </a:r>
            <a:r>
              <a:rPr lang="fr-FR" sz="1400" b="1" dirty="0">
                <a:solidFill>
                  <a:srgbClr val="3E6B30"/>
                </a:solidFill>
                <a:effectLst/>
                <a:latin typeface="Consolas" panose="020B0609020204030204" pitchFamily="49" charset="0"/>
              </a:rPr>
              <a:t> avec </a:t>
            </a:r>
            <a:r>
              <a:rPr lang="fr-FR" sz="1400" b="1" dirty="0" err="1">
                <a:solidFill>
                  <a:srgbClr val="3E6B30"/>
                </a:solidFill>
                <a:effectLst/>
                <a:latin typeface="Consolas" panose="020B0609020204030204" pitchFamily="49" charset="0"/>
              </a:rPr>
              <a:t>TaskList</a:t>
            </a:r>
            <a:endParaRPr lang="fr-FR" sz="1400" b="1" dirty="0">
              <a:solidFill>
                <a:srgbClr val="344054"/>
              </a:solidFill>
              <a:effectLst/>
              <a:latin typeface="Consolas" panose="020B0609020204030204" pitchFamily="49" charset="0"/>
            </a:endParaRPr>
          </a:p>
          <a:p>
            <a:pPr>
              <a:lnSpc>
                <a:spcPts val="1425"/>
              </a:lnSpc>
              <a:buNone/>
            </a:pPr>
            <a:r>
              <a:rPr lang="fr-FR" sz="1400" b="1" dirty="0">
                <a:solidFill>
                  <a:srgbClr val="344054"/>
                </a:solidFill>
                <a:effectLst/>
                <a:latin typeface="Consolas" panose="020B0609020204030204" pitchFamily="49" charset="0"/>
              </a:rPr>
              <a:t>}</a:t>
            </a:r>
          </a:p>
          <a:p>
            <a:pPr>
              <a:lnSpc>
                <a:spcPts val="1425"/>
              </a:lnSpc>
              <a:buNone/>
            </a:pPr>
            <a:br>
              <a:rPr lang="fr-FR" sz="1200" b="0" dirty="0">
                <a:solidFill>
                  <a:srgbClr val="344054"/>
                </a:solidFill>
                <a:effectLst/>
                <a:latin typeface="Consolas" panose="020B0609020204030204" pitchFamily="49" charset="0"/>
              </a:rPr>
            </a:br>
            <a:endParaRPr lang="fr-FR" sz="1200" b="0" dirty="0">
              <a:solidFill>
                <a:srgbClr val="344054"/>
              </a:solidFill>
              <a:effectLst/>
              <a:latin typeface="Consolas" panose="020B0609020204030204" pitchFamily="49" charset="0"/>
            </a:endParaRPr>
          </a:p>
          <a:p>
            <a:pPr marL="0" indent="0">
              <a:buNone/>
            </a:pPr>
            <a:endParaRPr lang="fr-FR" sz="1800" b="1" dirty="0"/>
          </a:p>
        </p:txBody>
      </p:sp>
      <p:sp>
        <p:nvSpPr>
          <p:cNvPr id="3" name="Espace réservé du numéro de diapositive 2">
            <a:extLst>
              <a:ext uri="{FF2B5EF4-FFF2-40B4-BE49-F238E27FC236}">
                <a16:creationId xmlns:a16="http://schemas.microsoft.com/office/drawing/2014/main" id="{D3DFD4BB-7F52-DA97-949B-019F15539A1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40</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ZoneTexte 6">
            <a:extLst>
              <a:ext uri="{FF2B5EF4-FFF2-40B4-BE49-F238E27FC236}">
                <a16:creationId xmlns:a16="http://schemas.microsoft.com/office/drawing/2014/main" id="{6FD7CFBE-F124-147F-6316-D4A6DE48C561}"/>
              </a:ext>
            </a:extLst>
          </p:cNvPr>
          <p:cNvSpPr txBox="1"/>
          <p:nvPr/>
        </p:nvSpPr>
        <p:spPr>
          <a:xfrm>
            <a:off x="390180" y="5498941"/>
            <a:ext cx="6097384" cy="923330"/>
          </a:xfrm>
          <a:prstGeom prst="rect">
            <a:avLst/>
          </a:prstGeom>
          <a:noFill/>
        </p:spPr>
        <p:txBody>
          <a:bodyPr wrap="square">
            <a:spAutoFit/>
          </a:bodyPr>
          <a:lstStyle/>
          <a:p>
            <a:pPr marL="285750" indent="-285750">
              <a:buFont typeface="Arial" panose="020B0604020202020204" pitchFamily="34" charset="0"/>
              <a:buChar char="•"/>
            </a:pPr>
            <a:r>
              <a:rPr lang="fr-FR" sz="1500" b="0" dirty="0" err="1"/>
              <a:t>État initial lu dans localStorage (navigateur).</a:t>
            </a:r>
          </a:p>
          <a:p>
            <a:pPr marL="285750" indent="-285750">
              <a:buFont typeface="Arial" panose="020B0604020202020204" pitchFamily="34" charset="0"/>
              <a:buChar char="•"/>
            </a:pPr>
            <a:r>
              <a:rPr lang="fr-FR" sz="1500" b="0" dirty="0" err="1"/>
              <a:t>useEffect sauvegarde après modification de tasks.</a:t>
            </a:r>
          </a:p>
          <a:p>
            <a:pPr marL="285750" indent="-285750">
              <a:buFont typeface="Arial" panose="020B0604020202020204" pitchFamily="34" charset="0"/>
              <a:buChar char="•"/>
            </a:pPr>
            <a:r>
              <a:rPr lang="fr-FR" sz="1500" b="0" dirty="0"/>
              <a:t>Prévoir la gestion des erreurs JSON.</a:t>
            </a:r>
          </a:p>
        </p:txBody>
      </p:sp>
    </p:spTree>
    <p:extLst>
      <p:ext uri="{BB962C8B-B14F-4D97-AF65-F5344CB8AC3E}">
        <p14:creationId xmlns:p14="http://schemas.microsoft.com/office/powerpoint/2010/main" val="408312927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337D16-FA4F-36D7-3790-6AD64B27BDC3}"/>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8EE05E96-1D83-DC27-3457-AE90FBDB3B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0D7CE157-2632-CF52-1AC9-AEDB575C61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CADC7C9-829C-1A88-006D-12DEBBBF331C}"/>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C3B0D2FA-998D-0B6C-0725-127E92B819A8}"/>
              </a:ext>
            </a:extLst>
          </p:cNvPr>
          <p:cNvSpPr>
            <a:spLocks noGrp="1" noChangeArrowheads="1"/>
          </p:cNvSpPr>
          <p:nvPr>
            <p:ph idx="1"/>
          </p:nvPr>
        </p:nvSpPr>
        <p:spPr bwMode="auto">
          <a:xfrm>
            <a:off x="6094476" y="175124"/>
            <a:ext cx="6019138" cy="632378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Persistance des données</a:t>
            </a:r>
          </a:p>
          <a:p>
            <a:pPr marL="0" indent="0">
              <a:buNone/>
            </a:pPr>
            <a:r>
              <a:rPr lang="fr-FR" sz="1800" b="1" dirty="0"/>
              <a:t>React : limites du stockage local</a:t>
            </a:r>
          </a:p>
          <a:p>
            <a:pPr marL="0" indent="0">
              <a:buNone/>
            </a:pPr>
            <a:r>
              <a:rPr lang="fr-FR" sz="1600" b="0" dirty="0"/>
              <a:t>JSON.parse peut échouer si les données stockées sont invalides : prévoir un repli.</a:t>
            </a:r>
          </a:p>
          <a:p>
            <a:pPr marL="0" indent="0">
              <a:buNone/>
            </a:pPr>
            <a:r>
              <a:rPr lang="fr-FR" sz="1600" b="0" dirty="0"/>
              <a:t>localStorage est limité en taille ; une écriture peut échouer.</a:t>
            </a:r>
          </a:p>
          <a:p>
            <a:pPr marL="0" indent="0">
              <a:buNone/>
            </a:pPr>
            <a:r>
              <a:rPr lang="fr-FR" sz="1600" b="0" dirty="0"/>
              <a:t>Ne jamais y stocker de mots de passe ou de secrets.</a:t>
            </a:r>
          </a:p>
          <a:p>
            <a:pPr marL="0" indent="0">
              <a:buNone/>
            </a:pPr>
            <a:r>
              <a:rPr lang="fr-FR" sz="1600" b="0" dirty="0"/>
              <a:t>En rendu côté serveur, vérifier la présence de window avant d’accéder au stockage.</a:t>
            </a:r>
          </a:p>
        </p:txBody>
      </p:sp>
      <p:sp>
        <p:nvSpPr>
          <p:cNvPr id="3" name="Espace réservé du numéro de diapositive 2">
            <a:extLst>
              <a:ext uri="{FF2B5EF4-FFF2-40B4-BE49-F238E27FC236}">
                <a16:creationId xmlns:a16="http://schemas.microsoft.com/office/drawing/2014/main" id="{88CEF001-43E5-F6EA-B3B7-7BF1D5B1B392}"/>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41</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ZoneTexte 6">
            <a:extLst>
              <a:ext uri="{FF2B5EF4-FFF2-40B4-BE49-F238E27FC236}">
                <a16:creationId xmlns:a16="http://schemas.microsoft.com/office/drawing/2014/main" id="{47F88729-5FD1-343C-51CC-8F681C52BBFF}"/>
              </a:ext>
            </a:extLst>
          </p:cNvPr>
          <p:cNvSpPr txBox="1"/>
          <p:nvPr/>
        </p:nvSpPr>
        <p:spPr>
          <a:xfrm>
            <a:off x="390180" y="5498941"/>
            <a:ext cx="6097384" cy="923330"/>
          </a:xfrm>
          <a:prstGeom prst="rect">
            <a:avLst/>
          </a:prstGeom>
          <a:noFill/>
        </p:spPr>
        <p:txBody>
          <a:bodyPr wrap="square">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500" b="0" i="0" u="none" strike="noStrike" kern="1200" cap="none" spc="0" normalizeH="0" baseline="0" noProof="0" dirty="0" err="1">
                <a:ln>
                  <a:noFill/>
                </a:ln>
                <a:solidFill>
                  <a:prstClr val="black"/>
                </a:solidFill>
                <a:effectLst/>
                <a:uLnTx/>
                <a:uFillTx/>
                <a:latin typeface="Calibri" panose="020F0502020204030204"/>
                <a:ea typeface="+mn-ea"/>
                <a:cs typeface="+mn-cs"/>
              </a:rPr>
              <a:t>Exemple précédent volontairement simplifié.</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500" b="0" i="0" u="none" strike="noStrike" kern="1200" cap="none" spc="0" normalizeH="0" baseline="0" noProof="0" dirty="0" err="1">
                <a:ln>
                  <a:noFill/>
                </a:ln>
                <a:solidFill>
                  <a:prstClr val="black"/>
                </a:solidFill>
                <a:effectLst/>
                <a:uLnTx/>
                <a:uFillTx/>
                <a:latin typeface="Calibri" panose="020F0502020204030204"/>
                <a:ea typeface="+mn-ea"/>
                <a:cs typeface="+mn-cs"/>
              </a:rPr>
              <a:t>Prévoir try/catch pour lire et écrire.</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fr-FR" sz="1500" b="0" i="0" u="none" strike="noStrike" kern="1200" cap="none" spc="0" normalizeH="0" baseline="0" noProof="0" dirty="0">
                <a:ln>
                  <a:noFill/>
                </a:ln>
                <a:solidFill>
                  <a:prstClr val="black"/>
                </a:solidFill>
                <a:effectLst/>
                <a:uLnTx/>
                <a:uFillTx/>
                <a:latin typeface="Calibri" panose="020F0502020204030204"/>
                <a:ea typeface="+mn-ea"/>
                <a:cs typeface="+mn-cs"/>
              </a:rPr>
              <a:t>Stockage local : pas de partage entre appareils.</a:t>
            </a:r>
          </a:p>
        </p:txBody>
      </p:sp>
    </p:spTree>
    <p:extLst>
      <p:ext uri="{BB962C8B-B14F-4D97-AF65-F5344CB8AC3E}">
        <p14:creationId xmlns:p14="http://schemas.microsoft.com/office/powerpoint/2010/main" val="2753350452"/>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9929E52-2B66-AB07-BF02-3659865171D0}"/>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3542418-A839-211C-70FD-F1E4BC84D4F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63639C2-1F54-D1A3-194F-347D6F43E8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C53A4CF-5BC7-99CE-24F2-856DAFFD41E7}"/>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5C32B9C8-8387-6849-A94A-AE5607A16799}"/>
              </a:ext>
            </a:extLst>
          </p:cNvPr>
          <p:cNvSpPr>
            <a:spLocks noGrp="1" noChangeArrowheads="1"/>
          </p:cNvSpPr>
          <p:nvPr>
            <p:ph idx="1"/>
          </p:nvPr>
        </p:nvSpPr>
        <p:spPr bwMode="auto">
          <a:xfrm>
            <a:off x="6094476" y="101600"/>
            <a:ext cx="6019138" cy="66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100000"/>
              </a:lnSpc>
              <a:spcBef>
                <a:spcPct val="0"/>
              </a:spcBef>
              <a:spcAft>
                <a:spcPct val="0"/>
              </a:spcAft>
              <a:buNone/>
            </a:pPr>
            <a:r>
              <a:rPr lang="fr-FR" altLang="fr-FR" sz="2400" dirty="0">
                <a:latin typeface="Arial" panose="020B0604020202020204" pitchFamily="34" charset="0"/>
              </a:rPr>
              <a:t>Persistance des données</a:t>
            </a:r>
          </a:p>
          <a:p>
            <a:pPr marL="0" indent="0">
              <a:buNone/>
            </a:pPr>
            <a:r>
              <a:rPr lang="fr-FR" sz="1800" b="1" dirty="0"/>
              <a:t>Persistance en </a:t>
            </a:r>
            <a:r>
              <a:rPr lang="fr-FR" sz="1800" b="1" dirty="0" err="1"/>
              <a:t>Angular</a:t>
            </a:r>
            <a:r>
              <a:rPr lang="fr-FR" sz="1800" b="1" dirty="0"/>
              <a:t> (Service + </a:t>
            </a:r>
            <a:r>
              <a:rPr lang="fr-FR" sz="1800" b="1" dirty="0" err="1"/>
              <a:t>localStorage</a:t>
            </a:r>
            <a:r>
              <a:rPr lang="fr-FR" sz="1800" b="1" dirty="0"/>
              <a:t>)</a:t>
            </a:r>
          </a:p>
          <a:p>
            <a:pPr marL="0" indent="0">
              <a:buNone/>
            </a:pPr>
            <a:r>
              <a:rPr lang="fr-FR" sz="1800" b="1" dirty="0"/>
              <a:t>Service </a:t>
            </a:r>
            <a:r>
              <a:rPr lang="fr-FR" sz="1800" b="1" i="1" dirty="0" err="1"/>
              <a:t>TaskService</a:t>
            </a:r>
            <a:endParaRPr lang="fr-FR" sz="1800" b="1" i="1" dirty="0"/>
          </a:p>
          <a:p>
            <a:pPr>
              <a:lnSpc>
                <a:spcPts val="1425"/>
              </a:lnSpc>
              <a:buNone/>
            </a:pPr>
            <a:r>
              <a:rPr lang="fr-FR" sz="1400" b="1" dirty="0">
                <a:effectLst/>
                <a:latin typeface="Consolas" panose="020B0609020204030204" pitchFamily="49" charset="0"/>
              </a:rPr>
              <a:t>import { Injectable } from '@angular/core';</a:t>
            </a:r>
          </a:p>
          <a:p>
            <a:pPr>
              <a:lnSpc>
                <a:spcPts val="1425"/>
              </a:lnSpc>
              <a:buNone/>
            </a:pPr>
            <a:r>
              <a:rPr lang="fr-FR" sz="1400" b="1" dirty="0">
                <a:effectLst/>
                <a:latin typeface="Consolas" panose="020B0609020204030204" pitchFamily="49" charset="0"/>
              </a:rPr>
              <a:t>@Injectable</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providedIn</a:t>
            </a:r>
            <a:r>
              <a:rPr lang="fr-FR" sz="1400" b="1" dirty="0">
                <a:solidFill>
                  <a:srgbClr val="005A9C"/>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A64B27"/>
                </a:solidFill>
                <a:effectLst/>
                <a:latin typeface="Consolas" panose="020B0609020204030204" pitchFamily="49" charset="0"/>
              </a:rPr>
              <a:t>'root'</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814193"/>
                </a:solidFill>
                <a:effectLst/>
                <a:latin typeface="Consolas" panose="020B0609020204030204" pitchFamily="49" charset="0"/>
              </a:rPr>
              <a:t>export</a:t>
            </a:r>
            <a:r>
              <a:rPr lang="fr-FR" sz="1400" b="1" dirty="0">
                <a:solidFill>
                  <a:srgbClr val="344054"/>
                </a:solidFill>
                <a:effectLst/>
                <a:latin typeface="Consolas" panose="020B0609020204030204" pitchFamily="49" charset="0"/>
              </a:rPr>
              <a:t> </a:t>
            </a:r>
            <a:r>
              <a:rPr lang="fr-FR" sz="1400" b="1" dirty="0">
                <a:solidFill>
                  <a:srgbClr val="1967B3"/>
                </a:solidFill>
                <a:effectLst/>
                <a:latin typeface="Consolas" panose="020B0609020204030204" pitchFamily="49" charset="0"/>
              </a:rPr>
              <a:t>class</a:t>
            </a:r>
            <a:r>
              <a:rPr lang="fr-FR" sz="1400" b="1" dirty="0">
                <a:solidFill>
                  <a:srgbClr val="344054"/>
                </a:solidFill>
                <a:effectLst/>
                <a:latin typeface="Consolas" panose="020B0609020204030204" pitchFamily="49" charset="0"/>
              </a:rPr>
              <a:t> </a:t>
            </a:r>
            <a:r>
              <a:rPr lang="fr-FR" sz="1400" b="1" dirty="0" err="1">
                <a:solidFill>
                  <a:srgbClr val="007A68"/>
                </a:solidFill>
                <a:effectLst/>
                <a:latin typeface="Consolas" panose="020B0609020204030204" pitchFamily="49" charset="0"/>
              </a:rPr>
              <a:t>TaskService</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1967B3"/>
                </a:solidFill>
                <a:effectLst/>
                <a:latin typeface="Consolas" panose="020B0609020204030204" pitchFamily="49" charset="0"/>
              </a:rPr>
              <a:t>private</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storageKey</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A64B27"/>
                </a:solidFill>
                <a:effectLst/>
                <a:latin typeface="Consolas" panose="020B0609020204030204" pitchFamily="49" charset="0"/>
              </a:rPr>
              <a:t>'</a:t>
            </a:r>
            <a:r>
              <a:rPr lang="fr-FR" sz="1400" b="1" dirty="0" err="1">
                <a:solidFill>
                  <a:srgbClr val="A64B27"/>
                </a:solidFill>
                <a:effectLst/>
                <a:latin typeface="Consolas" panose="020B0609020204030204" pitchFamily="49" charset="0"/>
              </a:rPr>
              <a:t>tasks</a:t>
            </a:r>
            <a:r>
              <a:rPr lang="fr-FR" sz="1400" b="1" dirty="0">
                <a:solidFill>
                  <a:srgbClr val="A64B27"/>
                </a:solidFill>
                <a:effectLst/>
                <a:latin typeface="Consolas" panose="020B0609020204030204" pitchFamily="49" charset="0"/>
              </a:rPr>
              <a:t>'</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  </a:t>
            </a:r>
            <a:r>
              <a:rPr lang="fr-FR" sz="1400" b="1" dirty="0" err="1">
                <a:effectLst/>
                <a:latin typeface="Consolas" panose="020B0609020204030204" pitchFamily="49" charset="0"/>
              </a:rPr>
              <a:t>getTasks</a:t>
            </a:r>
            <a:r>
              <a:rPr lang="fr-FR" sz="1400" b="1" dirty="0">
                <a:solidFill>
                  <a:srgbClr val="344054"/>
                </a:solidFill>
                <a:effectLst/>
                <a:latin typeface="Consolas" panose="020B0609020204030204" pitchFamily="49" charset="0"/>
              </a:rPr>
              <a:t>()</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7A68"/>
                </a:solidFill>
                <a:effectLst/>
                <a:latin typeface="Consolas" panose="020B0609020204030204" pitchFamily="49" charset="0"/>
              </a:rPr>
              <a:t>Task</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a:solidFill>
                  <a:srgbClr val="814193"/>
                </a:solidFill>
                <a:effectLst/>
                <a:latin typeface="Consolas" panose="020B0609020204030204" pitchFamily="49" charset="0"/>
              </a:rPr>
              <a:t>return</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JSON</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parse</a:t>
            </a:r>
            <a:r>
              <a:rPr lang="fr-FR" sz="1400" b="1" dirty="0">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localStorage</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getItem</a:t>
            </a:r>
            <a:r>
              <a:rPr lang="fr-FR" sz="1400" b="1" dirty="0">
                <a:solidFill>
                  <a:srgbClr val="344054"/>
                </a:solidFill>
                <a:effectLst/>
                <a:latin typeface="Consolas" panose="020B0609020204030204" pitchFamily="49" charset="0"/>
              </a:rPr>
              <a:t>(</a:t>
            </a:r>
            <a:r>
              <a:rPr lang="fr-FR" sz="1400" b="1" dirty="0" err="1">
                <a:solidFill>
                  <a:srgbClr val="1967B3"/>
                </a:solidFill>
                <a:effectLst/>
                <a:latin typeface="Consolas" panose="020B0609020204030204" pitchFamily="49" charset="0"/>
              </a:rPr>
              <a:t>this</a:t>
            </a:r>
            <a:r>
              <a:rPr lang="fr-FR" sz="1400" b="1" dirty="0" err="1">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storageKey</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A64B27"/>
                </a:solidFill>
                <a:effectLst/>
                <a:latin typeface="Consolas" panose="020B0609020204030204" pitchFamily="49" charset="0"/>
              </a:rPr>
              <a:t>'[]'</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err="1">
                <a:effectLst/>
                <a:latin typeface="Consolas" panose="020B0609020204030204" pitchFamily="49" charset="0"/>
              </a:rPr>
              <a:t>saveTasks</a:t>
            </a:r>
            <a:r>
              <a:rPr lang="fr-FR" sz="1400" b="1" dirty="0">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tasks</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7A68"/>
                </a:solidFill>
                <a:effectLst/>
                <a:latin typeface="Consolas" panose="020B0609020204030204" pitchFamily="49" charset="0"/>
              </a:rPr>
              <a:t>Task</a:t>
            </a:r>
            <a:r>
              <a:rPr lang="fr-FR" sz="1400" b="1" dirty="0">
                <a:solidFill>
                  <a:srgbClr val="344054"/>
                </a:solidFill>
                <a:effectLst/>
                <a:latin typeface="Consolas" panose="020B0609020204030204" pitchFamily="49" charset="0"/>
              </a:rPr>
              <a:t>[])</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007A68"/>
                </a:solidFill>
                <a:effectLst/>
                <a:latin typeface="Consolas" panose="020B0609020204030204" pitchFamily="49" charset="0"/>
              </a:rPr>
              <a:t>void</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localStorage</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setItem</a:t>
            </a:r>
            <a:r>
              <a:rPr lang="fr-FR" sz="1400" b="1" dirty="0">
                <a:solidFill>
                  <a:srgbClr val="344054"/>
                </a:solidFill>
                <a:effectLst/>
                <a:latin typeface="Consolas" panose="020B0609020204030204" pitchFamily="49" charset="0"/>
              </a:rPr>
              <a:t>(</a:t>
            </a:r>
            <a:r>
              <a:rPr lang="fr-FR" sz="1400" b="1" dirty="0" err="1">
                <a:solidFill>
                  <a:srgbClr val="1967B3"/>
                </a:solidFill>
                <a:effectLst/>
                <a:latin typeface="Consolas" panose="020B0609020204030204" pitchFamily="49" charset="0"/>
              </a:rPr>
              <a:t>this</a:t>
            </a:r>
            <a:r>
              <a:rPr lang="fr-FR" sz="1400" b="1" dirty="0" err="1">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storageKey</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JSON</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stringify</a:t>
            </a:r>
            <a:r>
              <a:rPr lang="fr-FR" sz="1400" b="1" dirty="0">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tasks</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a:t>
            </a:r>
          </a:p>
        </p:txBody>
      </p:sp>
      <p:sp>
        <p:nvSpPr>
          <p:cNvPr id="3" name="Espace réservé du numéro de diapositive 2">
            <a:extLst>
              <a:ext uri="{FF2B5EF4-FFF2-40B4-BE49-F238E27FC236}">
                <a16:creationId xmlns:a16="http://schemas.microsoft.com/office/drawing/2014/main" id="{691484B6-01B5-BC15-991A-C4752DE6E140}"/>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42</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75953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E9C24-6B6F-601B-BCCC-12071C4292B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1C5458F-9D9E-48BD-DD40-048F0F986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9075EF74-55D0-8A2D-8427-FAD2586D3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3D84945-26B8-53DF-3C7D-E83D87981F44}"/>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450B29A8-061F-2C3A-824C-AD04F4EF045F}"/>
              </a:ext>
            </a:extLst>
          </p:cNvPr>
          <p:cNvSpPr>
            <a:spLocks noGrp="1" noChangeArrowheads="1"/>
          </p:cNvSpPr>
          <p:nvPr>
            <p:ph idx="1"/>
          </p:nvPr>
        </p:nvSpPr>
        <p:spPr bwMode="auto">
          <a:xfrm>
            <a:off x="6094476" y="101600"/>
            <a:ext cx="6019138" cy="660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Persistance des données</a:t>
            </a:r>
          </a:p>
          <a:p>
            <a:pPr marL="0" indent="0">
              <a:buNone/>
            </a:pPr>
            <a:r>
              <a:rPr lang="fr-FR" sz="1800" b="1" dirty="0"/>
              <a:t>Persistance en </a:t>
            </a:r>
            <a:r>
              <a:rPr lang="fr-FR" sz="1800" b="1" dirty="0" err="1"/>
              <a:t>Angular</a:t>
            </a:r>
            <a:r>
              <a:rPr lang="fr-FR" sz="1800" b="1" dirty="0"/>
              <a:t> (Service + </a:t>
            </a:r>
            <a:r>
              <a:rPr lang="fr-FR" sz="1800" b="1" dirty="0" err="1"/>
              <a:t>localStorage</a:t>
            </a:r>
            <a:r>
              <a:rPr lang="fr-FR" sz="1800" b="1" dirty="0"/>
              <a:t>)</a:t>
            </a:r>
          </a:p>
          <a:p>
            <a:pPr marL="0" indent="0">
              <a:buNone/>
            </a:pPr>
            <a:r>
              <a:rPr lang="fr-FR" sz="1800" b="1" dirty="0"/>
              <a:t>Utilisation dans un composant</a:t>
            </a:r>
          </a:p>
          <a:p>
            <a:pPr>
              <a:lnSpc>
                <a:spcPts val="1425"/>
              </a:lnSpc>
              <a:buNone/>
            </a:pPr>
            <a:r>
              <a:rPr lang="fr-FR" sz="1400" b="1" dirty="0" err="1">
                <a:effectLst/>
                <a:latin typeface="Consolas" panose="020B0609020204030204" pitchFamily="49" charset="0"/>
              </a:rPr>
              <a:t>tasks</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Task</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 </a:t>
            </a:r>
            <a:r>
              <a:rPr lang="fr-FR" sz="1400" b="1" dirty="0">
                <a:solidFill>
                  <a:schemeClr val="accent6">
                    <a:lumMod val="75000"/>
                  </a:schemeClr>
                </a:solidFill>
                <a:effectLst/>
                <a:latin typeface="Consolas" panose="020B0609020204030204" pitchFamily="49" charset="0"/>
              </a:rPr>
              <a:t>// Mon modèle </a:t>
            </a:r>
            <a:r>
              <a:rPr lang="fr-FR" sz="1400" b="1" dirty="0" err="1">
                <a:solidFill>
                  <a:schemeClr val="accent6">
                    <a:lumMod val="75000"/>
                  </a:schemeClr>
                </a:solidFill>
                <a:effectLst/>
                <a:latin typeface="Consolas" panose="020B0609020204030204" pitchFamily="49" charset="0"/>
              </a:rPr>
              <a:t>Task</a:t>
            </a:r>
            <a:endParaRPr lang="fr-FR" sz="1400" b="1" dirty="0">
              <a:solidFill>
                <a:schemeClr val="accent6">
                  <a:lumMod val="75000"/>
                </a:schemeClr>
              </a:solidFill>
              <a:effectLst/>
              <a:latin typeface="Consolas" panose="020B0609020204030204" pitchFamily="49" charset="0"/>
            </a:endParaRPr>
          </a:p>
          <a:p>
            <a:pPr>
              <a:lnSpc>
                <a:spcPts val="1425"/>
              </a:lnSpc>
              <a:buNone/>
            </a:pPr>
            <a:r>
              <a:rPr lang="fr-FR" sz="1400" b="1" dirty="0" err="1">
                <a:effectLst/>
                <a:latin typeface="Consolas" panose="020B0609020204030204" pitchFamily="49" charset="0"/>
              </a:rPr>
              <a:t>constructor</a:t>
            </a:r>
            <a:r>
              <a:rPr lang="fr-FR" sz="1400" b="1" dirty="0">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private</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taskService</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TaskService</a:t>
            </a:r>
            <a:r>
              <a:rPr lang="fr-FR" sz="1400" b="1" dirty="0">
                <a:solidFill>
                  <a:srgbClr val="344054"/>
                </a:solidFill>
                <a:effectLst/>
                <a:latin typeface="Consolas" panose="020B0609020204030204" pitchFamily="49" charset="0"/>
              </a:rPr>
              <a:t>) {} </a:t>
            </a:r>
            <a:br>
              <a:rPr lang="fr-FR" sz="1400" b="1" dirty="0">
                <a:solidFill>
                  <a:srgbClr val="344054"/>
                </a:solidFill>
                <a:effectLst/>
                <a:latin typeface="Consolas" panose="020B0609020204030204" pitchFamily="49" charset="0"/>
              </a:rPr>
            </a:br>
            <a:endParaRPr lang="fr-FR" sz="1400" b="1" dirty="0">
              <a:solidFill>
                <a:srgbClr val="344054"/>
              </a:solidFill>
              <a:effectLst/>
              <a:latin typeface="Consolas" panose="020B0609020204030204" pitchFamily="49" charset="0"/>
            </a:endParaRPr>
          </a:p>
          <a:p>
            <a:pPr>
              <a:lnSpc>
                <a:spcPts val="1425"/>
              </a:lnSpc>
              <a:buNone/>
            </a:pPr>
            <a:r>
              <a:rPr lang="fr-FR" sz="1400" b="1" dirty="0" err="1">
                <a:effectLst/>
                <a:latin typeface="Consolas" panose="020B0609020204030204" pitchFamily="49" charset="0"/>
              </a:rPr>
              <a:t>ngOnInit</a:t>
            </a:r>
            <a:r>
              <a:rPr lang="fr-FR" sz="1400" b="1" dirty="0">
                <a:solidFill>
                  <a:srgbClr val="344054"/>
                </a:solidFill>
                <a:effectLst/>
                <a:latin typeface="Consolas" panose="020B0609020204030204" pitchFamily="49" charset="0"/>
              </a:rPr>
              <a:t>() { </a:t>
            </a:r>
            <a:r>
              <a:rPr lang="fr-FR" sz="1400" b="1" dirty="0">
                <a:solidFill>
                  <a:schemeClr val="accent6">
                    <a:lumMod val="75000"/>
                  </a:schemeClr>
                </a:solidFill>
                <a:effectLst/>
                <a:latin typeface="Consolas" panose="020B0609020204030204" pitchFamily="49" charset="0"/>
              </a:rPr>
              <a:t>// Lecture au démarrage</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1967B3"/>
                </a:solidFill>
                <a:effectLst/>
                <a:latin typeface="Consolas" panose="020B0609020204030204" pitchFamily="49" charset="0"/>
              </a:rPr>
              <a:t>this</a:t>
            </a:r>
            <a:r>
              <a:rPr lang="fr-FR" sz="1400" b="1" dirty="0" err="1">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tasks</a:t>
            </a:r>
            <a:r>
              <a:rPr lang="fr-FR" sz="1400" b="1" dirty="0">
                <a:solidFill>
                  <a:srgbClr val="344054"/>
                </a:solidFill>
                <a:effectLst/>
                <a:latin typeface="Consolas" panose="020B0609020204030204" pitchFamily="49" charset="0"/>
              </a:rPr>
              <a:t> </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err="1">
                <a:solidFill>
                  <a:srgbClr val="1967B3"/>
                </a:solidFill>
                <a:effectLst/>
                <a:latin typeface="Consolas" panose="020B0609020204030204" pitchFamily="49" charset="0"/>
              </a:rPr>
              <a:t>this</a:t>
            </a:r>
            <a:r>
              <a:rPr lang="fr-FR" sz="1400" b="1" dirty="0" err="1">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taskService</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getTasks</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a:t>
            </a:r>
          </a:p>
          <a:p>
            <a:pPr>
              <a:lnSpc>
                <a:spcPts val="1425"/>
              </a:lnSpc>
              <a:buNone/>
            </a:pPr>
            <a:r>
              <a:rPr lang="fr-FR" sz="1400" b="1" dirty="0" err="1">
                <a:effectLst/>
                <a:latin typeface="Consolas" panose="020B0609020204030204" pitchFamily="49" charset="0"/>
              </a:rPr>
              <a:t>addTask</a:t>
            </a:r>
            <a:r>
              <a:rPr lang="fr-FR" sz="1400" b="1" dirty="0">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a:t>
            </a: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Task</a:t>
            </a:r>
            <a:r>
              <a:rPr lang="fr-FR" sz="1400" b="1" dirty="0">
                <a:solidFill>
                  <a:srgbClr val="344054"/>
                </a:solidFill>
                <a:effectLst/>
                <a:latin typeface="Consolas" panose="020B0609020204030204" pitchFamily="49" charset="0"/>
              </a:rPr>
              <a:t>) {</a:t>
            </a:r>
          </a:p>
          <a:p>
            <a:pPr>
              <a:lnSpc>
                <a:spcPts val="1425"/>
              </a:lnSpc>
              <a:buNone/>
            </a:pPr>
            <a:r>
              <a:rPr lang="fr-FR" sz="1400" b="1" dirty="0">
                <a:solidFill>
                  <a:srgbClr val="344054"/>
                </a:solidFill>
                <a:effectLst/>
                <a:latin typeface="Consolas" panose="020B0609020204030204" pitchFamily="49" charset="0"/>
              </a:rPr>
              <a:t>  this.tasks = [...this.tasks, task];</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1967B3"/>
                </a:solidFill>
                <a:effectLst/>
                <a:latin typeface="Consolas" panose="020B0609020204030204" pitchFamily="49" charset="0"/>
              </a:rPr>
              <a:t>this</a:t>
            </a:r>
            <a:r>
              <a:rPr lang="fr-FR" sz="1400" b="1" dirty="0" err="1">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taskService</a:t>
            </a:r>
            <a:r>
              <a:rPr lang="fr-FR" sz="1400" b="1" dirty="0" err="1">
                <a:solidFill>
                  <a:srgbClr val="344054"/>
                </a:solidFill>
                <a:effectLst/>
                <a:latin typeface="Consolas" panose="020B0609020204030204" pitchFamily="49" charset="0"/>
              </a:rPr>
              <a:t>.</a:t>
            </a:r>
            <a:r>
              <a:rPr lang="fr-FR" sz="1400" b="1" dirty="0" err="1">
                <a:effectLst/>
                <a:latin typeface="Consolas" panose="020B0609020204030204" pitchFamily="49" charset="0"/>
              </a:rPr>
              <a:t>saveTasks</a:t>
            </a:r>
            <a:r>
              <a:rPr lang="fr-FR" sz="1400" b="1" dirty="0">
                <a:solidFill>
                  <a:srgbClr val="344054"/>
                </a:solidFill>
                <a:effectLst/>
                <a:latin typeface="Consolas" panose="020B0609020204030204" pitchFamily="49" charset="0"/>
              </a:rPr>
              <a:t>(</a:t>
            </a:r>
            <a:r>
              <a:rPr lang="fr-FR" sz="1400" b="1" dirty="0" err="1">
                <a:solidFill>
                  <a:srgbClr val="1967B3"/>
                </a:solidFill>
                <a:effectLst/>
                <a:latin typeface="Consolas" panose="020B0609020204030204" pitchFamily="49" charset="0"/>
              </a:rPr>
              <a:t>this</a:t>
            </a:r>
            <a:r>
              <a:rPr lang="fr-FR" sz="1400" b="1" dirty="0" err="1">
                <a:solidFill>
                  <a:srgbClr val="344054"/>
                </a:solidFill>
                <a:effectLst/>
                <a:latin typeface="Consolas" panose="020B0609020204030204" pitchFamily="49" charset="0"/>
              </a:rPr>
              <a:t>.</a:t>
            </a:r>
            <a:r>
              <a:rPr lang="fr-FR" sz="1400" b="1" dirty="0" err="1">
                <a:solidFill>
                  <a:srgbClr val="005A9C"/>
                </a:solidFill>
                <a:effectLst/>
                <a:latin typeface="Consolas" panose="020B0609020204030204" pitchFamily="49" charset="0"/>
              </a:rPr>
              <a:t>tasks</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a:t>
            </a:r>
          </a:p>
        </p:txBody>
      </p:sp>
      <p:sp>
        <p:nvSpPr>
          <p:cNvPr id="3" name="Espace réservé du numéro de diapositive 2">
            <a:extLst>
              <a:ext uri="{FF2B5EF4-FFF2-40B4-BE49-F238E27FC236}">
                <a16:creationId xmlns:a16="http://schemas.microsoft.com/office/drawing/2014/main" id="{2A4120C0-C279-A9A2-3209-1A5B5A259D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43</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425546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E9C24-6B6F-601B-BCCC-12071C4292B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1C5458F-9D9E-48BD-DD40-048F0F986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9075EF74-55D0-8A2D-8427-FAD2586D3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3D84945-26B8-53DF-3C7D-E83D87981F44}"/>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2A4120C0-C279-A9A2-3209-1A5B5A259D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44</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455BFDAD-E88A-4EAA-AB15-C035D4F8C15B}"/>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TaskStore : un service réactif</a:t>
            </a:r>
          </a:p>
        </p:txBody>
      </p:sp>
      <p:sp>
        <p:nvSpPr>
          <p:cNvPr id="101" name="example-label">
            <a:extLst>
              <a:ext uri="{FF2B5EF4-FFF2-40B4-BE49-F238E27FC236}">
                <a16:creationId xmlns:a16="http://schemas.microsoft.com/office/drawing/2014/main" id="{E89337DF-FF2E-4EAD-8E24-E6B5544DF0B1}"/>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État privé, lecture publique et actions</a:t>
            </a:r>
          </a:p>
        </p:txBody>
      </p:sp>
      <p:sp>
        <p:nvSpPr>
          <p:cNvPr id="102" name="angular-code">
            <a:extLst>
              <a:ext uri="{FF2B5EF4-FFF2-40B4-BE49-F238E27FC236}">
                <a16:creationId xmlns:a16="http://schemas.microsoft.com/office/drawing/2014/main" id="{CAACBF35-599F-42DE-8877-2CF936847A31}"/>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Injectable</a:t>
            </a:r>
            <a:r>
              <a:t>, </a:t>
            </a:r>
            <a:r>
              <a:rPr>
                <a:solidFill>
                  <a:srgbClr val="008977"/>
                </a:solidFill>
              </a:rPr>
              <a:t>signal</a:t>
            </a:r>
            <a:r>
              <a:t> } </a:t>
            </a:r>
            <a:r>
              <a:rPr>
                <a:solidFill>
                  <a:srgbClr val="8D36A8"/>
                </a:solidFill>
              </a:rPr>
              <a:t>from</a:t>
            </a:r>
            <a:r>
              <a:t> </a:t>
            </a:r>
            <a:r>
              <a:rPr>
                <a:solidFill>
                  <a:srgbClr val="B44520"/>
                </a:solidFill>
              </a:rPr>
              <a:t>'@angular/core'</a:t>
            </a:r>
            <a:r>
              <a:t>;</a:t>
            </a:r>
          </a:p>
          <a:p>
            <a:pPr>
              <a:spcAft>
                <a:spcPts val="0"/>
              </a:spcAft>
              <a:defRPr sz="1350" b="0">
                <a:solidFill>
                  <a:srgbClr val="000000"/>
                </a:solidFill>
                <a:latin typeface="Consolas"/>
                <a:ea typeface="Consolas"/>
                <a:cs typeface="Consolas"/>
              </a:defRPr>
            </a:pPr>
            <a:r>
              <a:rPr>
                <a:solidFill>
                  <a:srgbClr val="8D36A8"/>
                </a:solidFill>
              </a:rPr>
              <a:t>import</a:t>
            </a:r>
            <a:r>
              <a:t> { </a:t>
            </a:r>
            <a:r>
              <a:rPr>
                <a:solidFill>
                  <a:srgbClr val="008977"/>
                </a:solidFill>
              </a:rPr>
              <a:t>Task</a:t>
            </a:r>
            <a:r>
              <a:t> } </a:t>
            </a:r>
            <a:r>
              <a:rPr>
                <a:solidFill>
                  <a:srgbClr val="8D36A8"/>
                </a:solidFill>
              </a:rPr>
              <a:t>from</a:t>
            </a:r>
            <a:r>
              <a:t> </a:t>
            </a:r>
            <a:r>
              <a:rPr>
                <a:solidFill>
                  <a:srgbClr val="B44520"/>
                </a:solidFill>
              </a:rPr>
              <a:t>'./task'</a:t>
            </a:r>
            <a:r>
              <a:t>;</a:t>
            </a:r>
          </a:p>
          <a:p>
            <a:pPr>
              <a:spcAft>
                <a:spcPts val="0"/>
              </a:spcAft>
              <a:defRPr sz="1350" b="0">
                <a:solidFill>
                  <a:srgbClr val="000000"/>
                </a:solidFill>
                <a:latin typeface="Consolas"/>
                <a:ea typeface="Consolas"/>
                <a:cs typeface="Consolas"/>
              </a:defRPr>
            </a:pPr>
            <a:r>
              <a:t>@</a:t>
            </a:r>
            <a:r>
              <a:rPr>
                <a:solidFill>
                  <a:srgbClr val="008977"/>
                </a:solidFill>
              </a:rPr>
              <a:t>Injectable</a:t>
            </a:r>
            <a:r>
              <a:t>({ providedIn: </a:t>
            </a:r>
            <a:r>
              <a:rPr>
                <a:solidFill>
                  <a:srgbClr val="B44520"/>
                </a:solidFill>
              </a:rPr>
              <a:t>'root'</a:t>
            </a:r>
            <a:r>
              <a:t> })</a:t>
            </a:r>
          </a:p>
          <a:p>
            <a:pPr>
              <a:spcAft>
                <a:spcPts val="0"/>
              </a:spcAft>
              <a:defRPr sz="1350" b="0">
                <a:solidFill>
                  <a:srgbClr val="000000"/>
                </a:solidFill>
                <a:latin typeface="Consolas"/>
                <a:ea typeface="Consolas"/>
                <a:cs typeface="Consolas"/>
              </a:defRPr>
            </a:pPr>
            <a:r>
              <a:rPr>
                <a:solidFill>
                  <a:srgbClr val="8D36A8"/>
                </a:solidFill>
              </a:rPr>
              <a:t>export</a:t>
            </a:r>
            <a:r>
              <a:t> </a:t>
            </a:r>
            <a:r>
              <a:rPr>
                <a:solidFill>
                  <a:srgbClr val="8D36A8"/>
                </a:solidFill>
              </a:rPr>
              <a:t>class</a:t>
            </a:r>
            <a:r>
              <a:t> </a:t>
            </a:r>
            <a:r>
              <a:rPr>
                <a:solidFill>
                  <a:srgbClr val="008977"/>
                </a:solidFill>
              </a:rPr>
              <a:t>TaskStore</a:t>
            </a:r>
            <a:r>
              <a:t> {</a:t>
            </a:r>
          </a:p>
          <a:p>
            <a:pPr>
              <a:spcAft>
                <a:spcPts val="0"/>
              </a:spcAft>
              <a:defRPr sz="1350" b="0">
                <a:solidFill>
                  <a:srgbClr val="000000"/>
                </a:solidFill>
                <a:latin typeface="Consolas"/>
                <a:ea typeface="Consolas"/>
                <a:cs typeface="Consolas"/>
              </a:defRPr>
            </a:pPr>
            <a:r>
              <a:t>  </a:t>
            </a:r>
            <a:r>
              <a:rPr>
                <a:solidFill>
                  <a:srgbClr val="8D36A8"/>
                </a:solidFill>
              </a:rPr>
              <a:t>private</a:t>
            </a:r>
            <a:r>
              <a:t> </a:t>
            </a:r>
            <a:r>
              <a:rPr>
                <a:solidFill>
                  <a:srgbClr val="8D36A8"/>
                </a:solidFill>
              </a:rPr>
              <a:t>readonly</a:t>
            </a:r>
            <a:r>
              <a:t> state = </a:t>
            </a:r>
            <a:r>
              <a:rPr>
                <a:solidFill>
                  <a:srgbClr val="008977"/>
                </a:solidFill>
              </a:rPr>
              <a:t>signal</a:t>
            </a:r>
            <a:r>
              <a:t>&lt;</a:t>
            </a:r>
            <a:r>
              <a:rPr>
                <a:solidFill>
                  <a:srgbClr val="008977"/>
                </a:solidFill>
              </a:rPr>
              <a:t>Task</a:t>
            </a:r>
            <a:r>
              <a:t>[]&gt;([]);</a:t>
            </a:r>
          </a:p>
          <a:p>
            <a:pPr>
              <a:spcAft>
                <a:spcPts val="0"/>
              </a:spcAft>
              <a:defRPr sz="1350" b="0">
                <a:solidFill>
                  <a:srgbClr val="000000"/>
                </a:solidFill>
                <a:latin typeface="Consolas"/>
                <a:ea typeface="Consolas"/>
                <a:cs typeface="Consolas"/>
              </a:defRPr>
            </a:pPr>
            <a:r>
              <a:t>  </a:t>
            </a:r>
            <a:r>
              <a:rPr>
                <a:solidFill>
                  <a:srgbClr val="8D36A8"/>
                </a:solidFill>
              </a:rPr>
              <a:t>readonly</a:t>
            </a:r>
            <a:r>
              <a:t> tasks = this.state.asReadonly();</a:t>
            </a:r>
          </a:p>
          <a:p>
            <a:pPr>
              <a:spcAft>
                <a:spcPts val="0"/>
              </a:spcAft>
              <a:defRPr sz="1350" b="0">
                <a:solidFill>
                  <a:srgbClr val="000000"/>
                </a:solidFill>
                <a:latin typeface="Consolas"/>
                <a:ea typeface="Consolas"/>
                <a:cs typeface="Consolas"/>
              </a:defRPr>
            </a:pPr>
            <a:r>
              <a:t>  add(data: { title: string; dueDate?: string }) {</a:t>
            </a:r>
          </a:p>
          <a:p>
            <a:pPr>
              <a:spcAft>
                <a:spcPts val="0"/>
              </a:spcAft>
              <a:defRPr sz="1350" b="0">
                <a:solidFill>
                  <a:srgbClr val="000000"/>
                </a:solidFill>
                <a:latin typeface="Consolas"/>
                <a:ea typeface="Consolas"/>
                <a:cs typeface="Consolas"/>
              </a:defRPr>
            </a:pPr>
            <a:r>
              <a:t>    </a:t>
            </a:r>
            <a:r>
              <a:rPr>
                <a:solidFill>
                  <a:srgbClr val="8D36A8"/>
                </a:solidFill>
              </a:rPr>
              <a:t>const</a:t>
            </a:r>
            <a:r>
              <a:t> now = </a:t>
            </a:r>
            <a:r>
              <a:rPr>
                <a:solidFill>
                  <a:srgbClr val="8D36A8"/>
                </a:solidFill>
              </a:rPr>
              <a:t>new</a:t>
            </a:r>
            <a:r>
              <a:t> Date().toISOString();</a:t>
            </a:r>
          </a:p>
          <a:p>
            <a:pPr>
              <a:spcAft>
                <a:spcPts val="0"/>
              </a:spcAft>
              <a:defRPr sz="1350" b="0">
                <a:solidFill>
                  <a:srgbClr val="000000"/>
                </a:solidFill>
                <a:latin typeface="Consolas"/>
                <a:ea typeface="Consolas"/>
                <a:cs typeface="Consolas"/>
              </a:defRPr>
            </a:pPr>
            <a:r>
              <a:t>    </a:t>
            </a:r>
            <a:r>
              <a:rPr>
                <a:solidFill>
                  <a:srgbClr val="8D36A8"/>
                </a:solidFill>
              </a:rPr>
              <a:t>const</a:t>
            </a:r>
            <a:r>
              <a:t> task: </a:t>
            </a:r>
            <a:r>
              <a:rPr>
                <a:solidFill>
                  <a:srgbClr val="008977"/>
                </a:solidFill>
              </a:rPr>
              <a:t>Task</a:t>
            </a:r>
            <a:r>
              <a:t> = { ...data,</a:t>
            </a:r>
          </a:p>
          <a:p>
            <a:pPr>
              <a:spcAft>
                <a:spcPts val="0"/>
              </a:spcAft>
              <a:defRPr sz="1350" b="0">
                <a:solidFill>
                  <a:srgbClr val="000000"/>
                </a:solidFill>
                <a:latin typeface="Consolas"/>
                <a:ea typeface="Consolas"/>
                <a:cs typeface="Consolas"/>
              </a:defRPr>
            </a:pPr>
            <a:r>
              <a:t>      id: crypto.randomUUID(), done: </a:t>
            </a:r>
            <a:r>
              <a:rPr>
                <a:solidFill>
                  <a:srgbClr val="8D36A8"/>
                </a:solidFill>
              </a:rPr>
              <a:t>false</a:t>
            </a:r>
            <a:r>
              <a:t>,</a:t>
            </a:r>
          </a:p>
          <a:p>
            <a:pPr>
              <a:spcAft>
                <a:spcPts val="0"/>
              </a:spcAft>
              <a:defRPr sz="1350" b="0">
                <a:solidFill>
                  <a:srgbClr val="000000"/>
                </a:solidFill>
                <a:latin typeface="Consolas"/>
                <a:ea typeface="Consolas"/>
                <a:cs typeface="Consolas"/>
              </a:defRPr>
            </a:pPr>
            <a:r>
              <a:t>      createdAt: now, updatedAt: now };</a:t>
            </a:r>
          </a:p>
          <a:p>
            <a:pPr>
              <a:spcAft>
                <a:spcPts val="0"/>
              </a:spcAft>
              <a:defRPr sz="1350" b="0">
                <a:solidFill>
                  <a:srgbClr val="000000"/>
                </a:solidFill>
                <a:latin typeface="Consolas"/>
                <a:ea typeface="Consolas"/>
                <a:cs typeface="Consolas"/>
              </a:defRPr>
            </a:pPr>
            <a:r>
              <a:t>    this.state.update(list =&gt; [...list, task]);</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toggle(id: string) {</a:t>
            </a:r>
          </a:p>
          <a:p>
            <a:pPr>
              <a:spcAft>
                <a:spcPts val="0"/>
              </a:spcAft>
              <a:defRPr sz="1350" b="0">
                <a:solidFill>
                  <a:srgbClr val="000000"/>
                </a:solidFill>
                <a:latin typeface="Consolas"/>
                <a:ea typeface="Consolas"/>
                <a:cs typeface="Consolas"/>
              </a:defRPr>
            </a:pPr>
            <a:r>
              <a:t>    this.state.update(list =&gt; list.map(t =&gt;</a:t>
            </a:r>
          </a:p>
          <a:p>
            <a:pPr>
              <a:spcAft>
                <a:spcPts val="0"/>
              </a:spcAft>
              <a:defRPr sz="1350" b="0">
                <a:solidFill>
                  <a:srgbClr val="000000"/>
                </a:solidFill>
                <a:latin typeface="Consolas"/>
                <a:ea typeface="Consolas"/>
                <a:cs typeface="Consolas"/>
              </a:defRPr>
            </a:pPr>
            <a:r>
              <a:t>      t.id === id ? { ...t, done: !t.done,</a:t>
            </a:r>
          </a:p>
          <a:p>
            <a:pPr>
              <a:spcAft>
                <a:spcPts val="0"/>
              </a:spcAft>
              <a:defRPr sz="1350" b="0">
                <a:solidFill>
                  <a:srgbClr val="000000"/>
                </a:solidFill>
                <a:latin typeface="Consolas"/>
                <a:ea typeface="Consolas"/>
                <a:cs typeface="Consolas"/>
              </a:defRPr>
            </a:pPr>
            <a:r>
              <a:t>        updatedAt: </a:t>
            </a:r>
            <a:r>
              <a:rPr>
                <a:solidFill>
                  <a:srgbClr val="8D36A8"/>
                </a:solidFill>
              </a:rPr>
              <a:t>new</a:t>
            </a:r>
            <a:r>
              <a:t> Date().toISOString() } : 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p:txBody>
      </p:sp>
      <p:sp>
        <p:nvSpPr>
          <p:cNvPr id="103" name="takeaways-heading">
            <a:extLst>
              <a:ext uri="{FF2B5EF4-FFF2-40B4-BE49-F238E27FC236}">
                <a16:creationId xmlns:a16="http://schemas.microsoft.com/office/drawing/2014/main" id="{42258515-97E2-4F82-A553-8D4E72B2F013}"/>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06F2E5A2-E8C8-4979-8DE2-53D7894347DF}"/>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Un seul état pour la liste et les statistiques.</a:t>
            </a:r>
          </a:p>
          <a:p>
            <a:pPr marL="152400" indent="-114300">
              <a:spcAft>
                <a:spcPts val="500"/>
              </a:spcAft>
              <a:buChar char="•"/>
              <a:defRPr sz="1500" b="0">
                <a:solidFill>
                  <a:srgbClr val="000000"/>
                </a:solidFill>
                <a:latin typeface="Calibri"/>
                <a:ea typeface="Calibri"/>
                <a:cs typeface="Calibri"/>
              </a:defRPr>
            </a:pPr>
            <a:r>
              <a:t>Les composants appellent les actions du store.</a:t>
            </a:r>
          </a:p>
          <a:p>
            <a:pPr marL="152400" indent="-114300">
              <a:spcAft>
                <a:spcPts val="500"/>
              </a:spcAft>
              <a:buChar char="•"/>
              <a:defRPr sz="1500" b="0">
                <a:solidFill>
                  <a:srgbClr val="000000"/>
                </a:solidFill>
                <a:latin typeface="Calibri"/>
                <a:ea typeface="Calibri"/>
                <a:cs typeface="Calibri"/>
              </a:defRPr>
            </a:pPr>
            <a:r>
              <a:t>asReadonly() expose la lecture du signal.</a:t>
            </a:r>
          </a:p>
          <a:p>
            <a:pPr marL="152400" indent="-114300">
              <a:spcAft>
                <a:spcPts val="500"/>
              </a:spcAft>
              <a:buChar char="•"/>
              <a:defRPr sz="1500" b="0">
                <a:solidFill>
                  <a:srgbClr val="000000"/>
                </a:solidFill>
                <a:latin typeface="Calibri"/>
                <a:ea typeface="Calibri"/>
                <a:cs typeface="Calibri"/>
              </a:defRPr>
            </a:pPr>
            <a:r>
              <a:t>Le modèle Task reste celui du TP.</a:t>
            </a:r>
          </a:p>
        </p:txBody>
      </p:sp>
    </p:spTree>
    <p:extLst>
      <p:ext uri="{BB962C8B-B14F-4D97-AF65-F5344CB8AC3E}">
        <p14:creationId xmlns:p14="http://schemas.microsoft.com/office/powerpoint/2010/main" val="304255463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E9C24-6B6F-601B-BCCC-12071C4292B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1C5458F-9D9E-48BD-DD40-048F0F986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9075EF74-55D0-8A2D-8427-FAD2586D3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3D84945-26B8-53DF-3C7D-E83D87981F44}"/>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2A4120C0-C279-A9A2-3209-1A5B5A259D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45</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D720FEF9-E6F7-4B55-877B-D3F5E6E3765B}"/>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Persistance : lecture avec un repli</a:t>
            </a:r>
          </a:p>
        </p:txBody>
      </p:sp>
      <p:sp>
        <p:nvSpPr>
          <p:cNvPr id="101" name="example-label">
            <a:extLst>
              <a:ext uri="{FF2B5EF4-FFF2-40B4-BE49-F238E27FC236}">
                <a16:creationId xmlns:a16="http://schemas.microsoft.com/office/drawing/2014/main" id="{C023F259-4D67-4A46-98EF-5E437A172EEB}"/>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Méthode à ajouter dans TaskStore</a:t>
            </a:r>
          </a:p>
        </p:txBody>
      </p:sp>
      <p:sp>
        <p:nvSpPr>
          <p:cNvPr id="102" name="angular-code">
            <a:extLst>
              <a:ext uri="{FF2B5EF4-FFF2-40B4-BE49-F238E27FC236}">
                <a16:creationId xmlns:a16="http://schemas.microsoft.com/office/drawing/2014/main" id="{2C1B3890-ED9A-45E4-A0D3-70921A6B3820}"/>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8D36A8"/>
                </a:solidFill>
              </a:rPr>
              <a:t>private</a:t>
            </a:r>
            <a:r>
              <a:t> load(): </a:t>
            </a:r>
            <a:r>
              <a:rPr>
                <a:solidFill>
                  <a:srgbClr val="008977"/>
                </a:solidFill>
              </a:rPr>
              <a:t>Task</a:t>
            </a:r>
            <a:r>
              <a:t>[] {</a:t>
            </a:r>
          </a:p>
          <a:p>
            <a:pPr>
              <a:spcAft>
                <a:spcPts val="0"/>
              </a:spcAft>
              <a:defRPr sz="1350" b="0">
                <a:solidFill>
                  <a:srgbClr val="000000"/>
                </a:solidFill>
                <a:latin typeface="Consolas"/>
                <a:ea typeface="Consolas"/>
                <a:cs typeface="Consolas"/>
              </a:defRPr>
            </a:pPr>
            <a:r>
              <a:t>  </a:t>
            </a:r>
            <a:r>
              <a:rPr>
                <a:solidFill>
                  <a:srgbClr val="8D36A8"/>
                </a:solidFill>
              </a:rPr>
              <a:t>if</a:t>
            </a:r>
            <a:r>
              <a:t> (</a:t>
            </a:r>
            <a:r>
              <a:rPr>
                <a:solidFill>
                  <a:srgbClr val="8D36A8"/>
                </a:solidFill>
              </a:rPr>
              <a:t>typeof</a:t>
            </a:r>
            <a:r>
              <a:t> window === </a:t>
            </a:r>
            <a:r>
              <a:rPr>
                <a:solidFill>
                  <a:srgbClr val="B44520"/>
                </a:solidFill>
              </a:rPr>
              <a:t>'undefined'</a:t>
            </a:r>
            <a:r>
              <a:t>) </a:t>
            </a:r>
            <a:r>
              <a:rPr>
                <a:solidFill>
                  <a:srgbClr val="8D36A8"/>
                </a:solidFill>
              </a:rPr>
              <a:t>return</a:t>
            </a:r>
            <a:r>
              <a:t> [];</a:t>
            </a:r>
          </a:p>
          <a:p>
            <a:pPr>
              <a:spcAft>
                <a:spcPts val="0"/>
              </a:spcAft>
              <a:defRPr sz="1350" b="0">
                <a:solidFill>
                  <a:srgbClr val="000000"/>
                </a:solidFill>
                <a:latin typeface="Consolas"/>
                <a:ea typeface="Consolas"/>
                <a:cs typeface="Consolas"/>
              </a:defRPr>
            </a:pPr>
            <a:r>
              <a:t>  try {</a:t>
            </a:r>
          </a:p>
          <a:p>
            <a:pPr>
              <a:spcAft>
                <a:spcPts val="0"/>
              </a:spcAft>
              <a:defRPr sz="1350" b="0">
                <a:solidFill>
                  <a:srgbClr val="000000"/>
                </a:solidFill>
                <a:latin typeface="Consolas"/>
                <a:ea typeface="Consolas"/>
                <a:cs typeface="Consolas"/>
              </a:defRPr>
            </a:pPr>
            <a:r>
              <a:t>    </a:t>
            </a:r>
            <a:r>
              <a:rPr>
                <a:solidFill>
                  <a:srgbClr val="8D36A8"/>
                </a:solidFill>
              </a:rPr>
              <a:t>const</a:t>
            </a:r>
            <a:r>
              <a:t> raw = localStorage.getItem(</a:t>
            </a:r>
            <a:r>
              <a:rPr>
                <a:solidFill>
                  <a:srgbClr val="B44520"/>
                </a:solidFill>
              </a:rPr>
              <a:t>'tasks'</a:t>
            </a:r>
            <a:r>
              <a:t>);</a:t>
            </a:r>
          </a:p>
          <a:p>
            <a:pPr>
              <a:spcAft>
                <a:spcPts val="0"/>
              </a:spcAft>
              <a:defRPr sz="1350" b="0">
                <a:solidFill>
                  <a:srgbClr val="000000"/>
                </a:solidFill>
                <a:latin typeface="Consolas"/>
                <a:ea typeface="Consolas"/>
                <a:cs typeface="Consolas"/>
              </a:defRPr>
            </a:pPr>
            <a:r>
              <a:t>    </a:t>
            </a:r>
            <a:r>
              <a:rPr>
                <a:solidFill>
                  <a:srgbClr val="8D36A8"/>
                </a:solidFill>
              </a:rPr>
              <a:t>const</a:t>
            </a:r>
            <a:r>
              <a:t> value: unknown = JSON.parse(raw ?? </a:t>
            </a:r>
            <a:r>
              <a:rPr>
                <a:solidFill>
                  <a:srgbClr val="B44520"/>
                </a:solidFill>
              </a:rPr>
              <a:t>'[]'</a:t>
            </a:r>
            <a:r>
              <a:t>);</a:t>
            </a:r>
          </a:p>
          <a:p>
            <a:pPr>
              <a:spcAft>
                <a:spcPts val="0"/>
              </a:spcAft>
              <a:defRPr sz="1350" b="0">
                <a:solidFill>
                  <a:srgbClr val="000000"/>
                </a:solidFill>
                <a:latin typeface="Consolas"/>
                <a:ea typeface="Consolas"/>
                <a:cs typeface="Consolas"/>
              </a:defRPr>
            </a:pPr>
            <a:r>
              <a:t>    </a:t>
            </a:r>
            <a:r>
              <a:rPr>
                <a:solidFill>
                  <a:srgbClr val="8D36A8"/>
                </a:solidFill>
              </a:rPr>
              <a:t>return</a:t>
            </a:r>
            <a:r>
              <a:t> Array.isArray(value)</a:t>
            </a:r>
          </a:p>
          <a:p>
            <a:pPr>
              <a:spcAft>
                <a:spcPts val="0"/>
              </a:spcAft>
              <a:defRPr sz="1350" b="0">
                <a:solidFill>
                  <a:srgbClr val="000000"/>
                </a:solidFill>
                <a:latin typeface="Consolas"/>
                <a:ea typeface="Consolas"/>
                <a:cs typeface="Consolas"/>
              </a:defRPr>
            </a:pPr>
            <a:r>
              <a:t>      ? value.filter(isTask) : [];</a:t>
            </a:r>
          </a:p>
          <a:p>
            <a:pPr>
              <a:spcAft>
                <a:spcPts val="0"/>
              </a:spcAft>
              <a:defRPr sz="1350" b="0">
                <a:solidFill>
                  <a:srgbClr val="000000"/>
                </a:solidFill>
                <a:latin typeface="Consolas"/>
                <a:ea typeface="Consolas"/>
                <a:cs typeface="Consolas"/>
              </a:defRPr>
            </a:pPr>
            <a:r>
              <a:t>  } catch {</a:t>
            </a:r>
          </a:p>
          <a:p>
            <a:pPr>
              <a:spcAft>
                <a:spcPts val="0"/>
              </a:spcAft>
              <a:defRPr sz="1350" b="0">
                <a:solidFill>
                  <a:srgbClr val="000000"/>
                </a:solidFill>
                <a:latin typeface="Consolas"/>
                <a:ea typeface="Consolas"/>
                <a:cs typeface="Consolas"/>
              </a:defRPr>
            </a:pPr>
            <a:r>
              <a:t>    </a:t>
            </a:r>
            <a:r>
              <a:rPr>
                <a:solidFill>
                  <a:srgbClr val="8D36A8"/>
                </a:solidFill>
              </a:rPr>
              <a:t>return</a:t>
            </a:r>
            <a:r>
              <a:t> [];</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558B2F"/>
                </a:solidFill>
              </a:rPr>
              <a:t>// Initialisation du champ state :</a:t>
            </a:r>
          </a:p>
          <a:p>
            <a:pPr>
              <a:spcAft>
                <a:spcPts val="0"/>
              </a:spcAft>
              <a:defRPr sz="1350" b="0">
                <a:solidFill>
                  <a:srgbClr val="000000"/>
                </a:solidFill>
                <a:latin typeface="Consolas"/>
                <a:ea typeface="Consolas"/>
                <a:cs typeface="Consolas"/>
              </a:defRPr>
            </a:pPr>
            <a:r>
              <a:rPr>
                <a:solidFill>
                  <a:srgbClr val="8D36A8"/>
                </a:solidFill>
              </a:rPr>
              <a:t>private</a:t>
            </a:r>
            <a:r>
              <a:t> </a:t>
            </a:r>
            <a:r>
              <a:rPr>
                <a:solidFill>
                  <a:srgbClr val="8D36A8"/>
                </a:solidFill>
              </a:rPr>
              <a:t>readonly</a:t>
            </a:r>
            <a:r>
              <a:t> state = </a:t>
            </a:r>
            <a:r>
              <a:rPr>
                <a:solidFill>
                  <a:srgbClr val="008977"/>
                </a:solidFill>
              </a:rPr>
              <a:t>signal</a:t>
            </a:r>
            <a:r>
              <a:t>&lt;</a:t>
            </a:r>
            <a:r>
              <a:rPr>
                <a:solidFill>
                  <a:srgbClr val="008977"/>
                </a:solidFill>
              </a:rPr>
              <a:t>Task</a:t>
            </a:r>
            <a:r>
              <a:t>[]&gt;(this.load());</a:t>
            </a:r>
          </a:p>
        </p:txBody>
      </p:sp>
      <p:sp>
        <p:nvSpPr>
          <p:cNvPr id="103" name="takeaways-heading">
            <a:extLst>
              <a:ext uri="{FF2B5EF4-FFF2-40B4-BE49-F238E27FC236}">
                <a16:creationId xmlns:a16="http://schemas.microsoft.com/office/drawing/2014/main" id="{F39CEDF9-2ABB-4963-9A17-60376DEF9E33}"/>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697A87A1-9980-4721-9D97-67B644C1E004}"/>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Charger les données avant de démarrer la sauvegarde.</a:t>
            </a:r>
          </a:p>
          <a:p>
            <a:pPr marL="152400" indent="-114300">
              <a:spcAft>
                <a:spcPts val="500"/>
              </a:spcAft>
              <a:buChar char="•"/>
              <a:defRPr sz="1500" b="0">
                <a:solidFill>
                  <a:srgbClr val="000000"/>
                </a:solidFill>
                <a:latin typeface="Calibri"/>
                <a:ea typeface="Calibri"/>
                <a:cs typeface="Calibri"/>
              </a:defRPr>
            </a:pPr>
            <a:r>
              <a:t>Une lecture peut échouer ou produire un JSON invalide.</a:t>
            </a:r>
          </a:p>
          <a:p>
            <a:pPr marL="152400" indent="-114300">
              <a:spcAft>
                <a:spcPts val="500"/>
              </a:spcAft>
              <a:buChar char="•"/>
              <a:defRPr sz="1500" b="0">
                <a:solidFill>
                  <a:srgbClr val="000000"/>
                </a:solidFill>
                <a:latin typeface="Calibri"/>
                <a:ea typeface="Calibri"/>
                <a:cs typeface="Calibri"/>
              </a:defRPr>
            </a:pPr>
            <a:r>
              <a:t>Vérifier la structure des données après JSON.parse.</a:t>
            </a:r>
          </a:p>
          <a:p>
            <a:pPr marL="152400" indent="-114300">
              <a:spcAft>
                <a:spcPts val="500"/>
              </a:spcAft>
              <a:buChar char="•"/>
              <a:defRPr sz="1500" b="0">
                <a:solidFill>
                  <a:srgbClr val="000000"/>
                </a:solidFill>
                <a:latin typeface="Calibri"/>
                <a:ea typeface="Calibri"/>
                <a:cs typeface="Calibri"/>
              </a:defRPr>
            </a:pPr>
            <a:r>
              <a:t>Le stockage du navigateur est lié à l’origine du site.</a:t>
            </a:r>
          </a:p>
        </p:txBody>
      </p:sp>
    </p:spTree>
    <p:extLst>
      <p:ext uri="{BB962C8B-B14F-4D97-AF65-F5344CB8AC3E}">
        <p14:creationId xmlns:p14="http://schemas.microsoft.com/office/powerpoint/2010/main" val="3042554633"/>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8E9C24-6B6F-601B-BCCC-12071C4292BC}"/>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1C5458F-9D9E-48BD-DD40-048F0F986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9075EF74-55D0-8A2D-8427-FAD2586D3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3D84945-26B8-53DF-3C7D-E83D87981F44}"/>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3" name="Espace réservé du numéro de diapositive 2">
            <a:extLst>
              <a:ext uri="{FF2B5EF4-FFF2-40B4-BE49-F238E27FC236}">
                <a16:creationId xmlns:a16="http://schemas.microsoft.com/office/drawing/2014/main" id="{2A4120C0-C279-A9A2-3209-1A5B5A259DF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46</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96D3D1D2-4288-4B11-A25D-3A151FF3E2FC}"/>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Persistance : effect() sauvegarde l’état</a:t>
            </a:r>
          </a:p>
        </p:txBody>
      </p:sp>
      <p:sp>
        <p:nvSpPr>
          <p:cNvPr id="101" name="example-label">
            <a:extLst>
              <a:ext uri="{FF2B5EF4-FFF2-40B4-BE49-F238E27FC236}">
                <a16:creationId xmlns:a16="http://schemas.microsoft.com/office/drawing/2014/main" id="{82C95A12-DF8F-4FF5-B1ED-03AFCAC09D7F}"/>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Constructeur à ajouter dans TaskStore</a:t>
            </a:r>
          </a:p>
        </p:txBody>
      </p:sp>
      <p:sp>
        <p:nvSpPr>
          <p:cNvPr id="102" name="angular-code">
            <a:extLst>
              <a:ext uri="{FF2B5EF4-FFF2-40B4-BE49-F238E27FC236}">
                <a16:creationId xmlns:a16="http://schemas.microsoft.com/office/drawing/2014/main" id="{457FDBF1-312F-4852-9B0D-173680A32B37}"/>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558B2F"/>
                </a:solidFill>
              </a:rPr>
              <a:t>// Ajouter effect aux imports de @angular/core</a:t>
            </a:r>
          </a:p>
          <a:p>
            <a:pPr>
              <a:spcAft>
                <a:spcPts val="0"/>
              </a:spcAft>
              <a:defRPr sz="1350" b="0">
                <a:solidFill>
                  <a:srgbClr val="000000"/>
                </a:solidFill>
                <a:latin typeface="Consolas"/>
                <a:ea typeface="Consolas"/>
                <a:cs typeface="Consolas"/>
              </a:defRPr>
            </a:pPr>
            <a:r>
              <a:rPr>
                <a:solidFill>
                  <a:srgbClr val="8D36A8"/>
                </a:solidFill>
              </a:rPr>
              <a:t>constructor</a:t>
            </a:r>
            <a:r>
              <a:t>() {</a:t>
            </a:r>
          </a:p>
          <a:p>
            <a:pPr>
              <a:spcAft>
                <a:spcPts val="0"/>
              </a:spcAft>
              <a:defRPr sz="1350" b="0">
                <a:solidFill>
                  <a:srgbClr val="000000"/>
                </a:solidFill>
                <a:latin typeface="Consolas"/>
                <a:ea typeface="Consolas"/>
                <a:cs typeface="Consolas"/>
              </a:defRPr>
            </a:pPr>
            <a:r>
              <a:t>  </a:t>
            </a:r>
            <a:r>
              <a:rPr>
                <a:solidFill>
                  <a:srgbClr val="008977"/>
                </a:solidFill>
              </a:rPr>
              <a:t>effect</a:t>
            </a:r>
            <a:r>
              <a:t>(() =&gt; {</a:t>
            </a:r>
          </a:p>
          <a:p>
            <a:pPr>
              <a:spcAft>
                <a:spcPts val="0"/>
              </a:spcAft>
              <a:defRPr sz="1350" b="0">
                <a:solidFill>
                  <a:srgbClr val="000000"/>
                </a:solidFill>
                <a:latin typeface="Consolas"/>
                <a:ea typeface="Consolas"/>
                <a:cs typeface="Consolas"/>
              </a:defRPr>
            </a:pPr>
            <a:r>
              <a:t>    </a:t>
            </a:r>
            <a:r>
              <a:rPr>
                <a:solidFill>
                  <a:srgbClr val="8D36A8"/>
                </a:solidFill>
              </a:rPr>
              <a:t>const</a:t>
            </a:r>
            <a:r>
              <a:t> tasks = this.state();</a:t>
            </a:r>
          </a:p>
          <a:p>
            <a:pPr>
              <a:spcAft>
                <a:spcPts val="0"/>
              </a:spcAft>
              <a:defRPr sz="1350" b="0">
                <a:solidFill>
                  <a:srgbClr val="000000"/>
                </a:solidFill>
                <a:latin typeface="Consolas"/>
                <a:ea typeface="Consolas"/>
                <a:cs typeface="Consolas"/>
              </a:defRPr>
            </a:pPr>
            <a:r>
              <a:t>    </a:t>
            </a:r>
            <a:r>
              <a:rPr>
                <a:solidFill>
                  <a:srgbClr val="8D36A8"/>
                </a:solidFill>
              </a:rPr>
              <a:t>if</a:t>
            </a:r>
            <a:r>
              <a:t> (</a:t>
            </a:r>
            <a:r>
              <a:rPr>
                <a:solidFill>
                  <a:srgbClr val="8D36A8"/>
                </a:solidFill>
              </a:rPr>
              <a:t>typeof</a:t>
            </a:r>
            <a:r>
              <a:t> window === </a:t>
            </a:r>
            <a:r>
              <a:rPr>
                <a:solidFill>
                  <a:srgbClr val="B44520"/>
                </a:solidFill>
              </a:rPr>
              <a:t>'undefined'</a:t>
            </a:r>
            <a:r>
              <a:t>) </a:t>
            </a:r>
            <a:r>
              <a:rPr>
                <a:solidFill>
                  <a:srgbClr val="8D36A8"/>
                </a:solidFill>
              </a:rPr>
              <a:t>return</a:t>
            </a:r>
            <a:r>
              <a:t>;</a:t>
            </a:r>
          </a:p>
          <a:p>
            <a:pPr>
              <a:spcAft>
                <a:spcPts val="0"/>
              </a:spcAft>
              <a:defRPr sz="1350" b="0">
                <a:solidFill>
                  <a:srgbClr val="000000"/>
                </a:solidFill>
                <a:latin typeface="Consolas"/>
                <a:ea typeface="Consolas"/>
                <a:cs typeface="Consolas"/>
              </a:defRPr>
            </a:pPr>
            <a:r>
              <a:t>    try {</a:t>
            </a:r>
          </a:p>
          <a:p>
            <a:pPr>
              <a:spcAft>
                <a:spcPts val="0"/>
              </a:spcAft>
              <a:defRPr sz="1350" b="0">
                <a:solidFill>
                  <a:srgbClr val="000000"/>
                </a:solidFill>
                <a:latin typeface="Consolas"/>
                <a:ea typeface="Consolas"/>
                <a:cs typeface="Consolas"/>
              </a:defRPr>
            </a:pPr>
            <a:r>
              <a:t>      localStorage.setItem(</a:t>
            </a:r>
            <a:r>
              <a:rPr>
                <a:solidFill>
                  <a:srgbClr val="B44520"/>
                </a:solidFill>
              </a:rPr>
              <a:t>'tasks'</a:t>
            </a:r>
            <a:r>
              <a:t>,</a:t>
            </a:r>
          </a:p>
          <a:p>
            <a:pPr>
              <a:spcAft>
                <a:spcPts val="0"/>
              </a:spcAft>
              <a:defRPr sz="1350" b="0">
                <a:solidFill>
                  <a:srgbClr val="000000"/>
                </a:solidFill>
                <a:latin typeface="Consolas"/>
                <a:ea typeface="Consolas"/>
                <a:cs typeface="Consolas"/>
              </a:defRPr>
            </a:pPr>
            <a:r>
              <a:t>        JSON.stringify(tasks));</a:t>
            </a:r>
          </a:p>
          <a:p>
            <a:pPr>
              <a:spcAft>
                <a:spcPts val="0"/>
              </a:spcAft>
              <a:defRPr sz="1350" b="0">
                <a:solidFill>
                  <a:srgbClr val="000000"/>
                </a:solidFill>
                <a:latin typeface="Consolas"/>
                <a:ea typeface="Consolas"/>
                <a:cs typeface="Consolas"/>
              </a:defRPr>
            </a:pPr>
            <a:r>
              <a:t>    } catch {</a:t>
            </a:r>
          </a:p>
          <a:p>
            <a:pPr>
              <a:spcAft>
                <a:spcPts val="0"/>
              </a:spcAft>
              <a:defRPr sz="1350" b="0">
                <a:solidFill>
                  <a:srgbClr val="000000"/>
                </a:solidFill>
                <a:latin typeface="Consolas"/>
                <a:ea typeface="Consolas"/>
                <a:cs typeface="Consolas"/>
              </a:defRPr>
            </a:pPr>
            <a:r>
              <a:t>      console.warn(</a:t>
            </a:r>
            <a:r>
              <a:rPr>
                <a:solidFill>
                  <a:srgbClr val="B44520"/>
                </a:solidFill>
              </a:rPr>
              <a:t>'Sauvegarde locale impossible'</a:t>
            </a:r>
            <a:r>
              <a:t>);</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558B2F"/>
                </a:solidFill>
              </a:rPr>
              <a:t>// Dans un composant :</a:t>
            </a:r>
          </a:p>
          <a:p>
            <a:pPr>
              <a:spcAft>
                <a:spcPts val="0"/>
              </a:spcAft>
              <a:defRPr sz="1350" b="0">
                <a:solidFill>
                  <a:srgbClr val="000000"/>
                </a:solidFill>
                <a:latin typeface="Consolas"/>
                <a:ea typeface="Consolas"/>
                <a:cs typeface="Consolas"/>
              </a:defRPr>
            </a:pPr>
            <a:r>
              <a:rPr>
                <a:solidFill>
                  <a:srgbClr val="8D36A8"/>
                </a:solidFill>
              </a:rPr>
              <a:t>readonly</a:t>
            </a:r>
            <a:r>
              <a:t> store = </a:t>
            </a:r>
            <a:r>
              <a:rPr>
                <a:solidFill>
                  <a:srgbClr val="008977"/>
                </a:solidFill>
              </a:rPr>
              <a:t>inject</a:t>
            </a:r>
            <a:r>
              <a:t>(</a:t>
            </a:r>
            <a:r>
              <a:rPr>
                <a:solidFill>
                  <a:srgbClr val="008977"/>
                </a:solidFill>
              </a:rPr>
              <a:t>TaskStore</a:t>
            </a:r>
            <a:r>
              <a:t>);</a:t>
            </a:r>
          </a:p>
          <a:p>
            <a:pPr>
              <a:spcAft>
                <a:spcPts val="0"/>
              </a:spcAft>
              <a:defRPr sz="1350" b="0">
                <a:solidFill>
                  <a:srgbClr val="000000"/>
                </a:solidFill>
                <a:latin typeface="Consolas"/>
                <a:ea typeface="Consolas"/>
                <a:cs typeface="Consolas"/>
              </a:defRPr>
            </a:pPr>
            <a:r>
              <a:rPr>
                <a:solidFill>
                  <a:srgbClr val="558B2F"/>
                </a:solidFill>
              </a:rPr>
              <a:t>// Template : {{ store.tasks().length }} tâches</a:t>
            </a:r>
          </a:p>
        </p:txBody>
      </p:sp>
      <p:sp>
        <p:nvSpPr>
          <p:cNvPr id="103" name="takeaways-heading">
            <a:extLst>
              <a:ext uri="{FF2B5EF4-FFF2-40B4-BE49-F238E27FC236}">
                <a16:creationId xmlns:a16="http://schemas.microsoft.com/office/drawing/2014/main" id="{5639ABFB-C896-40E4-8ADB-1951B8C81B16}"/>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E97432F7-FD39-4D63-953B-61B37DC0DF87}"/>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L’effet suit state et écrit dans une API externe.</a:t>
            </a:r>
          </a:p>
          <a:p>
            <a:pPr marL="152400" indent="-114300">
              <a:spcAft>
                <a:spcPts val="500"/>
              </a:spcAft>
              <a:buChar char="•"/>
              <a:defRPr sz="1500" b="0">
                <a:solidFill>
                  <a:srgbClr val="000000"/>
                </a:solidFill>
                <a:latin typeface="Calibri"/>
                <a:ea typeface="Calibri"/>
                <a:cs typeface="Calibri"/>
              </a:defRPr>
            </a:pPr>
            <a:r>
              <a:t>Chaque action du store déclenche la synchronisation.</a:t>
            </a:r>
          </a:p>
          <a:p>
            <a:pPr marL="152400" indent="-114300">
              <a:spcAft>
                <a:spcPts val="500"/>
              </a:spcAft>
              <a:buChar char="•"/>
              <a:defRPr sz="1500" b="0">
                <a:solidFill>
                  <a:srgbClr val="000000"/>
                </a:solidFill>
                <a:latin typeface="Calibri"/>
                <a:ea typeface="Calibri"/>
                <a:cs typeface="Calibri"/>
              </a:defRPr>
            </a:pPr>
            <a:r>
              <a:t>Une écriture peut échouer : prévoir un retour utilisateur.</a:t>
            </a:r>
          </a:p>
          <a:p>
            <a:pPr marL="152400" indent="-114300">
              <a:spcAft>
                <a:spcPts val="500"/>
              </a:spcAft>
              <a:buChar char="•"/>
              <a:defRPr sz="1500" b="0">
                <a:solidFill>
                  <a:srgbClr val="000000"/>
                </a:solidFill>
                <a:latin typeface="Calibri"/>
                <a:ea typeface="Calibri"/>
                <a:cs typeface="Calibri"/>
              </a:defRPr>
            </a:pPr>
            <a:r>
              <a:t>Le service partagé remplace les copies locales de la liste.</a:t>
            </a:r>
          </a:p>
        </p:txBody>
      </p:sp>
    </p:spTree>
    <p:extLst>
      <p:ext uri="{BB962C8B-B14F-4D97-AF65-F5344CB8AC3E}">
        <p14:creationId xmlns:p14="http://schemas.microsoft.com/office/powerpoint/2010/main" val="304255463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76C1F2E-0187-D43C-F1A2-EBA1788651E1}"/>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7261888E-ED11-F505-9128-DE78B97352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7FBEE5EA-A9A4-FD09-ED08-64A3BF2F23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A3DB5E29-E22A-AF59-B771-2982890C15A0}"/>
              </a:ext>
            </a:extLst>
          </p:cNvPr>
          <p:cNvSpPr>
            <a:spLocks noGrp="1"/>
          </p:cNvSpPr>
          <p:nvPr>
            <p:ph type="title"/>
          </p:nvPr>
        </p:nvSpPr>
        <p:spPr>
          <a:xfrm>
            <a:off x="841246" y="673770"/>
            <a:ext cx="3644489" cy="2414488"/>
          </a:xfrm>
        </p:spPr>
        <p:txBody>
          <a:bodyPr anchor="t">
            <a:normAutofit/>
          </a:bodyPr>
          <a:lstStyle/>
          <a:p>
            <a:r>
              <a:rPr lang="fr-FR" sz="5400" dirty="0">
                <a:solidFill>
                  <a:srgbClr val="FFFFFF"/>
                </a:solidFill>
              </a:rPr>
              <a:t>Persistance des Données</a:t>
            </a:r>
            <a:endParaRPr lang="fr-FR" sz="5400" noProof="0" dirty="0">
              <a:solidFill>
                <a:srgbClr val="FFFFFF"/>
              </a:solidFill>
            </a:endParaRPr>
          </a:p>
        </p:txBody>
      </p:sp>
      <p:sp>
        <p:nvSpPr>
          <p:cNvPr id="4" name="Rectangle 1">
            <a:extLst>
              <a:ext uri="{FF2B5EF4-FFF2-40B4-BE49-F238E27FC236}">
                <a16:creationId xmlns:a16="http://schemas.microsoft.com/office/drawing/2014/main" id="{1E043D1A-ECBA-01DE-120C-31EF51AB9D89}"/>
              </a:ext>
            </a:extLst>
          </p:cNvPr>
          <p:cNvSpPr>
            <a:spLocks noGrp="1" noChangeArrowheads="1"/>
          </p:cNvSpPr>
          <p:nvPr>
            <p:ph idx="1"/>
          </p:nvPr>
        </p:nvSpPr>
        <p:spPr bwMode="auto">
          <a:xfrm>
            <a:off x="6094476" y="457252"/>
            <a:ext cx="6019138" cy="57595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lgn="ctr" eaLnBrk="0" fontAlgn="base" hangingPunct="0">
              <a:lnSpc>
                <a:spcPct val="200000"/>
              </a:lnSpc>
              <a:spcBef>
                <a:spcPct val="0"/>
              </a:spcBef>
              <a:spcAft>
                <a:spcPct val="0"/>
              </a:spcAft>
              <a:buNone/>
            </a:pPr>
            <a:r>
              <a:rPr lang="fr-FR" altLang="fr-FR" sz="2400" dirty="0">
                <a:latin typeface="Arial" panose="020B0604020202020204" pitchFamily="34" charset="0"/>
              </a:rPr>
              <a:t>Persistance des données</a:t>
            </a:r>
          </a:p>
          <a:p>
            <a:pPr marL="0" indent="0" eaLnBrk="0" fontAlgn="base" hangingPunct="0">
              <a:lnSpc>
                <a:spcPct val="200000"/>
              </a:lnSpc>
              <a:spcBef>
                <a:spcPct val="0"/>
              </a:spcBef>
              <a:spcAft>
                <a:spcPct val="0"/>
              </a:spcAft>
              <a:buNone/>
            </a:pPr>
            <a:r>
              <a:rPr lang="fr-FR" sz="1800" b="1" dirty="0"/>
              <a:t>Concepts communs </a:t>
            </a:r>
            <a:r>
              <a:rPr lang="fr-FR" sz="1800" b="1" dirty="0" err="1"/>
              <a:t>React</a:t>
            </a:r>
            <a:r>
              <a:rPr lang="fr-FR" sz="1800" b="1" dirty="0"/>
              <a:t> / </a:t>
            </a:r>
            <a:r>
              <a:rPr lang="fr-FR" sz="1800" b="1" dirty="0" err="1"/>
              <a:t>Angular</a:t>
            </a:r>
            <a:endParaRPr lang="fr-FR" sz="1800" b="0" dirty="0">
              <a:solidFill>
                <a:srgbClr val="CCCCCC"/>
              </a:solidFill>
              <a:effectLst/>
              <a:latin typeface="Consolas" panose="020B0609020204030204" pitchFamily="49" charset="0"/>
            </a:endParaRPr>
          </a:p>
          <a:p>
            <a:r>
              <a:rPr lang="fr-FR" sz="1400" dirty="0"/>
              <a:t>Utilisation de l’API </a:t>
            </a:r>
            <a:r>
              <a:rPr lang="fr-FR" sz="1400" b="1" dirty="0" err="1"/>
              <a:t>localStorage</a:t>
            </a:r>
            <a:r>
              <a:rPr lang="fr-FR" sz="1400" dirty="0"/>
              <a:t> du navigateur.</a:t>
            </a:r>
          </a:p>
          <a:p>
            <a:r>
              <a:rPr lang="fr-FR" sz="1400" b="0" dirty="0"/>
              <a:t>Écriture après chaque changement (ajout, modification ou suppression).</a:t>
            </a:r>
          </a:p>
          <a:p>
            <a:r>
              <a:rPr lang="fr-FR" sz="1400" dirty="0"/>
              <a:t>Lecture des données lors de l’initialisation de l’application.</a:t>
            </a:r>
          </a:p>
          <a:p>
            <a:r>
              <a:rPr lang="fr-FR" sz="1400" b="0" dirty="0"/>
              <a:t>JSON.stringify() / JSON.parse() pour objets et tableaux ; pas pour les chaînes simples.</a:t>
            </a:r>
          </a:p>
          <a:p>
            <a:pPr marL="0" indent="0">
              <a:buNone/>
            </a:pPr>
            <a:endParaRPr kumimoji="0" lang="fr-FR" altLang="fr-FR" sz="1400" i="0" u="none" strike="noStrike" cap="none" normalizeH="0" baseline="0" dirty="0">
              <a:ln>
                <a:noFill/>
              </a:ln>
              <a:solidFill>
                <a:schemeClr val="tx1"/>
              </a:solidFill>
              <a:effectLst/>
              <a:latin typeface="Arial" panose="020B0604020202020204" pitchFamily="34" charset="0"/>
            </a:endParaRPr>
          </a:p>
          <a:p>
            <a:pPr marL="0" indent="0">
              <a:buNone/>
            </a:pPr>
            <a:r>
              <a:rPr lang="fr-FR" sz="1800" b="1" dirty="0"/>
              <a:t>Différences clés</a:t>
            </a:r>
          </a:p>
          <a:p>
            <a:r>
              <a:rPr lang="fr-FR" sz="1400" b="1" dirty="0" err="1"/>
              <a:t>React</a:t>
            </a:r>
            <a:endParaRPr lang="fr-FR" sz="1400" b="1" dirty="0"/>
          </a:p>
          <a:p>
            <a:pPr lvl="1"/>
            <a:r>
              <a:rPr lang="fr-FR" sz="1400" b="0" dirty="0"/>
              <a:t>useEffect synchronise le stockage après changement de l’état.</a:t>
            </a:r>
          </a:p>
          <a:p>
            <a:pPr lvl="1"/>
            <a:r>
              <a:rPr lang="fr-FR" sz="1400" b="0" dirty="0"/>
              <a:t>Un hook personnalisé peut regrouper la logique ; Context partage l’état, pas le stockage.</a:t>
            </a:r>
          </a:p>
          <a:p>
            <a:pPr lvl="1"/>
            <a:r>
              <a:rPr lang="fr-FR" sz="1400" b="0" dirty="0"/>
              <a:t>Organisation flexible selon les besoins du projet.</a:t>
            </a:r>
          </a:p>
          <a:p>
            <a:r>
              <a:rPr lang="fr-FR" sz="1400" b="1" dirty="0" err="1"/>
              <a:t>Angular</a:t>
            </a:r>
            <a:endParaRPr lang="fr-FR" sz="1400" b="1" dirty="0"/>
          </a:p>
          <a:p>
            <a:pPr lvl="1"/>
            <a:r>
              <a:rPr lang="fr-FR" sz="1400" b="0" dirty="0"/>
              <a:t>Un service injectable peut centraliser l’accès au stockage.</a:t>
            </a:r>
          </a:p>
          <a:p>
            <a:pPr lvl="1"/>
            <a:r>
              <a:rPr lang="fr-FR" sz="1400" b="0" dirty="0"/>
              <a:t>Le composant peut déléguer l’accès au stockage au service.</a:t>
            </a:r>
          </a:p>
          <a:p>
            <a:pPr lvl="1"/>
            <a:r>
              <a:rPr lang="fr-FR" sz="1400" b="0" dirty="0"/>
              <a:t>Le service est un choix d’architecture, non une obligation d’Angular.</a:t>
            </a:r>
          </a:p>
        </p:txBody>
      </p:sp>
      <p:sp>
        <p:nvSpPr>
          <p:cNvPr id="3" name="Espace réservé du numéro de diapositive 2">
            <a:extLst>
              <a:ext uri="{FF2B5EF4-FFF2-40B4-BE49-F238E27FC236}">
                <a16:creationId xmlns:a16="http://schemas.microsoft.com/office/drawing/2014/main" id="{8F982492-BEB0-44EF-F211-F1C6CEEDEAF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47</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34150226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BCDFA22-C042-80AC-C1AD-C6F21727FDB2}"/>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83AE58A6-5915-C96A-0605-D27E8807D5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DF0FAD67-7459-402C-DF57-B3D05F58AFA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1A299590-A411-90E2-BC1B-001BA0ADF19B}"/>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91544449-BA6F-C024-D0BB-7D5FC83FDBD8}"/>
              </a:ext>
            </a:extLst>
          </p:cNvPr>
          <p:cNvSpPr>
            <a:spLocks noGrp="1" noChangeArrowheads="1"/>
          </p:cNvSpPr>
          <p:nvPr>
            <p:ph idx="1"/>
          </p:nvPr>
        </p:nvSpPr>
        <p:spPr bwMode="auto">
          <a:xfrm>
            <a:off x="5969786" y="673770"/>
            <a:ext cx="6019138" cy="6172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2400" b="1" dirty="0"/>
              <a:t>Objectif pédagogique</a:t>
            </a:r>
          </a:p>
          <a:p>
            <a:pPr>
              <a:lnSpc>
                <a:spcPct val="100000"/>
              </a:lnSpc>
            </a:pPr>
            <a:r>
              <a:rPr lang="fr-FR" sz="1600" dirty="0"/>
              <a:t>Mettre en pratique : composants, événements, liaisons de données, état, formulaires et validation, persistance locale, accessibilité et performance.</a:t>
            </a:r>
          </a:p>
          <a:p>
            <a:pPr>
              <a:lnSpc>
                <a:spcPct val="100000"/>
              </a:lnSpc>
            </a:pPr>
            <a:r>
              <a:rPr lang="fr-FR" sz="1600" dirty="0"/>
              <a:t>Produire la même application en </a:t>
            </a:r>
            <a:r>
              <a:rPr lang="fr-FR" sz="1600" b="1" dirty="0" err="1"/>
              <a:t>React</a:t>
            </a:r>
            <a:r>
              <a:rPr lang="fr-FR" sz="1600" dirty="0"/>
              <a:t> et en </a:t>
            </a:r>
            <a:r>
              <a:rPr lang="fr-FR" sz="1600" b="1" dirty="0" err="1"/>
              <a:t>Angular</a:t>
            </a:r>
            <a:r>
              <a:rPr lang="fr-FR" sz="1600" dirty="0"/>
              <a:t>.</a:t>
            </a:r>
          </a:p>
          <a:p>
            <a:pPr>
              <a:lnSpc>
                <a:spcPct val="100000"/>
              </a:lnSpc>
            </a:pPr>
            <a:endParaRPr lang="fr-FR" sz="1800" dirty="0"/>
          </a:p>
          <a:p>
            <a:pPr marL="0" indent="0">
              <a:buNone/>
            </a:pPr>
            <a:r>
              <a:rPr lang="fr-FR" sz="2400" b="1" dirty="0"/>
              <a:t>Règles métier &amp; Validation</a:t>
            </a:r>
          </a:p>
          <a:p>
            <a:r>
              <a:rPr lang="fr-FR" sz="1600" b="1" dirty="0"/>
              <a:t>Titre</a:t>
            </a:r>
            <a:r>
              <a:rPr lang="fr-FR" sz="1600" dirty="0"/>
              <a:t> : obligatoire (min 3 caractères).</a:t>
            </a:r>
          </a:p>
          <a:p>
            <a:r>
              <a:rPr lang="fr-FR" sz="1600" b="1" dirty="0"/>
              <a:t>Échéance</a:t>
            </a:r>
            <a:r>
              <a:rPr lang="fr-FR" sz="1600" dirty="0"/>
              <a:t> : optionnelle, mais si renseignée, doit être une date valide ≥ aujourd’hui.</a:t>
            </a:r>
          </a:p>
          <a:p>
            <a:r>
              <a:rPr lang="fr-FR" sz="1600" b="1" dirty="0"/>
              <a:t>Unicité du titre</a:t>
            </a:r>
            <a:r>
              <a:rPr lang="fr-FR" sz="1600" dirty="0"/>
              <a:t> : non exigée (mais bonus si gérée).</a:t>
            </a:r>
          </a:p>
          <a:p>
            <a:r>
              <a:rPr lang="fr-FR" sz="1600" b="1" dirty="0"/>
              <a:t>Erreurs de formulaire</a:t>
            </a:r>
            <a:r>
              <a:rPr lang="fr-FR" sz="1600" dirty="0"/>
              <a:t> : messages clairs, champs en erreur visibles.</a:t>
            </a:r>
          </a:p>
          <a:p>
            <a:r>
              <a:rPr lang="fr-FR" sz="1600" b="1" dirty="0">
                <a:highlight>
                  <a:srgbClr val="FFFF00"/>
                </a:highlight>
              </a:rPr>
              <a:t>Styles :</a:t>
            </a:r>
            <a:r>
              <a:rPr lang="fr-FR" sz="1600" b="0" dirty="0">
                <a:highlight>
                  <a:srgbClr val="FFFF00"/>
                </a:highlight>
              </a:rPr>
              <a:t> CSS simples requis ; bibliothèque de composants en bonus (réutilisable dans les prochains TP).</a:t>
            </a:r>
          </a:p>
          <a:p>
            <a:pPr lvl="1"/>
            <a:r>
              <a:rPr lang="fr-FR" sz="1400" dirty="0">
                <a:highlight>
                  <a:srgbClr val="FFFF00"/>
                </a:highlight>
              </a:rPr>
              <a:t>React Aria : accessibilité ; styles à prévoir. </a:t>
            </a:r>
            <a:r>
              <a:rPr lang="fr-FR" sz="1400" dirty="0">
                <a:highlight>
                  <a:srgbClr val="FFFF00"/>
                </a:highlight>
                <a:hlinkClick r:id="rId2"/>
              </a:rPr>
              <a:t>https://react-spectrum.adobe.com/react-aria/index.html</a:t>
            </a:r>
            <a:endParaRPr lang="fr-FR" sz="1400" dirty="0">
              <a:highlight>
                <a:srgbClr val="FFFF00"/>
              </a:highlight>
            </a:endParaRPr>
          </a:p>
          <a:p>
            <a:pPr lvl="1"/>
            <a:r>
              <a:rPr lang="fr-FR" sz="1400" dirty="0" err="1">
                <a:highlight>
                  <a:srgbClr val="FFFF00"/>
                </a:highlight>
              </a:rPr>
              <a:t>Angular Material : </a:t>
            </a:r>
            <a:r>
              <a:rPr lang="fr-FR" sz="1400" dirty="0">
                <a:highlight>
                  <a:srgbClr val="FFFF00"/>
                </a:highlight>
                <a:hlinkClick r:id="rId3"/>
              </a:rPr>
              <a:t>https://material.angular.dev/</a:t>
            </a:r>
            <a:endParaRPr lang="fr-FR" sz="1400" dirty="0">
              <a:highlight>
                <a:srgbClr val="FFFF00"/>
              </a:highlight>
            </a:endParaRPr>
          </a:p>
          <a:p>
            <a:pPr marL="457200" lvl="1" indent="0">
              <a:buNone/>
            </a:pPr>
            <a:endParaRPr lang="fr-FR" sz="1400" dirty="0"/>
          </a:p>
          <a:p>
            <a:pPr lvl="1"/>
            <a:endParaRPr lang="fr-FR" sz="1400" dirty="0"/>
          </a:p>
          <a:p>
            <a:pPr>
              <a:lnSpc>
                <a:spcPct val="100000"/>
              </a:lnSpc>
            </a:pPr>
            <a:endParaRPr lang="fr-FR" sz="1800" dirty="0"/>
          </a:p>
        </p:txBody>
      </p:sp>
      <p:sp>
        <p:nvSpPr>
          <p:cNvPr id="3" name="Espace réservé du numéro de diapositive 2">
            <a:extLst>
              <a:ext uri="{FF2B5EF4-FFF2-40B4-BE49-F238E27FC236}">
                <a16:creationId xmlns:a16="http://schemas.microsoft.com/office/drawing/2014/main" id="{35B4AA74-1649-ED33-166C-0AB4DA4BCC8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48</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8581555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763C4C3-213E-941B-D269-17D644CBB401}"/>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22477FA-DF7C-BBD4-991F-DD64C83B945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B4BC7B98-E462-4A4E-2954-CF015154DA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B95CA3CA-61FB-8AFF-C0CB-6DFABC5A7BC9}"/>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06CCB372-DAE1-FC8C-8C84-90C198709204}"/>
              </a:ext>
            </a:extLst>
          </p:cNvPr>
          <p:cNvSpPr>
            <a:spLocks noGrp="1" noChangeArrowheads="1"/>
          </p:cNvSpPr>
          <p:nvPr>
            <p:ph idx="1"/>
          </p:nvPr>
        </p:nvSpPr>
        <p:spPr bwMode="auto">
          <a:xfrm>
            <a:off x="6011350" y="700423"/>
            <a:ext cx="6019138" cy="5343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1600" b="1" dirty="0"/>
              <a:t>Description fonctionnelle (user stories &amp; critères d’acceptation)</a:t>
            </a:r>
          </a:p>
          <a:p>
            <a:r>
              <a:rPr lang="fr-FR" sz="1400" b="1" dirty="0"/>
              <a:t>Créer une tâche</a:t>
            </a:r>
            <a:endParaRPr lang="fr-FR" sz="1400" dirty="0"/>
          </a:p>
          <a:p>
            <a:r>
              <a:rPr lang="fr-FR" sz="1400" dirty="0"/>
              <a:t>En tant qu’utilisateur, je peux saisir un titre (obligatoire) et optionnellement une description + date d’échéance.</a:t>
            </a:r>
          </a:p>
          <a:p>
            <a:r>
              <a:rPr lang="fr-FR" sz="1400" b="1" dirty="0"/>
              <a:t>Acceptation</a:t>
            </a:r>
            <a:r>
              <a:rPr lang="fr-FR" sz="1400" dirty="0"/>
              <a:t> : bouton « Ajouter » activé si le titre comporte au moins 3 caractères hors espaces ; formulaire réinitialisé après ajout.</a:t>
            </a:r>
          </a:p>
          <a:p>
            <a:r>
              <a:rPr lang="fr-FR" sz="1400" b="1" dirty="0"/>
              <a:t>Lister les tâches</a:t>
            </a:r>
            <a:endParaRPr lang="fr-FR" sz="1400" dirty="0"/>
          </a:p>
          <a:p>
            <a:r>
              <a:rPr lang="fr-FR" sz="1400" dirty="0"/>
              <a:t>Je vois la liste de mes tâches avec : titre, statut (à faire / fait), échéance (si présente).</a:t>
            </a:r>
          </a:p>
          <a:p>
            <a:r>
              <a:rPr lang="fr-FR" sz="1400" b="1" dirty="0"/>
              <a:t>Acceptation</a:t>
            </a:r>
            <a:r>
              <a:rPr lang="fr-FR" sz="1400" dirty="0"/>
              <a:t> : la liste se met à jour en temps réel après chaque ajout/édition/suppression.</a:t>
            </a:r>
          </a:p>
          <a:p>
            <a:r>
              <a:rPr lang="fr-FR" sz="1400" b="1" dirty="0"/>
              <a:t>Marquer comme faite / à faire</a:t>
            </a:r>
            <a:endParaRPr lang="fr-FR" sz="1400" dirty="0"/>
          </a:p>
          <a:p>
            <a:r>
              <a:rPr lang="fr-FR" sz="1400" dirty="0"/>
              <a:t>Je peux cocher/décocher une tâche.</a:t>
            </a:r>
          </a:p>
          <a:p>
            <a:r>
              <a:rPr lang="fr-FR" sz="1400" b="1" dirty="0"/>
              <a:t>Acceptation</a:t>
            </a:r>
            <a:r>
              <a:rPr lang="fr-FR" sz="1400" dirty="0"/>
              <a:t> : le statut visuel change, compteur “X à faire / Y faites” se met à jour.</a:t>
            </a:r>
          </a:p>
          <a:p>
            <a:r>
              <a:rPr lang="fr-FR" sz="1400" b="1" dirty="0">
                <a:highlight>
                  <a:srgbClr val="FFFF00"/>
                </a:highlight>
              </a:rPr>
              <a:t>Éditer une tâche</a:t>
            </a:r>
            <a:endParaRPr lang="fr-FR" sz="1400" dirty="0">
              <a:highlight>
                <a:srgbClr val="FFFF00"/>
              </a:highlight>
            </a:endParaRPr>
          </a:p>
          <a:p>
            <a:r>
              <a:rPr lang="fr-FR" sz="1400" dirty="0">
                <a:highlight>
                  <a:srgbClr val="FFFF00"/>
                </a:highlight>
              </a:rPr>
              <a:t>Je peux modifier le titre, la description, l’échéance.</a:t>
            </a:r>
          </a:p>
          <a:p>
            <a:r>
              <a:rPr lang="fr-FR" sz="1400" b="1" dirty="0">
                <a:highlight>
                  <a:srgbClr val="FFFF00"/>
                </a:highlight>
              </a:rPr>
              <a:t>Acceptation</a:t>
            </a:r>
            <a:r>
              <a:rPr lang="fr-FR" sz="1400" dirty="0">
                <a:highlight>
                  <a:srgbClr val="FFFF00"/>
                </a:highlight>
              </a:rPr>
              <a:t> : titre de 3 caractères minimum, échéance valide et non passée ; erreurs visibles.</a:t>
            </a:r>
          </a:p>
        </p:txBody>
      </p:sp>
      <p:sp>
        <p:nvSpPr>
          <p:cNvPr id="3" name="Espace réservé du numéro de diapositive 2">
            <a:extLst>
              <a:ext uri="{FF2B5EF4-FFF2-40B4-BE49-F238E27FC236}">
                <a16:creationId xmlns:a16="http://schemas.microsoft.com/office/drawing/2014/main" id="{8F48D0C7-1DAD-C6E6-06F6-F287812C048D}"/>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5517599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99E21B1-68C8-FF0A-60A1-1C11C275D4D8}"/>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E9D7EE12-F5FF-B9F0-1EF8-AC549DCD00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40FBB6D9-D59E-B0F8-5209-4310F5A4AA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6D0C6168-B560-D26A-1A57-880D90CF733E}"/>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E0D8C83C-CC37-02AC-F73C-73939DF12BEA}"/>
              </a:ext>
            </a:extLst>
          </p:cNvPr>
          <p:cNvSpPr>
            <a:spLocks noGrp="1" noChangeArrowheads="1"/>
          </p:cNvSpPr>
          <p:nvPr>
            <p:ph idx="1"/>
          </p:nvPr>
        </p:nvSpPr>
        <p:spPr bwMode="auto">
          <a:xfrm>
            <a:off x="6019661" y="533042"/>
            <a:ext cx="6019138" cy="488954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1600" b="1" dirty="0"/>
              <a:t>Description fonctionnelle (user stories &amp; critères d’acceptation)</a:t>
            </a:r>
          </a:p>
          <a:p>
            <a:r>
              <a:rPr lang="fr-FR" sz="1400" b="1" dirty="0"/>
              <a:t>Supprimer une tâche</a:t>
            </a:r>
            <a:endParaRPr lang="fr-FR" sz="1400" dirty="0"/>
          </a:p>
          <a:p>
            <a:r>
              <a:rPr lang="fr-FR" sz="1400" dirty="0"/>
              <a:t>Je peux supprimer une tâche (avec confirmation).</a:t>
            </a:r>
          </a:p>
          <a:p>
            <a:r>
              <a:rPr lang="fr-FR" sz="1400" b="1" dirty="0"/>
              <a:t>Acceptation</a:t>
            </a:r>
            <a:r>
              <a:rPr lang="fr-FR" sz="1400" dirty="0"/>
              <a:t> : la tâche disparaît ; la persistance est mise à jour.</a:t>
            </a:r>
          </a:p>
          <a:p>
            <a:r>
              <a:rPr lang="fr-FR" sz="1400" b="1" dirty="0">
                <a:highlight>
                  <a:srgbClr val="FFFF00"/>
                </a:highlight>
              </a:rPr>
              <a:t>Filtrer / Rechercher / Trier</a:t>
            </a:r>
            <a:endParaRPr lang="fr-FR" sz="1400" dirty="0">
              <a:highlight>
                <a:srgbClr val="FFFF00"/>
              </a:highlight>
            </a:endParaRPr>
          </a:p>
          <a:p>
            <a:r>
              <a:rPr lang="fr-FR" sz="1400" dirty="0">
                <a:highlight>
                  <a:srgbClr val="FFFF00"/>
                </a:highlight>
              </a:rPr>
              <a:t>Filtrer par statut (toutes / à faire / faites), rechercher par texte, trier par date d’échéance puis titre.</a:t>
            </a:r>
          </a:p>
          <a:p>
            <a:r>
              <a:rPr lang="fr-FR" sz="1400" b="1" dirty="0">
                <a:highlight>
                  <a:srgbClr val="FFFF00"/>
                </a:highlight>
              </a:rPr>
              <a:t>Acceptation</a:t>
            </a:r>
            <a:r>
              <a:rPr lang="fr-FR" sz="1400" dirty="0">
                <a:highlight>
                  <a:srgbClr val="FFFF00"/>
                </a:highlight>
              </a:rPr>
              <a:t> : les contrôles de filtre/tri impactent immédiatement l’affichage.</a:t>
            </a:r>
            <a:endParaRPr lang="fr-FR" sz="1400" b="1" dirty="0">
              <a:highlight>
                <a:srgbClr val="FFFF00"/>
              </a:highlight>
            </a:endParaRPr>
          </a:p>
          <a:p>
            <a:r>
              <a:rPr lang="fr-FR" sz="1400" b="1" dirty="0"/>
              <a:t>Persistance locale</a:t>
            </a:r>
            <a:endParaRPr lang="fr-FR" sz="1400" dirty="0"/>
          </a:p>
          <a:p>
            <a:r>
              <a:rPr lang="fr-FR" sz="1400" dirty="0"/>
              <a:t>Mes tâches sont conservées entre les rechargements.</a:t>
            </a:r>
          </a:p>
          <a:p>
            <a:r>
              <a:rPr lang="fr-FR" sz="1400" b="1" dirty="0"/>
              <a:t>Acceptation</a:t>
            </a:r>
            <a:r>
              <a:rPr lang="fr-FR" sz="1400" dirty="0"/>
              <a:t> : stockage en </a:t>
            </a:r>
            <a:r>
              <a:rPr lang="fr-FR" sz="1400" b="1" dirty="0" err="1"/>
              <a:t>localStorage</a:t>
            </a:r>
            <a:endParaRPr lang="fr-FR" sz="1400" dirty="0"/>
          </a:p>
          <a:p>
            <a:r>
              <a:rPr lang="fr-FR" sz="1400" b="1" dirty="0" err="1">
                <a:highlight>
                  <a:srgbClr val="FFFF00"/>
                </a:highlight>
              </a:rPr>
              <a:t>Routing</a:t>
            </a:r>
            <a:r>
              <a:rPr lang="fr-FR" sz="1400" b="1" dirty="0">
                <a:highlight>
                  <a:srgbClr val="FFFF00"/>
                </a:highlight>
              </a:rPr>
              <a:t> minimal</a:t>
            </a:r>
            <a:endParaRPr lang="fr-FR" sz="1400" dirty="0">
              <a:highlight>
                <a:srgbClr val="FFFF00"/>
              </a:highlight>
            </a:endParaRPr>
          </a:p>
          <a:p>
            <a:r>
              <a:rPr lang="fr-FR" sz="1400" dirty="0">
                <a:highlight>
                  <a:srgbClr val="FFFF00"/>
                </a:highlight>
              </a:rPr>
              <a:t>Deux vues : / (liste) et /stats (total, faites, à faire et % de tâches terminées ; 0 % si liste vide).</a:t>
            </a:r>
          </a:p>
          <a:p>
            <a:r>
              <a:rPr lang="fr-FR" sz="1400" b="1" dirty="0">
                <a:highlight>
                  <a:srgbClr val="FFFF00"/>
                </a:highlight>
              </a:rPr>
              <a:t>Acceptation</a:t>
            </a:r>
            <a:r>
              <a:rPr lang="fr-FR" sz="1400" dirty="0">
                <a:highlight>
                  <a:srgbClr val="FFFF00"/>
                </a:highlight>
              </a:rPr>
              <a:t> : navigation fonctionne sans rechargement de page.</a:t>
            </a:r>
          </a:p>
          <a:p>
            <a:endParaRPr lang="fr-FR" sz="1400" dirty="0"/>
          </a:p>
        </p:txBody>
      </p:sp>
      <p:sp>
        <p:nvSpPr>
          <p:cNvPr id="3" name="Espace réservé du numéro de diapositive 2">
            <a:extLst>
              <a:ext uri="{FF2B5EF4-FFF2-40B4-BE49-F238E27FC236}">
                <a16:creationId xmlns:a16="http://schemas.microsoft.com/office/drawing/2014/main" id="{B0C07DA9-D31B-A9D5-AC54-6291C40EDC07}"/>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50</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866240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5D13B7A-AF12-EDBB-6640-3C249C5C4221}"/>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319D8232-7CD3-1875-3D06-EEA2345A43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D4CF3C1D-B2AF-D60C-BCE7-701629DE00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C607EFA5-665B-C9E7-1134-C3AAF580D6B7}"/>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A7525811-9FAB-4140-FABE-2C912A4FF7F1}"/>
              </a:ext>
            </a:extLst>
          </p:cNvPr>
          <p:cNvSpPr>
            <a:spLocks noGrp="1" noChangeArrowheads="1"/>
          </p:cNvSpPr>
          <p:nvPr>
            <p:ph idx="1"/>
          </p:nvPr>
        </p:nvSpPr>
        <p:spPr bwMode="auto">
          <a:xfrm>
            <a:off x="5994723" y="384935"/>
            <a:ext cx="6019138" cy="589289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2000" b="1" dirty="0"/>
              <a:t>Modèle de données (suggestion)</a:t>
            </a:r>
          </a:p>
          <a:p>
            <a:pPr>
              <a:lnSpc>
                <a:spcPts val="1425"/>
              </a:lnSpc>
              <a:buNone/>
            </a:pPr>
            <a:r>
              <a:rPr lang="fr-FR" sz="1400" b="1" dirty="0" err="1">
                <a:solidFill>
                  <a:srgbClr val="005A9C"/>
                </a:solidFill>
                <a:effectLst/>
                <a:latin typeface="Consolas" panose="020B0609020204030204" pitchFamily="49" charset="0"/>
              </a:rPr>
              <a:t>interface Task {</a:t>
            </a:r>
          </a:p>
          <a:p>
            <a:pPr>
              <a:lnSpc>
                <a:spcPts val="1425"/>
              </a:lnSpc>
              <a:buNone/>
            </a:pPr>
            <a:r>
              <a:rPr lang="fr-FR" sz="1400" b="1" dirty="0">
                <a:solidFill>
                  <a:srgbClr val="344054"/>
                </a:solidFill>
                <a:effectLst/>
                <a:latin typeface="Consolas" panose="020B0609020204030204" pitchFamily="49" charset="0"/>
              </a:rPr>
              <a:t>  </a:t>
            </a:r>
            <a:r>
              <a:rPr lang="fr-FR" sz="1400" b="1" dirty="0">
                <a:effectLst/>
                <a:latin typeface="Consolas" panose="020B0609020204030204" pitchFamily="49" charset="0"/>
              </a:rPr>
              <a:t>id: </a:t>
            </a:r>
            <a:r>
              <a:rPr lang="fr-FR" sz="1400" b="1" dirty="0">
                <a:solidFill>
                  <a:srgbClr val="005A9C"/>
                </a:solidFill>
                <a:effectLst/>
                <a:latin typeface="Consolas" panose="020B0609020204030204" pitchFamily="49" charset="0"/>
              </a:rPr>
              <a:t>string</a:t>
            </a:r>
            <a:r>
              <a:rPr lang="fr-FR" sz="1400" b="1" dirty="0">
                <a:solidFill>
                  <a:srgbClr val="344054"/>
                </a:solidFill>
                <a:effectLst/>
                <a:latin typeface="Consolas" panose="020B0609020204030204" pitchFamily="49" charset="0"/>
              </a:rPr>
              <a:t>;       </a:t>
            </a:r>
            <a:r>
              <a:rPr lang="fr-FR" sz="1400" b="1" dirty="0">
                <a:solidFill>
                  <a:srgbClr val="3E6B30"/>
                </a:solidFill>
                <a:effectLst/>
                <a:latin typeface="Consolas" panose="020B0609020204030204" pitchFamily="49" charset="0"/>
              </a:rPr>
              <a:t>// </a:t>
            </a:r>
            <a:r>
              <a:rPr lang="fr-FR" sz="1400" b="1" dirty="0" err="1">
                <a:solidFill>
                  <a:srgbClr val="3E6B30"/>
                </a:solidFill>
                <a:effectLst/>
                <a:latin typeface="Consolas" panose="020B0609020204030204" pitchFamily="49" charset="0"/>
              </a:rPr>
              <a:t>uuid</a:t>
            </a:r>
            <a:endParaRPr lang="fr-FR" sz="1400" b="1" dirty="0">
              <a:solidFill>
                <a:srgbClr val="344054"/>
              </a:solidFill>
              <a:effectLst/>
              <a:latin typeface="Consolas" panose="020B0609020204030204" pitchFamily="49" charset="0"/>
            </a:endParaRPr>
          </a:p>
          <a:p>
            <a:pPr>
              <a:lnSpc>
                <a:spcPts val="1425"/>
              </a:lnSpc>
              <a:buNone/>
            </a:pPr>
            <a:r>
              <a:rPr lang="fr-FR" sz="1400" b="1" dirty="0">
                <a:effectLst/>
                <a:latin typeface="Consolas" panose="020B0609020204030204" pitchFamily="49" charset="0"/>
              </a:rPr>
              <a:t>  </a:t>
            </a:r>
            <a:r>
              <a:rPr lang="fr-FR" sz="1400" b="1" dirty="0" err="1">
                <a:effectLst/>
                <a:latin typeface="Consolas" panose="020B0609020204030204" pitchFamily="49" charset="0"/>
              </a:rPr>
              <a:t>title</a:t>
            </a:r>
            <a:r>
              <a:rPr lang="fr-FR" sz="1400" b="1" dirty="0">
                <a:effectLst/>
                <a:latin typeface="Consolas" panose="020B0609020204030204" pitchFamily="49" charset="0"/>
              </a:rPr>
              <a:t>: </a:t>
            </a:r>
            <a:r>
              <a:rPr lang="fr-FR" sz="1400" b="1" dirty="0">
                <a:solidFill>
                  <a:srgbClr val="005A9C"/>
                </a:solidFill>
                <a:effectLst/>
                <a:latin typeface="Consolas" panose="020B0609020204030204" pitchFamily="49" charset="0"/>
              </a:rPr>
              <a:t>string</a:t>
            </a:r>
            <a:r>
              <a:rPr lang="fr-FR" sz="1400" b="1" dirty="0">
                <a:solidFill>
                  <a:srgbClr val="344054"/>
                </a:solidFill>
                <a:effectLst/>
                <a:latin typeface="Consolas" panose="020B0609020204030204" pitchFamily="49" charset="0"/>
              </a:rPr>
              <a:t>;    </a:t>
            </a:r>
            <a:r>
              <a:rPr lang="fr-FR" sz="1400" b="1" dirty="0">
                <a:solidFill>
                  <a:srgbClr val="3E6B30"/>
                </a:solidFill>
                <a:effectLst/>
                <a:latin typeface="Consolas" panose="020B0609020204030204" pitchFamily="49" charset="0"/>
              </a:rPr>
              <a:t>// min 3</a:t>
            </a:r>
            <a:endParaRPr lang="fr-FR" sz="1400" b="1" dirty="0">
              <a:solidFill>
                <a:srgbClr val="344054"/>
              </a:solidFill>
              <a:effectLst/>
              <a:latin typeface="Consolas" panose="020B0609020204030204" pitchFamily="49" charset="0"/>
            </a:endParaRPr>
          </a:p>
          <a:p>
            <a:pPr>
              <a:lnSpc>
                <a:spcPts val="1425"/>
              </a:lnSpc>
              <a:buNone/>
            </a:pPr>
            <a:r>
              <a:rPr lang="fr-FR" sz="1400" b="1" dirty="0">
                <a:solidFill>
                  <a:srgbClr val="344054"/>
                </a:solidFill>
                <a:effectLst/>
                <a:latin typeface="Consolas" panose="020B0609020204030204" pitchFamily="49" charset="0"/>
              </a:rPr>
              <a:t>  </a:t>
            </a:r>
            <a:r>
              <a:rPr lang="fr-FR" sz="1400" b="1" dirty="0">
                <a:solidFill>
                  <a:srgbClr val="005A9C"/>
                </a:solidFill>
                <a:effectLst/>
                <a:latin typeface="Consolas" panose="020B0609020204030204" pitchFamily="49" charset="0"/>
              </a:rPr>
              <a:t>description</a:t>
            </a:r>
            <a:r>
              <a:rPr lang="fr-FR" sz="1400" b="1" dirty="0">
                <a:effectLst/>
                <a:latin typeface="Consolas" panose="020B0609020204030204" pitchFamily="49" charset="0"/>
              </a:rPr>
              <a:t>?</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005A9C"/>
                </a:solidFill>
                <a:effectLst/>
                <a:latin typeface="Consolas" panose="020B0609020204030204" pitchFamily="49" charset="0"/>
              </a:rPr>
              <a:t>string</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  </a:t>
            </a:r>
            <a:r>
              <a:rPr lang="fr-FR" sz="1400" b="1" dirty="0" err="1">
                <a:solidFill>
                  <a:srgbClr val="005A9C"/>
                </a:solidFill>
                <a:effectLst/>
                <a:latin typeface="Consolas" panose="020B0609020204030204" pitchFamily="49" charset="0"/>
              </a:rPr>
              <a:t>dueDate</a:t>
            </a:r>
            <a:r>
              <a:rPr lang="fr-FR" sz="1400" b="1" dirty="0">
                <a:effectLst/>
                <a:latin typeface="Consolas" panose="020B0609020204030204" pitchFamily="49" charset="0"/>
              </a:rPr>
              <a:t>?</a:t>
            </a:r>
            <a:r>
              <a:rPr lang="fr-FR" sz="1400" b="1" dirty="0">
                <a:solidFill>
                  <a:srgbClr val="475467"/>
                </a:solidFill>
                <a:effectLst/>
                <a:latin typeface="Consolas" panose="020B0609020204030204" pitchFamily="49" charset="0"/>
              </a:rPr>
              <a:t>:</a:t>
            </a:r>
            <a:r>
              <a:rPr lang="fr-FR" sz="1400" b="1" dirty="0">
                <a:solidFill>
                  <a:srgbClr val="344054"/>
                </a:solidFill>
                <a:effectLst/>
                <a:latin typeface="Consolas" panose="020B0609020204030204" pitchFamily="49" charset="0"/>
              </a:rPr>
              <a:t> </a:t>
            </a:r>
            <a:r>
              <a:rPr lang="fr-FR" sz="1400" b="1" dirty="0">
                <a:solidFill>
                  <a:srgbClr val="005A9C"/>
                </a:solidFill>
                <a:effectLst/>
                <a:latin typeface="Consolas" panose="020B0609020204030204" pitchFamily="49" charset="0"/>
              </a:rPr>
              <a:t>string</a:t>
            </a:r>
            <a:r>
              <a:rPr lang="fr-FR" sz="1400" b="1" dirty="0">
                <a:solidFill>
                  <a:srgbClr val="344054"/>
                </a:solidFill>
                <a:effectLst/>
                <a:latin typeface="Consolas" panose="020B0609020204030204" pitchFamily="49" charset="0"/>
              </a:rPr>
              <a:t>; </a:t>
            </a:r>
            <a:r>
              <a:rPr lang="fr-FR" sz="1400" b="1" dirty="0">
                <a:solidFill>
                  <a:srgbClr val="3E6B30"/>
                </a:solidFill>
                <a:effectLst/>
                <a:latin typeface="Consolas" panose="020B0609020204030204" pitchFamily="49" charset="0"/>
              </a:rPr>
              <a:t>// ISO YYYY-MM-DD</a:t>
            </a:r>
            <a:endParaRPr lang="fr-FR" sz="1400" b="1" dirty="0">
              <a:solidFill>
                <a:srgbClr val="344054"/>
              </a:solidFill>
              <a:effectLst/>
              <a:latin typeface="Consolas" panose="020B0609020204030204" pitchFamily="49" charset="0"/>
            </a:endParaRPr>
          </a:p>
          <a:p>
            <a:pPr>
              <a:lnSpc>
                <a:spcPts val="1425"/>
              </a:lnSpc>
              <a:buNone/>
            </a:pPr>
            <a:r>
              <a:rPr lang="fr-FR" sz="1400" b="1" dirty="0">
                <a:effectLst/>
                <a:latin typeface="Consolas" panose="020B0609020204030204" pitchFamily="49" charset="0"/>
              </a:rPr>
              <a:t>  </a:t>
            </a:r>
            <a:r>
              <a:rPr lang="fr-FR" sz="1400" b="1" dirty="0" err="1">
                <a:effectLst/>
                <a:latin typeface="Consolas" panose="020B0609020204030204" pitchFamily="49" charset="0"/>
              </a:rPr>
              <a:t>done</a:t>
            </a:r>
            <a:r>
              <a:rPr lang="fr-FR" sz="1400" b="1" dirty="0">
                <a:effectLst/>
                <a:latin typeface="Consolas" panose="020B0609020204030204" pitchFamily="49" charset="0"/>
              </a:rPr>
              <a:t>: </a:t>
            </a:r>
            <a:r>
              <a:rPr lang="fr-FR" sz="1400" b="1" dirty="0" err="1">
                <a:solidFill>
                  <a:srgbClr val="005A9C"/>
                </a:solidFill>
                <a:effectLst/>
                <a:latin typeface="Consolas" panose="020B0609020204030204" pitchFamily="49" charset="0"/>
              </a:rPr>
              <a:t>boolean</a:t>
            </a:r>
            <a:r>
              <a:rPr lang="fr-FR" sz="1400" b="1" dirty="0">
                <a:solidFill>
                  <a:srgbClr val="344054"/>
                </a:solidFill>
                <a:effectLst/>
                <a:latin typeface="Consolas" panose="020B0609020204030204" pitchFamily="49" charset="0"/>
              </a:rPr>
              <a:t>;    </a:t>
            </a:r>
            <a:r>
              <a:rPr lang="fr-FR" sz="1400" b="1" dirty="0">
                <a:solidFill>
                  <a:srgbClr val="3E6B30"/>
                </a:solidFill>
                <a:effectLst/>
                <a:latin typeface="Consolas" panose="020B0609020204030204" pitchFamily="49" charset="0"/>
              </a:rPr>
              <a:t>// default false</a:t>
            </a:r>
            <a:endParaRPr lang="fr-FR" sz="1400" b="1" dirty="0">
              <a:solidFill>
                <a:srgbClr val="344054"/>
              </a:solidFill>
              <a:effectLst/>
              <a:latin typeface="Consolas" panose="020B0609020204030204" pitchFamily="49" charset="0"/>
            </a:endParaRPr>
          </a:p>
          <a:p>
            <a:pPr>
              <a:lnSpc>
                <a:spcPts val="1425"/>
              </a:lnSpc>
              <a:buNone/>
            </a:pPr>
            <a:r>
              <a:rPr lang="fr-FR" sz="1400" b="1" dirty="0">
                <a:effectLst/>
                <a:latin typeface="Consolas" panose="020B0609020204030204" pitchFamily="49" charset="0"/>
              </a:rPr>
              <a:t>  </a:t>
            </a:r>
            <a:r>
              <a:rPr lang="fr-FR" sz="1400" b="1" dirty="0" err="1">
                <a:effectLst/>
                <a:latin typeface="Consolas" panose="020B0609020204030204" pitchFamily="49" charset="0"/>
              </a:rPr>
              <a:t>createdAt</a:t>
            </a:r>
            <a:r>
              <a:rPr lang="fr-FR" sz="1400" b="1" dirty="0">
                <a:effectLst/>
                <a:latin typeface="Consolas" panose="020B0609020204030204" pitchFamily="49" charset="0"/>
              </a:rPr>
              <a:t>: </a:t>
            </a:r>
            <a:r>
              <a:rPr lang="fr-FR" sz="1400" b="1" dirty="0">
                <a:solidFill>
                  <a:srgbClr val="005A9C"/>
                </a:solidFill>
                <a:effectLst/>
                <a:latin typeface="Consolas" panose="020B0609020204030204" pitchFamily="49" charset="0"/>
              </a:rPr>
              <a:t>string</a:t>
            </a:r>
            <a:r>
              <a:rPr lang="fr-FR" sz="1400" b="1" dirty="0">
                <a:solidFill>
                  <a:srgbClr val="344054"/>
                </a:solidFill>
                <a:effectLst/>
                <a:latin typeface="Consolas" panose="020B0609020204030204" pitchFamily="49" charset="0"/>
              </a:rPr>
              <a:t>;</a:t>
            </a:r>
          </a:p>
          <a:p>
            <a:pPr>
              <a:lnSpc>
                <a:spcPts val="1425"/>
              </a:lnSpc>
              <a:buNone/>
            </a:pPr>
            <a:r>
              <a:rPr lang="fr-FR" sz="1400" b="1" dirty="0">
                <a:effectLst/>
                <a:latin typeface="Consolas" panose="020B0609020204030204" pitchFamily="49" charset="0"/>
              </a:rPr>
              <a:t>  </a:t>
            </a:r>
            <a:r>
              <a:rPr lang="fr-FR" sz="1400" b="1" dirty="0" err="1">
                <a:effectLst/>
                <a:latin typeface="Consolas" panose="020B0609020204030204" pitchFamily="49" charset="0"/>
              </a:rPr>
              <a:t>updatedAt</a:t>
            </a:r>
            <a:r>
              <a:rPr lang="fr-FR" sz="1400" b="1" dirty="0">
                <a:effectLst/>
                <a:latin typeface="Consolas" panose="020B0609020204030204" pitchFamily="49" charset="0"/>
              </a:rPr>
              <a:t>: </a:t>
            </a:r>
            <a:r>
              <a:rPr lang="fr-FR" sz="1400" b="1" dirty="0">
                <a:solidFill>
                  <a:srgbClr val="005A9C"/>
                </a:solidFill>
                <a:effectLst/>
                <a:latin typeface="Consolas" panose="020B0609020204030204" pitchFamily="49" charset="0"/>
              </a:rPr>
              <a:t>string</a:t>
            </a:r>
            <a:r>
              <a:rPr lang="fr-FR" sz="1400" b="1" dirty="0">
                <a:solidFill>
                  <a:srgbClr val="344054"/>
                </a:solidFill>
                <a:effectLst/>
                <a:latin typeface="Consolas" panose="020B0609020204030204" pitchFamily="49" charset="0"/>
              </a:rPr>
              <a:t>;</a:t>
            </a:r>
          </a:p>
          <a:p>
            <a:pPr>
              <a:lnSpc>
                <a:spcPts val="1425"/>
              </a:lnSpc>
              <a:buNone/>
            </a:pPr>
            <a:r>
              <a:rPr lang="fr-FR" sz="1400" b="1" dirty="0">
                <a:solidFill>
                  <a:srgbClr val="344054"/>
                </a:solidFill>
                <a:effectLst/>
                <a:latin typeface="Consolas" panose="020B0609020204030204" pitchFamily="49" charset="0"/>
              </a:rPr>
              <a:t>}</a:t>
            </a:r>
          </a:p>
          <a:p>
            <a:pPr marL="0" indent="0">
              <a:buNone/>
            </a:pPr>
            <a:r>
              <a:rPr lang="fr-FR" sz="2000" b="1" dirty="0"/>
              <a:t>Exigences techniques</a:t>
            </a:r>
          </a:p>
          <a:p>
            <a:pPr marL="0" indent="0">
              <a:buNone/>
            </a:pPr>
            <a:r>
              <a:rPr lang="fr-FR" sz="1600" b="1" dirty="0"/>
              <a:t>Commun (</a:t>
            </a:r>
            <a:r>
              <a:rPr lang="fr-FR" sz="1600" b="1" dirty="0" err="1"/>
              <a:t>React</a:t>
            </a:r>
            <a:r>
              <a:rPr lang="fr-FR" sz="1600" b="1" dirty="0"/>
              <a:t> &amp; </a:t>
            </a:r>
            <a:r>
              <a:rPr lang="fr-FR" sz="1600" b="1" dirty="0" err="1"/>
              <a:t>Angular</a:t>
            </a:r>
            <a:r>
              <a:rPr lang="fr-FR" sz="1600" b="1" dirty="0"/>
              <a:t>)</a:t>
            </a:r>
          </a:p>
          <a:p>
            <a:r>
              <a:rPr lang="fr-FR" sz="1400" b="1" dirty="0"/>
              <a:t>Accessibilité</a:t>
            </a:r>
            <a:r>
              <a:rPr lang="fr-FR" sz="1400" dirty="0"/>
              <a:t> : labels associés aux inputs</a:t>
            </a:r>
          </a:p>
          <a:p>
            <a:r>
              <a:rPr lang="fr-FR" sz="1400" b="1" dirty="0"/>
              <a:t>Performances</a:t>
            </a:r>
            <a:r>
              <a:rPr lang="fr-FR" sz="1400" dirty="0"/>
              <a:t> : éviter les re-rendus inutiles, tri/filtre efficaces, liste ≥ 200 items fluide.</a:t>
            </a:r>
          </a:p>
          <a:p>
            <a:r>
              <a:rPr lang="fr-FR" sz="1400" b="1" dirty="0"/>
              <a:t>Qualité</a:t>
            </a:r>
            <a:r>
              <a:rPr lang="fr-FR" sz="1400" dirty="0"/>
              <a:t> : structure claire, composants réutilisables, commentaires sobres.</a:t>
            </a:r>
          </a:p>
          <a:p>
            <a:r>
              <a:rPr lang="fr-FR" sz="1400" b="1" dirty="0"/>
              <a:t>Styles</a:t>
            </a:r>
            <a:r>
              <a:rPr lang="fr-FR" sz="1400" dirty="0"/>
              <a:t> : CSS ou SCSS au choix ; thème clair minimal. CSS Modules possibles côté React.</a:t>
            </a:r>
          </a:p>
          <a:p>
            <a:r>
              <a:rPr lang="fr-FR" sz="1400" b="1" dirty="0"/>
              <a:t>Git</a:t>
            </a:r>
            <a:r>
              <a:rPr lang="fr-FR" sz="1400" dirty="0"/>
              <a:t> : README (installation et scripts), commits clairs.</a:t>
            </a:r>
          </a:p>
        </p:txBody>
      </p:sp>
      <p:sp>
        <p:nvSpPr>
          <p:cNvPr id="3" name="Espace réservé du numéro de diapositive 2">
            <a:extLst>
              <a:ext uri="{FF2B5EF4-FFF2-40B4-BE49-F238E27FC236}">
                <a16:creationId xmlns:a16="http://schemas.microsoft.com/office/drawing/2014/main" id="{7B3DD688-F350-0E37-7094-7A62786DB98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51</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50751794"/>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EFAAC73-76DD-E7E6-9B29-40D567EE0ED4}"/>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68FE64A0-951D-958F-B817-F04D5592EA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567FE2E0-BBC5-3AB4-23C4-EB52BCE53E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9232571F-A26C-509C-7AB3-C2574FADDF34}"/>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81D77C72-7F6A-3AFA-70EF-7F903E4285C5}"/>
              </a:ext>
            </a:extLst>
          </p:cNvPr>
          <p:cNvSpPr>
            <a:spLocks noGrp="1" noChangeArrowheads="1"/>
          </p:cNvSpPr>
          <p:nvPr>
            <p:ph idx="1"/>
          </p:nvPr>
        </p:nvSpPr>
        <p:spPr bwMode="auto">
          <a:xfrm>
            <a:off x="5986410" y="1568351"/>
            <a:ext cx="6019138" cy="30398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2000" b="1" dirty="0"/>
              <a:t>Exigences techniques</a:t>
            </a:r>
          </a:p>
          <a:p>
            <a:pPr marL="0" indent="0">
              <a:buNone/>
            </a:pPr>
            <a:r>
              <a:rPr lang="fr-FR" sz="1600" b="1" dirty="0"/>
              <a:t>Spécifique </a:t>
            </a:r>
            <a:r>
              <a:rPr lang="fr-FR" sz="1600" b="1" dirty="0" err="1"/>
              <a:t>React</a:t>
            </a:r>
            <a:endParaRPr lang="fr-FR" sz="1600" b="1" dirty="0"/>
          </a:p>
          <a:p>
            <a:r>
              <a:rPr lang="fr-FR" sz="1400" b="1" dirty="0"/>
              <a:t>Modèle de composants </a:t>
            </a:r>
            <a:r>
              <a:rPr lang="fr-FR" sz="1400" dirty="0"/>
              <a:t>: composants </a:t>
            </a:r>
            <a:r>
              <a:rPr lang="fr-FR" sz="1400" b="1" dirty="0"/>
              <a:t>fonctionnels</a:t>
            </a:r>
            <a:r>
              <a:rPr lang="fr-FR" sz="1400" dirty="0"/>
              <a:t> (</a:t>
            </a:r>
            <a:r>
              <a:rPr lang="fr-FR" sz="1400" dirty="0" err="1"/>
              <a:t>hooks</a:t>
            </a:r>
            <a:r>
              <a:rPr lang="fr-FR" sz="1400" dirty="0"/>
              <a:t>).</a:t>
            </a:r>
          </a:p>
          <a:p>
            <a:r>
              <a:rPr lang="fr-FR" sz="1400" b="1" dirty="0"/>
              <a:t>State</a:t>
            </a:r>
            <a:r>
              <a:rPr lang="fr-FR" sz="1400" dirty="0"/>
              <a:t> : </a:t>
            </a:r>
            <a:r>
              <a:rPr lang="fr-FR" sz="1400" dirty="0" err="1"/>
              <a:t>useState</a:t>
            </a:r>
            <a:r>
              <a:rPr lang="fr-FR" sz="1400" dirty="0"/>
              <a:t> </a:t>
            </a:r>
          </a:p>
          <a:p>
            <a:r>
              <a:rPr lang="fr-FR" sz="1400" b="1" dirty="0"/>
              <a:t>Événements</a:t>
            </a:r>
            <a:r>
              <a:rPr lang="fr-FR" sz="1400" dirty="0"/>
              <a:t> : </a:t>
            </a:r>
            <a:r>
              <a:rPr lang="fr-FR" sz="1400" dirty="0" err="1"/>
              <a:t>onClick</a:t>
            </a:r>
            <a:r>
              <a:rPr lang="fr-FR" sz="1400" dirty="0"/>
              <a:t>, </a:t>
            </a:r>
            <a:r>
              <a:rPr lang="fr-FR" sz="1400" dirty="0" err="1"/>
              <a:t>onChange</a:t>
            </a:r>
            <a:r>
              <a:rPr lang="fr-FR" sz="1400" dirty="0"/>
              <a:t>, </a:t>
            </a:r>
            <a:r>
              <a:rPr lang="fr-FR" sz="1400" dirty="0" err="1"/>
              <a:t>onSubmit</a:t>
            </a:r>
            <a:r>
              <a:rPr lang="fr-FR" sz="1400" dirty="0"/>
              <a:t> (</a:t>
            </a:r>
            <a:r>
              <a:rPr lang="fr-FR" sz="1400" dirty="0" err="1"/>
              <a:t>preventDefault</a:t>
            </a:r>
            <a:r>
              <a:rPr lang="fr-FR" sz="1400" dirty="0"/>
              <a:t> pour les formulaires).</a:t>
            </a:r>
          </a:p>
          <a:p>
            <a:r>
              <a:rPr lang="fr-FR" sz="1400" b="1" dirty="0"/>
              <a:t>Binding</a:t>
            </a:r>
            <a:r>
              <a:rPr lang="fr-FR" sz="1400" dirty="0"/>
              <a:t> : one-</a:t>
            </a:r>
            <a:r>
              <a:rPr lang="fr-FR" sz="1400" dirty="0" err="1"/>
              <a:t>way</a:t>
            </a:r>
            <a:r>
              <a:rPr lang="fr-FR" sz="1400" dirty="0"/>
              <a:t> + composants contrôlés pour inputs (value + </a:t>
            </a:r>
            <a:r>
              <a:rPr lang="fr-FR" sz="1400" dirty="0" err="1"/>
              <a:t>onChange</a:t>
            </a:r>
            <a:r>
              <a:rPr lang="fr-FR" sz="1400" dirty="0"/>
              <a:t>).</a:t>
            </a:r>
          </a:p>
          <a:p>
            <a:r>
              <a:rPr lang="fr-FR" sz="1400" b="1" dirty="0" err="1">
                <a:highlight>
                  <a:srgbClr val="FFFF00"/>
                </a:highlight>
              </a:rPr>
              <a:t>Routing</a:t>
            </a:r>
            <a:r>
              <a:rPr lang="fr-FR" sz="1400" dirty="0">
                <a:highlight>
                  <a:srgbClr val="FFFF00"/>
                </a:highlight>
              </a:rPr>
              <a:t> : </a:t>
            </a:r>
            <a:r>
              <a:rPr lang="fr-FR" sz="1400" dirty="0" err="1">
                <a:highlight>
                  <a:srgbClr val="FFFF00"/>
                </a:highlight>
              </a:rPr>
              <a:t>react</a:t>
            </a:r>
            <a:r>
              <a:rPr lang="fr-FR" sz="1400" dirty="0">
                <a:highlight>
                  <a:srgbClr val="FFFF00"/>
                </a:highlight>
              </a:rPr>
              <a:t>-router (ou équivalent) pour / et /stats.</a:t>
            </a:r>
          </a:p>
          <a:p>
            <a:r>
              <a:rPr lang="fr-FR" sz="1400" b="1" dirty="0"/>
              <a:t>Persistance</a:t>
            </a:r>
            <a:r>
              <a:rPr lang="fr-FR" sz="1400" b="0" dirty="0"/>
              <a:t> : lire l’état initial au démarrage, puis sauvegarder les changements via useEffect.</a:t>
            </a:r>
          </a:p>
        </p:txBody>
      </p:sp>
      <p:sp>
        <p:nvSpPr>
          <p:cNvPr id="3" name="Espace réservé du numéro de diapositive 2">
            <a:extLst>
              <a:ext uri="{FF2B5EF4-FFF2-40B4-BE49-F238E27FC236}">
                <a16:creationId xmlns:a16="http://schemas.microsoft.com/office/drawing/2014/main" id="{25CDABCA-EE37-10F5-CE14-1B646DE78808}"/>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52</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2359749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B4518E-5038-792C-9F1B-C956B83A8EC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34BCBA0-4477-171B-4524-7B8069623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22C8101-2FDD-D72D-A9B8-4A559D423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F27DA77-067C-1F76-8281-32FFE20CE41B}"/>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1FBB816B-AB6B-5F12-EDF2-D41490E3E37D}"/>
              </a:ext>
            </a:extLst>
          </p:cNvPr>
          <p:cNvSpPr>
            <a:spLocks noGrp="1" noChangeArrowheads="1"/>
          </p:cNvSpPr>
          <p:nvPr>
            <p:ph idx="1"/>
          </p:nvPr>
        </p:nvSpPr>
        <p:spPr bwMode="auto">
          <a:xfrm>
            <a:off x="5986410" y="1640534"/>
            <a:ext cx="6019138" cy="35558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2000" b="1" dirty="0"/>
              <a:t>Exigences techniques</a:t>
            </a:r>
          </a:p>
          <a:p>
            <a:pPr marL="0" indent="0">
              <a:buNone/>
            </a:pPr>
            <a:r>
              <a:rPr lang="fr-FR" sz="1600" b="1" dirty="0"/>
              <a:t>Spécifiques </a:t>
            </a:r>
            <a:r>
              <a:rPr lang="fr-FR" sz="1600" b="1" dirty="0" err="1"/>
              <a:t>Angular</a:t>
            </a:r>
            <a:endParaRPr lang="fr-FR" sz="1600" b="1" dirty="0"/>
          </a:p>
          <a:p>
            <a:r>
              <a:rPr lang="fr-FR" sz="1400" b="1" dirty="0"/>
              <a:t>Modèle</a:t>
            </a:r>
            <a:r>
              <a:rPr lang="fr-FR" sz="1400" dirty="0"/>
              <a:t> : composant </a:t>
            </a:r>
            <a:r>
              <a:rPr lang="fr-FR" sz="1400" b="1" dirty="0"/>
              <a:t>classe + </a:t>
            </a:r>
            <a:r>
              <a:rPr lang="fr-FR" sz="1400" b="1" dirty="0" err="1"/>
              <a:t>template</a:t>
            </a:r>
            <a:r>
              <a:rPr lang="fr-FR" sz="1400" dirty="0"/>
              <a:t>, décorateur </a:t>
            </a:r>
            <a:r>
              <a:rPr lang="fr-FR" sz="1400" b="1" i="1" dirty="0"/>
              <a:t>@Component.</a:t>
            </a:r>
          </a:p>
          <a:p>
            <a:r>
              <a:rPr lang="fr-FR" sz="1400" b="1" dirty="0"/>
              <a:t>Binding</a:t>
            </a:r>
            <a:r>
              <a:rPr lang="fr-FR" sz="1400" dirty="0"/>
              <a:t> :  (</a:t>
            </a:r>
            <a:r>
              <a:rPr lang="fr-FR" sz="1400" dirty="0" err="1"/>
              <a:t>event</a:t>
            </a:r>
            <a:r>
              <a:rPr lang="fr-FR" sz="1400" dirty="0"/>
              <a:t>), [(</a:t>
            </a:r>
            <a:r>
              <a:rPr lang="fr-FR" sz="1400" dirty="0" err="1"/>
              <a:t>ngModel</a:t>
            </a:r>
            <a:r>
              <a:rPr lang="fr-FR" sz="1400" dirty="0"/>
              <a:t>)] (</a:t>
            </a:r>
            <a:r>
              <a:rPr lang="fr-FR" sz="1400" dirty="0" err="1"/>
              <a:t>FormsModule</a:t>
            </a:r>
            <a:r>
              <a:rPr lang="fr-FR" sz="1400" dirty="0"/>
              <a:t> requis) pour les formulaires.</a:t>
            </a:r>
          </a:p>
          <a:p>
            <a:r>
              <a:rPr lang="fr-FR" sz="1400" b="1" dirty="0"/>
              <a:t>Dates</a:t>
            </a:r>
            <a:r>
              <a:rPr lang="fr-FR" sz="1400" dirty="0"/>
              <a:t> : input type="date" + ngModel ; conserver YYYY-MM-DD ; comparer à la date locale du jour. </a:t>
            </a:r>
          </a:p>
          <a:p>
            <a:r>
              <a:rPr lang="fr-FR" sz="1400" b="1" dirty="0"/>
              <a:t>Service </a:t>
            </a:r>
            <a:r>
              <a:rPr lang="fr-FR" sz="1400" dirty="0"/>
              <a:t>: un </a:t>
            </a:r>
            <a:r>
              <a:rPr lang="fr-FR" sz="1400" dirty="0" err="1"/>
              <a:t>TaskService</a:t>
            </a:r>
            <a:r>
              <a:rPr lang="fr-FR" sz="1400" dirty="0"/>
              <a:t> injectable gère la liste + opérations (</a:t>
            </a:r>
            <a:r>
              <a:rPr lang="fr-FR" sz="1400" dirty="0" err="1"/>
              <a:t>add</a:t>
            </a:r>
            <a:r>
              <a:rPr lang="fr-FR" sz="1400" dirty="0"/>
              <a:t>/update/</a:t>
            </a:r>
            <a:r>
              <a:rPr lang="fr-FR" sz="1400" dirty="0" err="1"/>
              <a:t>remove</a:t>
            </a:r>
            <a:r>
              <a:rPr lang="fr-FR" sz="1400" dirty="0"/>
              <a:t>/</a:t>
            </a:r>
            <a:r>
              <a:rPr lang="fr-FR" sz="1400" dirty="0" err="1"/>
              <a:t>toggle</a:t>
            </a:r>
            <a:r>
              <a:rPr lang="fr-FR" sz="1400" dirty="0"/>
              <a:t>) et la persistance (</a:t>
            </a:r>
            <a:r>
              <a:rPr lang="fr-FR" sz="1400" dirty="0" err="1"/>
              <a:t>localStorage</a:t>
            </a:r>
            <a:r>
              <a:rPr lang="fr-FR" sz="1400" dirty="0"/>
              <a:t>).</a:t>
            </a:r>
          </a:p>
          <a:p>
            <a:r>
              <a:rPr lang="fr-FR" sz="1400" b="1" dirty="0"/>
              <a:t>Événements</a:t>
            </a:r>
            <a:r>
              <a:rPr lang="fr-FR" sz="1400" dirty="0"/>
              <a:t> : (click), (</a:t>
            </a:r>
            <a:r>
              <a:rPr lang="fr-FR" sz="1400" dirty="0" err="1"/>
              <a:t>ngSubmit</a:t>
            </a:r>
            <a:r>
              <a:rPr lang="fr-FR" sz="1400" dirty="0"/>
              <a:t>), (</a:t>
            </a:r>
            <a:r>
              <a:rPr lang="fr-FR" sz="1400" dirty="0" err="1"/>
              <a:t>keyup</a:t>
            </a:r>
            <a:r>
              <a:rPr lang="fr-FR" sz="1400" dirty="0"/>
              <a:t>) ; utilisation de $</a:t>
            </a:r>
            <a:r>
              <a:rPr lang="fr-FR" sz="1400" dirty="0" err="1"/>
              <a:t>event</a:t>
            </a:r>
            <a:r>
              <a:rPr lang="fr-FR" sz="1400" dirty="0"/>
              <a:t> si besoin.</a:t>
            </a:r>
          </a:p>
          <a:p>
            <a:r>
              <a:rPr lang="fr-FR" sz="1400" b="1" dirty="0" err="1">
                <a:highlight>
                  <a:srgbClr val="FFFF00"/>
                </a:highlight>
              </a:rPr>
              <a:t>Routing</a:t>
            </a:r>
            <a:r>
              <a:rPr lang="fr-FR" sz="1400" b="0" dirty="0">
                <a:highlight>
                  <a:srgbClr val="FFFF00"/>
                </a:highlight>
              </a:rPr>
              <a:t> : routes '' et 'stats' avec provideRouter (ou RouterModule).</a:t>
            </a:r>
          </a:p>
          <a:p>
            <a:r>
              <a:rPr lang="fr-FR" sz="1400" b="1" dirty="0"/>
              <a:t>Forms</a:t>
            </a:r>
            <a:r>
              <a:rPr lang="fr-FR" sz="1400" dirty="0"/>
              <a:t> : Template-</a:t>
            </a:r>
            <a:r>
              <a:rPr lang="fr-FR" sz="1400" dirty="0" err="1"/>
              <a:t>driven</a:t>
            </a:r>
            <a:r>
              <a:rPr lang="fr-FR" sz="1400" dirty="0"/>
              <a:t> avec </a:t>
            </a:r>
            <a:r>
              <a:rPr lang="fr-FR" sz="1400" dirty="0" err="1"/>
              <a:t>ngModel</a:t>
            </a:r>
            <a:r>
              <a:rPr lang="fr-FR" sz="1400" dirty="0"/>
              <a:t> (min demandé) ou </a:t>
            </a:r>
            <a:r>
              <a:rPr lang="fr-FR" sz="1400" dirty="0" err="1"/>
              <a:t>Reactive</a:t>
            </a:r>
            <a:r>
              <a:rPr lang="fr-FR" sz="1400" dirty="0"/>
              <a:t> Forms (bonus).</a:t>
            </a:r>
          </a:p>
        </p:txBody>
      </p:sp>
      <p:sp>
        <p:nvSpPr>
          <p:cNvPr id="3" name="Espace réservé du numéro de diapositive 2">
            <a:extLst>
              <a:ext uri="{FF2B5EF4-FFF2-40B4-BE49-F238E27FC236}">
                <a16:creationId xmlns:a16="http://schemas.microsoft.com/office/drawing/2014/main" id="{C2639C99-58DD-C5C6-2BCD-01343C2AA3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0069207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B4518E-5038-792C-9F1B-C956B83A8EC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34BCBA0-4477-171B-4524-7B8069623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22C8101-2FDD-D72D-A9B8-4A559D423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F27DA77-067C-1F76-8281-32FFE20CE41B}"/>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3" name="Espace réservé du numéro de diapositive 2">
            <a:extLst>
              <a:ext uri="{FF2B5EF4-FFF2-40B4-BE49-F238E27FC236}">
                <a16:creationId xmlns:a16="http://schemas.microsoft.com/office/drawing/2014/main" id="{C2639C99-58DD-C5C6-2BCD-01343C2AA3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F7DADFC5-AC4F-450F-A3AC-4C0494DE3087}"/>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TP Angular : filtres avec computed()</a:t>
            </a:r>
          </a:p>
        </p:txBody>
      </p:sp>
      <p:sp>
        <p:nvSpPr>
          <p:cNvPr id="101" name="example-label">
            <a:extLst>
              <a:ext uri="{FF2B5EF4-FFF2-40B4-BE49-F238E27FC236}">
                <a16:creationId xmlns:a16="http://schemas.microsoft.com/office/drawing/2014/main" id="{0275A2AB-1FF5-410D-8396-120CE33166E2}"/>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 état de filtre séparé des tâches</a:t>
            </a:r>
          </a:p>
        </p:txBody>
      </p:sp>
      <p:sp>
        <p:nvSpPr>
          <p:cNvPr id="102" name="angular-code">
            <a:extLst>
              <a:ext uri="{FF2B5EF4-FFF2-40B4-BE49-F238E27FC236}">
                <a16:creationId xmlns:a16="http://schemas.microsoft.com/office/drawing/2014/main" id="{A5D6DF74-99CD-4B78-9459-64FA4FD7D885}"/>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350" b="0">
                <a:solidFill>
                  <a:srgbClr val="000000"/>
                </a:solidFill>
                <a:latin typeface="Consolas"/>
                <a:ea typeface="Consolas"/>
                <a:cs typeface="Consolas"/>
              </a:defRPr>
            </a:defPPr>
          </a:lstStyle>
          <a:p>
            <a:pPr>
              <a:spcAft>
                <a:spcPts val="0"/>
              </a:spcAft>
              <a:defRPr sz="1350" b="0">
                <a:solidFill>
                  <a:srgbClr val="000000"/>
                </a:solidFill>
                <a:latin typeface="Consolas"/>
                <a:ea typeface="Consolas"/>
                <a:cs typeface="Consolas"/>
              </a:defRPr>
            </a:pPr>
            <a:r>
              <a:rPr>
                <a:solidFill>
                  <a:srgbClr val="558B2F"/>
                </a:solidFill>
              </a:rPr>
              <a:t>// Champs d’une classe composant</a:t>
            </a:r>
          </a:p>
          <a:p>
            <a:pPr>
              <a:spcAft>
                <a:spcPts val="0"/>
              </a:spcAft>
              <a:defRPr sz="1350" b="0">
                <a:solidFill>
                  <a:srgbClr val="000000"/>
                </a:solidFill>
                <a:latin typeface="Consolas"/>
                <a:ea typeface="Consolas"/>
                <a:cs typeface="Consolas"/>
              </a:defRPr>
            </a:pPr>
            <a:r>
              <a:rPr>
                <a:solidFill>
                  <a:srgbClr val="8D36A8"/>
                </a:solidFill>
              </a:rPr>
              <a:t>readonly</a:t>
            </a:r>
            <a:r>
              <a:t> store = </a:t>
            </a:r>
            <a:r>
              <a:rPr>
                <a:solidFill>
                  <a:srgbClr val="008977"/>
                </a:solidFill>
              </a:rPr>
              <a:t>inject</a:t>
            </a:r>
            <a:r>
              <a:t>(</a:t>
            </a:r>
            <a:r>
              <a:rPr>
                <a:solidFill>
                  <a:srgbClr val="008977"/>
                </a:solidFill>
              </a:rPr>
              <a:t>TaskStore</a:t>
            </a:r>
            <a:r>
              <a:t>);</a:t>
            </a:r>
          </a:p>
          <a:p>
            <a:pPr>
              <a:spcAft>
                <a:spcPts val="0"/>
              </a:spcAft>
              <a:defRPr sz="1350" b="0">
                <a:solidFill>
                  <a:srgbClr val="000000"/>
                </a:solidFill>
                <a:latin typeface="Consolas"/>
                <a:ea typeface="Consolas"/>
                <a:cs typeface="Consolas"/>
              </a:defRPr>
            </a:pPr>
            <a:r>
              <a:rPr>
                <a:solidFill>
                  <a:srgbClr val="8D36A8"/>
                </a:solidFill>
              </a:rPr>
              <a:t>readonly</a:t>
            </a:r>
            <a:r>
              <a:t> status = </a:t>
            </a:r>
            <a:r>
              <a:rPr>
                <a:solidFill>
                  <a:srgbClr val="008977"/>
                </a:solidFill>
              </a:rPr>
              <a:t>signal</a:t>
            </a:r>
            <a:r>
              <a:t>&lt;</a:t>
            </a:r>
            <a:r>
              <a:rPr>
                <a:solidFill>
                  <a:srgbClr val="B44520"/>
                </a:solidFill>
              </a:rPr>
              <a:t>'all'</a:t>
            </a:r>
            <a:r>
              <a:t> | </a:t>
            </a:r>
            <a:r>
              <a:rPr>
                <a:solidFill>
                  <a:srgbClr val="B44520"/>
                </a:solidFill>
              </a:rPr>
              <a:t>'todo'</a:t>
            </a:r>
            <a:r>
              <a:t> | </a:t>
            </a:r>
            <a:r>
              <a:rPr>
                <a:solidFill>
                  <a:srgbClr val="B44520"/>
                </a:solidFill>
              </a:rPr>
              <a:t>'done'</a:t>
            </a:r>
            <a:r>
              <a:t>&gt;(</a:t>
            </a:r>
            <a:r>
              <a:rPr>
                <a:solidFill>
                  <a:srgbClr val="B44520"/>
                </a:solidFill>
              </a:rPr>
              <a:t>'all'</a:t>
            </a:r>
            <a:r>
              <a:t>);</a:t>
            </a:r>
          </a:p>
          <a:p>
            <a:pPr>
              <a:spcAft>
                <a:spcPts val="0"/>
              </a:spcAft>
              <a:defRPr sz="1350" b="0">
                <a:solidFill>
                  <a:srgbClr val="000000"/>
                </a:solidFill>
                <a:latin typeface="Consolas"/>
                <a:ea typeface="Consolas"/>
                <a:cs typeface="Consolas"/>
              </a:defRPr>
            </a:pPr>
            <a:r>
              <a:rPr>
                <a:solidFill>
                  <a:srgbClr val="8D36A8"/>
                </a:solidFill>
              </a:rPr>
              <a:t>readonly</a:t>
            </a:r>
            <a:r>
              <a:t> query = </a:t>
            </a:r>
            <a:r>
              <a:rPr>
                <a:solidFill>
                  <a:srgbClr val="008977"/>
                </a:solidFill>
              </a:rPr>
              <a:t>signal</a:t>
            </a:r>
            <a:r>
              <a:t>(</a:t>
            </a:r>
            <a:r>
              <a:rPr>
                <a:solidFill>
                  <a:srgbClr val="B44520"/>
                </a:solidFill>
              </a:rPr>
              <a:t>''</a:t>
            </a:r>
            <a:r>
              <a:t>);</a:t>
            </a:r>
          </a:p>
          <a:p>
            <a:pPr>
              <a:spcAft>
                <a:spcPts val="0"/>
              </a:spcAft>
              <a:defRPr sz="1350" b="0">
                <a:solidFill>
                  <a:srgbClr val="000000"/>
                </a:solidFill>
                <a:latin typeface="Consolas"/>
                <a:ea typeface="Consolas"/>
                <a:cs typeface="Consolas"/>
              </a:defRPr>
            </a:pPr>
            <a:r>
              <a:rPr>
                <a:solidFill>
                  <a:srgbClr val="8D36A8"/>
                </a:solidFill>
              </a:rPr>
              <a:t>readonly</a:t>
            </a:r>
            <a:r>
              <a:t> visible = </a:t>
            </a:r>
            <a:r>
              <a:rPr>
                <a:solidFill>
                  <a:srgbClr val="008977"/>
                </a:solidFill>
              </a:rPr>
              <a:t>computed</a:t>
            </a:r>
            <a:r>
              <a:t>(() =&gt; {</a:t>
            </a:r>
          </a:p>
          <a:p>
            <a:pPr>
              <a:spcAft>
                <a:spcPts val="0"/>
              </a:spcAft>
              <a:defRPr sz="1350" b="0">
                <a:solidFill>
                  <a:srgbClr val="000000"/>
                </a:solidFill>
                <a:latin typeface="Consolas"/>
                <a:ea typeface="Consolas"/>
                <a:cs typeface="Consolas"/>
              </a:defRPr>
            </a:pPr>
            <a:r>
              <a:t>  </a:t>
            </a:r>
            <a:r>
              <a:rPr>
                <a:solidFill>
                  <a:srgbClr val="8D36A8"/>
                </a:solidFill>
              </a:rPr>
              <a:t>const</a:t>
            </a:r>
            <a:r>
              <a:t> status = this.status();</a:t>
            </a:r>
          </a:p>
          <a:p>
            <a:pPr>
              <a:spcAft>
                <a:spcPts val="0"/>
              </a:spcAft>
              <a:defRPr sz="1350" b="0">
                <a:solidFill>
                  <a:srgbClr val="000000"/>
                </a:solidFill>
                <a:latin typeface="Consolas"/>
                <a:ea typeface="Consolas"/>
                <a:cs typeface="Consolas"/>
              </a:defRPr>
            </a:pPr>
            <a:r>
              <a:t>  </a:t>
            </a:r>
            <a:r>
              <a:rPr>
                <a:solidFill>
                  <a:srgbClr val="8D36A8"/>
                </a:solidFill>
              </a:rPr>
              <a:t>const</a:t>
            </a:r>
            <a:r>
              <a:t> q = this.query().trim().toLocaleLowerCase();</a:t>
            </a:r>
          </a:p>
          <a:p>
            <a:pPr>
              <a:spcAft>
                <a:spcPts val="0"/>
              </a:spcAft>
              <a:defRPr sz="1350" b="0">
                <a:solidFill>
                  <a:srgbClr val="000000"/>
                </a:solidFill>
                <a:latin typeface="Consolas"/>
                <a:ea typeface="Consolas"/>
                <a:cs typeface="Consolas"/>
              </a:defRPr>
            </a:pPr>
            <a:r>
              <a:t>  </a:t>
            </a:r>
            <a:r>
              <a:rPr>
                <a:solidFill>
                  <a:srgbClr val="8D36A8"/>
                </a:solidFill>
              </a:rPr>
              <a:t>return</a:t>
            </a:r>
            <a:r>
              <a:t> this.store.tasks().filter(t =&gt;</a:t>
            </a:r>
          </a:p>
          <a:p>
            <a:pPr>
              <a:spcAft>
                <a:spcPts val="0"/>
              </a:spcAft>
              <a:defRPr sz="1350" b="0">
                <a:solidFill>
                  <a:srgbClr val="000000"/>
                </a:solidFill>
                <a:latin typeface="Consolas"/>
                <a:ea typeface="Consolas"/>
                <a:cs typeface="Consolas"/>
              </a:defRPr>
            </a:pPr>
            <a:r>
              <a:t>    (status === </a:t>
            </a:r>
            <a:r>
              <a:rPr>
                <a:solidFill>
                  <a:srgbClr val="B44520"/>
                </a:solidFill>
              </a:rPr>
              <a:t>'all'</a:t>
            </a:r>
            <a:r>
              <a:t> || t.done === (status === </a:t>
            </a:r>
            <a:r>
              <a:rPr>
                <a:solidFill>
                  <a:srgbClr val="B44520"/>
                </a:solidFill>
              </a:rPr>
              <a:t>'done'</a:t>
            </a:r>
            <a:r>
              <a:t>))</a:t>
            </a:r>
          </a:p>
          <a:p>
            <a:pPr>
              <a:spcAft>
                <a:spcPts val="0"/>
              </a:spcAft>
              <a:defRPr sz="1350" b="0">
                <a:solidFill>
                  <a:srgbClr val="000000"/>
                </a:solidFill>
                <a:latin typeface="Consolas"/>
                <a:ea typeface="Consolas"/>
                <a:cs typeface="Consolas"/>
              </a:defRPr>
            </a:pPr>
            <a:r>
              <a:t>    &amp;&amp; t.title.toLocaleLowerCase().includes(q)</a:t>
            </a:r>
          </a:p>
          <a:p>
            <a:pPr>
              <a:spcAft>
                <a:spcPts val="0"/>
              </a:spcAft>
              <a:defRPr sz="1350" b="0">
                <a:solidFill>
                  <a:srgbClr val="000000"/>
                </a:solidFill>
                <a:latin typeface="Consolas"/>
                <a:ea typeface="Consolas"/>
                <a:cs typeface="Consolas"/>
              </a:defRPr>
            </a:pPr>
            <a:r>
              <a:t>  ).sort((a, b) =&gt;</a:t>
            </a:r>
          </a:p>
          <a:p>
            <a:pPr>
              <a:spcAft>
                <a:spcPts val="0"/>
              </a:spcAft>
              <a:defRPr sz="1350" b="0">
                <a:solidFill>
                  <a:srgbClr val="000000"/>
                </a:solidFill>
                <a:latin typeface="Consolas"/>
                <a:ea typeface="Consolas"/>
                <a:cs typeface="Consolas"/>
              </a:defRPr>
            </a:pPr>
            <a:r>
              <a:t>    (a.dueDate ?? </a:t>
            </a:r>
            <a:r>
              <a:rPr>
                <a:solidFill>
                  <a:srgbClr val="B44520"/>
                </a:solidFill>
              </a:rPr>
              <a:t>'9999-12-31'</a:t>
            </a:r>
            <a:r>
              <a:t>)</a:t>
            </a:r>
          </a:p>
          <a:p>
            <a:pPr>
              <a:spcAft>
                <a:spcPts val="0"/>
              </a:spcAft>
              <a:defRPr sz="1350" b="0">
                <a:solidFill>
                  <a:srgbClr val="000000"/>
                </a:solidFill>
                <a:latin typeface="Consolas"/>
                <a:ea typeface="Consolas"/>
                <a:cs typeface="Consolas"/>
              </a:defRPr>
            </a:pPr>
            <a:r>
              <a:t>      .localeCompare(b.dueDate ?? </a:t>
            </a:r>
            <a:r>
              <a:rPr>
                <a:solidFill>
                  <a:srgbClr val="B44520"/>
                </a:solidFill>
              </a:rPr>
              <a:t>'9999-12-31'</a:t>
            </a:r>
            <a:r>
              <a:t>)</a:t>
            </a:r>
          </a:p>
          <a:p>
            <a:pPr>
              <a:spcAft>
                <a:spcPts val="0"/>
              </a:spcAft>
              <a:defRPr sz="1350" b="0">
                <a:solidFill>
                  <a:srgbClr val="000000"/>
                </a:solidFill>
                <a:latin typeface="Consolas"/>
                <a:ea typeface="Consolas"/>
                <a:cs typeface="Consolas"/>
              </a:defRPr>
            </a:pPr>
            <a:r>
              <a:t>    || a.title.localeCompare(b.title)</a:t>
            </a:r>
          </a:p>
          <a:p>
            <a:pPr>
              <a:spcAft>
                <a:spcPts val="0"/>
              </a:spcAft>
              <a:defRPr sz="1350" b="0">
                <a:solidFill>
                  <a:srgbClr val="000000"/>
                </a:solidFill>
                <a:latin typeface="Consolas"/>
                <a:ea typeface="Consolas"/>
                <a:cs typeface="Consolas"/>
              </a:defRPr>
            </a:pPr>
            <a:r>
              <a:t>  );</a:t>
            </a:r>
          </a:p>
          <a:p>
            <a:pPr>
              <a:spcAft>
                <a:spcPts val="0"/>
              </a:spcAft>
              <a:defRPr sz="1350" b="0">
                <a:solidFill>
                  <a:srgbClr val="000000"/>
                </a:solidFill>
                <a:latin typeface="Consolas"/>
                <a:ea typeface="Consolas"/>
                <a:cs typeface="Consolas"/>
              </a:defRPr>
            </a:pPr>
            <a:r>
              <a:t>});</a:t>
            </a:r>
          </a:p>
          <a:p>
            <a:pPr>
              <a:spcAft>
                <a:spcPts val="0"/>
              </a:spcAft>
              <a:defRPr sz="1350" b="0">
                <a:solidFill>
                  <a:srgbClr val="000000"/>
                </a:solidFill>
                <a:latin typeface="Consolas"/>
                <a:ea typeface="Consolas"/>
                <a:cs typeface="Consolas"/>
              </a:defRPr>
            </a:pPr>
            <a:r>
              <a:rPr>
                <a:solidFill>
                  <a:srgbClr val="558B2F"/>
                </a:solidFill>
              </a:rPr>
              <a:t>// Template : @for (t of visible(); track t.id) { ... }</a:t>
            </a:r>
          </a:p>
        </p:txBody>
      </p:sp>
      <p:sp>
        <p:nvSpPr>
          <p:cNvPr id="103" name="takeaways-heading">
            <a:extLst>
              <a:ext uri="{FF2B5EF4-FFF2-40B4-BE49-F238E27FC236}">
                <a16:creationId xmlns:a16="http://schemas.microsoft.com/office/drawing/2014/main" id="{A4FA82AA-9F5A-4160-8067-CE38BB688059}"/>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38B79C3B-7849-4ECB-BB39-770950027886}"/>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La liste stockée conserve toutes les tâches.</a:t>
            </a:r>
          </a:p>
          <a:p>
            <a:pPr marL="152400" indent="-114300">
              <a:spcAft>
                <a:spcPts val="500"/>
              </a:spcAft>
              <a:buChar char="•"/>
              <a:defRPr sz="1500" b="0">
                <a:solidFill>
                  <a:srgbClr val="000000"/>
                </a:solidFill>
                <a:latin typeface="Calibri"/>
                <a:ea typeface="Calibri"/>
                <a:cs typeface="Calibri"/>
              </a:defRPr>
            </a:pPr>
            <a:r>
              <a:t>computed réagit au texte, au statut et aux tâches.</a:t>
            </a:r>
          </a:p>
          <a:p>
            <a:pPr marL="152400" indent="-114300">
              <a:spcAft>
                <a:spcPts val="500"/>
              </a:spcAft>
              <a:buChar char="•"/>
              <a:defRPr sz="1500" b="0">
                <a:solidFill>
                  <a:srgbClr val="000000"/>
                </a:solidFill>
                <a:latin typeface="Calibri"/>
                <a:ea typeface="Calibri"/>
                <a:cs typeface="Calibri"/>
              </a:defRPr>
            </a:pPr>
            <a:r>
              <a:t>filter() crée un tableau que sort() peut trier.</a:t>
            </a:r>
          </a:p>
          <a:p>
            <a:pPr marL="152400" indent="-114300">
              <a:spcAft>
                <a:spcPts val="500"/>
              </a:spcAft>
              <a:buChar char="•"/>
              <a:defRPr sz="1500" b="0">
                <a:solidFill>
                  <a:srgbClr val="000000"/>
                </a:solidFill>
                <a:latin typeface="Calibri"/>
                <a:ea typeface="Calibri"/>
                <a:cs typeface="Calibri"/>
              </a:defRPr>
            </a:pPr>
            <a:r>
              <a:t>Les tâches sans échéance passent à la fin.</a:t>
            </a:r>
          </a:p>
        </p:txBody>
      </p:sp>
    </p:spTree>
    <p:extLst>
      <p:ext uri="{BB962C8B-B14F-4D97-AF65-F5344CB8AC3E}">
        <p14:creationId xmlns:p14="http://schemas.microsoft.com/office/powerpoint/2010/main" val="120069207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B4518E-5038-792C-9F1B-C956B83A8EC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34BCBA0-4477-171B-4524-7B8069623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22C8101-2FDD-D72D-A9B8-4A559D423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F27DA77-067C-1F76-8281-32FFE20CE41B}"/>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3" name="Espace réservé du numéro de diapositive 2">
            <a:extLst>
              <a:ext uri="{FF2B5EF4-FFF2-40B4-BE49-F238E27FC236}">
                <a16:creationId xmlns:a16="http://schemas.microsoft.com/office/drawing/2014/main" id="{C2639C99-58DD-C5C6-2BCD-01343C2AA3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7D10F332-D960-454F-8490-1D81EDCAB612}"/>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Angular moderne : bonnes pratiques</a:t>
            </a:r>
          </a:p>
        </p:txBody>
      </p:sp>
      <p:sp>
        <p:nvSpPr>
          <p:cNvPr id="101" name="example-label">
            <a:extLst>
              <a:ext uri="{FF2B5EF4-FFF2-40B4-BE49-F238E27FC236}">
                <a16:creationId xmlns:a16="http://schemas.microsoft.com/office/drawing/2014/main" id="{07A3FBAC-7BEB-488D-8320-D184EAC04EEA}"/>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Choix conseillés pour les nouveaux exemples</a:t>
            </a:r>
          </a:p>
        </p:txBody>
      </p:sp>
      <p:sp>
        <p:nvSpPr>
          <p:cNvPr id="102" name="angular-code">
            <a:extLst>
              <a:ext uri="{FF2B5EF4-FFF2-40B4-BE49-F238E27FC236}">
                <a16:creationId xmlns:a16="http://schemas.microsoft.com/office/drawing/2014/main" id="{18D9F06D-42F9-49B8-BCF3-42BB0F5493E6}"/>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650" b="0">
                <a:solidFill>
                  <a:srgbClr val="000000"/>
                </a:solidFill>
                <a:latin typeface="Calibri"/>
                <a:ea typeface="Calibri"/>
                <a:cs typeface="Calibri"/>
              </a:defRPr>
            </a:defPPr>
          </a:lstStyle>
          <a:p>
            <a:pPr>
              <a:spcAft>
                <a:spcPts val="0"/>
              </a:spcAft>
              <a:defRPr sz="1650" b="0">
                <a:solidFill>
                  <a:srgbClr val="000000"/>
                </a:solidFill>
                <a:latin typeface="Calibri"/>
                <a:ea typeface="Calibri"/>
                <a:cs typeface="Calibri"/>
              </a:defRPr>
            </a:pPr>
            <a:r>
              <a:rPr b="1"/>
              <a:t>Composants standalone</a:t>
            </a:r>
          </a:p>
          <a:p>
            <a:pPr>
              <a:spcAft>
                <a:spcPts val="0"/>
              </a:spcAft>
              <a:defRPr sz="1650" b="0">
                <a:solidFill>
                  <a:srgbClr val="000000"/>
                </a:solidFill>
                <a:latin typeface="Calibri"/>
                <a:ea typeface="Calibri"/>
                <a:cs typeface="Calibri"/>
              </a:defRPr>
            </a:pPr>
            <a:r>
              <a:rPr b="0"/>
              <a:t>Importer les composants, pipes et modules utilisés.</a:t>
            </a:r>
          </a:p>
          <a:p>
            <a:pPr>
              <a:spcAft>
                <a:spcPts val="0"/>
              </a:spcAft>
              <a:defRPr sz="1650" b="0">
                <a:solidFill>
                  <a:srgbClr val="000000"/>
                </a:solidFill>
                <a:latin typeface="Calibri"/>
                <a:ea typeface="Calibri"/>
                <a:cs typeface="Calibri"/>
              </a:defRPr>
            </a:pPr>
            <a:r>
              <a:rPr b="0"/>
              <a:t> </a:t>
            </a:r>
          </a:p>
          <a:p>
            <a:pPr>
              <a:spcAft>
                <a:spcPts val="0"/>
              </a:spcAft>
              <a:defRPr sz="1650" b="0">
                <a:solidFill>
                  <a:srgbClr val="000000"/>
                </a:solidFill>
                <a:latin typeface="Calibri"/>
                <a:ea typeface="Calibri"/>
                <a:cs typeface="Calibri"/>
              </a:defRPr>
            </a:pPr>
            <a:r>
              <a:rPr b="1"/>
              <a:t>État et dérivations</a:t>
            </a:r>
          </a:p>
          <a:p>
            <a:pPr>
              <a:spcAft>
                <a:spcPts val="0"/>
              </a:spcAft>
              <a:defRPr sz="1650" b="0">
                <a:solidFill>
                  <a:srgbClr val="000000"/>
                </a:solidFill>
                <a:latin typeface="Calibri"/>
                <a:ea typeface="Calibri"/>
                <a:cs typeface="Calibri"/>
              </a:defRPr>
            </a:pPr>
            <a:r>
              <a:rPr b="0"/>
              <a:t>signal pour l’état, computed pour les valeurs calculées.</a:t>
            </a:r>
          </a:p>
          <a:p>
            <a:pPr>
              <a:spcAft>
                <a:spcPts val="0"/>
              </a:spcAft>
              <a:defRPr sz="1650" b="0">
                <a:solidFill>
                  <a:srgbClr val="000000"/>
                </a:solidFill>
                <a:latin typeface="Calibri"/>
                <a:ea typeface="Calibri"/>
                <a:cs typeface="Calibri"/>
              </a:defRPr>
            </a:pPr>
            <a:r>
              <a:rPr b="0"/>
              <a:t>effect pour synchroniser une API externe.</a:t>
            </a:r>
          </a:p>
          <a:p>
            <a:pPr>
              <a:spcAft>
                <a:spcPts val="0"/>
              </a:spcAft>
              <a:defRPr sz="1650" b="0">
                <a:solidFill>
                  <a:srgbClr val="000000"/>
                </a:solidFill>
                <a:latin typeface="Calibri"/>
                <a:ea typeface="Calibri"/>
                <a:cs typeface="Calibri"/>
              </a:defRPr>
            </a:pPr>
            <a:r>
              <a:rPr b="0"/>
              <a:t> </a:t>
            </a:r>
          </a:p>
          <a:p>
            <a:pPr>
              <a:spcAft>
                <a:spcPts val="0"/>
              </a:spcAft>
              <a:defRPr sz="1650" b="0">
                <a:solidFill>
                  <a:srgbClr val="000000"/>
                </a:solidFill>
                <a:latin typeface="Calibri"/>
                <a:ea typeface="Calibri"/>
                <a:cs typeface="Calibri"/>
              </a:defRPr>
            </a:pPr>
            <a:r>
              <a:rPr b="1"/>
              <a:t>Affichage et listes</a:t>
            </a:r>
          </a:p>
          <a:p>
            <a:pPr>
              <a:spcAft>
                <a:spcPts val="0"/>
              </a:spcAft>
              <a:defRPr sz="1650" b="0">
                <a:solidFill>
                  <a:srgbClr val="000000"/>
                </a:solidFill>
                <a:latin typeface="Calibri"/>
                <a:ea typeface="Calibri"/>
                <a:cs typeface="Calibri"/>
              </a:defRPr>
            </a:pPr>
            <a:r>
              <a:rPr b="0"/>
              <a:t>OnPush explicite si utile, signals lus dans le template.</a:t>
            </a:r>
          </a:p>
          <a:p>
            <a:pPr>
              <a:spcAft>
                <a:spcPts val="0"/>
              </a:spcAft>
              <a:defRPr sz="1650" b="0">
                <a:solidFill>
                  <a:srgbClr val="000000"/>
                </a:solidFill>
                <a:latin typeface="Calibri"/>
                <a:ea typeface="Calibri"/>
                <a:cs typeface="Calibri"/>
              </a:defRPr>
            </a:pPr>
            <a:r>
              <a:rPr b="0"/>
              <a:t>@for avec un identifiant stable et mises à jour immuables.</a:t>
            </a:r>
          </a:p>
          <a:p>
            <a:pPr>
              <a:spcAft>
                <a:spcPts val="0"/>
              </a:spcAft>
              <a:defRPr sz="1650" b="0">
                <a:solidFill>
                  <a:srgbClr val="000000"/>
                </a:solidFill>
                <a:latin typeface="Calibri"/>
                <a:ea typeface="Calibri"/>
                <a:cs typeface="Calibri"/>
              </a:defRPr>
            </a:pPr>
            <a:r>
              <a:rPr b="0"/>
              <a:t> </a:t>
            </a:r>
          </a:p>
          <a:p>
            <a:pPr>
              <a:spcAft>
                <a:spcPts val="0"/>
              </a:spcAft>
              <a:defRPr sz="1650" b="0">
                <a:solidFill>
                  <a:srgbClr val="000000"/>
                </a:solidFill>
                <a:latin typeface="Calibri"/>
                <a:ea typeface="Calibri"/>
                <a:cs typeface="Calibri"/>
              </a:defRPr>
            </a:pPr>
            <a:r>
              <a:rPr b="1"/>
              <a:t>Formulaires et flux asynchrones</a:t>
            </a:r>
          </a:p>
          <a:p>
            <a:pPr>
              <a:spcAft>
                <a:spcPts val="0"/>
              </a:spcAft>
              <a:defRPr sz="1650" b="0">
                <a:solidFill>
                  <a:srgbClr val="000000"/>
                </a:solidFill>
                <a:latin typeface="Calibri"/>
                <a:ea typeface="Calibri"/>
                <a:cs typeface="Calibri"/>
              </a:defRPr>
            </a:pPr>
            <a:r>
              <a:rPr b="0"/>
              <a:t>Reactive Forms pour une validation structurée et typée.</a:t>
            </a:r>
          </a:p>
          <a:p>
            <a:pPr>
              <a:spcAft>
                <a:spcPts val="0"/>
              </a:spcAft>
              <a:defRPr sz="1650" b="0">
                <a:solidFill>
                  <a:srgbClr val="000000"/>
                </a:solidFill>
                <a:latin typeface="Calibri"/>
                <a:ea typeface="Calibri"/>
                <a:cs typeface="Calibri"/>
              </a:defRPr>
            </a:pPr>
            <a:r>
              <a:rPr b="0"/>
              <a:t>RxJS pour les flux, avec toSignal à la frontière de la vue.</a:t>
            </a:r>
          </a:p>
        </p:txBody>
      </p:sp>
      <p:sp>
        <p:nvSpPr>
          <p:cNvPr id="103" name="takeaways-heading">
            <a:extLst>
              <a:ext uri="{FF2B5EF4-FFF2-40B4-BE49-F238E27FC236}">
                <a16:creationId xmlns:a16="http://schemas.microsoft.com/office/drawing/2014/main" id="{B902EBC3-0DD7-4D02-9A42-9BC4940F077E}"/>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AD84B77E-1D15-4EFB-9811-315434DB45E1}"/>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OnPush reste facultatif dans le barème du TP.</a:t>
            </a:r>
          </a:p>
          <a:p>
            <a:pPr marL="152400" indent="-114300">
              <a:spcAft>
                <a:spcPts val="500"/>
              </a:spcAft>
              <a:buChar char="•"/>
              <a:defRPr sz="1500" b="0">
                <a:solidFill>
                  <a:srgbClr val="000000"/>
                </a:solidFill>
                <a:latin typeface="Calibri"/>
                <a:ea typeface="Calibri"/>
                <a:cs typeface="Calibri"/>
              </a:defRPr>
            </a:pPr>
            <a:r>
              <a:t>Les exemples utilisent Angular 19 ou plus récent.</a:t>
            </a:r>
          </a:p>
          <a:p>
            <a:pPr marL="152400" indent="-114300">
              <a:spcAft>
                <a:spcPts val="500"/>
              </a:spcAft>
              <a:buChar char="•"/>
              <a:defRPr sz="1500" b="0">
                <a:solidFill>
                  <a:srgbClr val="000000"/>
                </a:solidFill>
                <a:latin typeface="Calibri"/>
                <a:ea typeface="Calibri"/>
                <a:cs typeface="Calibri"/>
              </a:defRPr>
            </a:pPr>
            <a:r>
              <a:t>ngModel reste un parcours valide.</a:t>
            </a:r>
          </a:p>
          <a:p>
            <a:pPr marL="152400" indent="-114300">
              <a:spcAft>
                <a:spcPts val="500"/>
              </a:spcAft>
              <a:buChar char="•"/>
              <a:defRPr sz="1500" b="0">
                <a:solidFill>
                  <a:srgbClr val="000000"/>
                </a:solidFill>
                <a:latin typeface="Calibri"/>
                <a:ea typeface="Calibri"/>
                <a:cs typeface="Calibri"/>
              </a:defRPr>
            </a:pPr>
            <a:r>
              <a:t>Les formulaires réactifs restent le parcours bonus du TP.</a:t>
            </a:r>
          </a:p>
        </p:txBody>
      </p:sp>
    </p:spTree>
    <p:extLst>
      <p:ext uri="{BB962C8B-B14F-4D97-AF65-F5344CB8AC3E}">
        <p14:creationId xmlns:p14="http://schemas.microsoft.com/office/powerpoint/2010/main" val="12006920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6B4518E-5038-792C-9F1B-C956B83A8ECA}"/>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D34BCBA0-4477-171B-4524-7B80696231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222C8101-2FDD-D72D-A9B8-4A559D423E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2F27DA77-067C-1F76-8281-32FFE20CE41B}"/>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3" name="Espace réservé du numéro de diapositive 2">
            <a:extLst>
              <a:ext uri="{FF2B5EF4-FFF2-40B4-BE49-F238E27FC236}">
                <a16:creationId xmlns:a16="http://schemas.microsoft.com/office/drawing/2014/main" id="{C2639C99-58DD-C5C6-2BCD-01343C2AA30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00" name="angular-title">
            <a:extLst>
              <a:ext uri="{FF2B5EF4-FFF2-40B4-BE49-F238E27FC236}">
                <a16:creationId xmlns:a16="http://schemas.microsoft.com/office/drawing/2014/main" id="{E17F806D-77D9-41CD-99A5-7D827771A1E6}"/>
              </a:ext>
            </a:extLst>
          </p:cNvPr>
          <p:cNvSpPr>
            <a:spLocks noGrp="1"/>
          </p:cNvSpPr>
          <p:nvPr/>
        </p:nvSpPr>
        <p:spPr>
          <a:xfrm>
            <a:off x="6000750" y="428625"/>
            <a:ext cx="5867400" cy="781050"/>
          </a:xfrm>
          <a:prstGeom prst="rect">
            <a:avLst/>
          </a:prstGeom>
          <a:noFill/>
          <a:ln w="0">
            <a:noFill/>
          </a:ln>
        </p:spPr>
        <p:txBody>
          <a:bodyPr wrap="square" lIns="0" tIns="0" rIns="0" bIns="0" anchor="t">
            <a:noAutofit/>
          </a:bodyPr>
          <a:lstStyle>
            <a:defPPr>
              <a:defRPr sz="2400" b="0">
                <a:solidFill>
                  <a:srgbClr val="000000"/>
                </a:solidFill>
                <a:latin typeface="Arial"/>
                <a:ea typeface="Arial"/>
                <a:cs typeface="Arial"/>
              </a:defRPr>
            </a:defPPr>
          </a:lstStyle>
          <a:p>
            <a:pPr>
              <a:defRPr sz="2400" b="0">
                <a:solidFill>
                  <a:srgbClr val="000000"/>
                </a:solidFill>
                <a:latin typeface="Arial"/>
                <a:ea typeface="Arial"/>
                <a:cs typeface="Arial"/>
              </a:defRPr>
            </a:pPr>
            <a:r>
              <a:t>TP Angular : étapes et vérifications</a:t>
            </a:r>
          </a:p>
        </p:txBody>
      </p:sp>
      <p:sp>
        <p:nvSpPr>
          <p:cNvPr id="101" name="example-label">
            <a:extLst>
              <a:ext uri="{FF2B5EF4-FFF2-40B4-BE49-F238E27FC236}">
                <a16:creationId xmlns:a16="http://schemas.microsoft.com/office/drawing/2014/main" id="{D80E979B-D2B3-4E1D-BF3C-B8BDF8BE5949}"/>
              </a:ext>
            </a:extLst>
          </p:cNvPr>
          <p:cNvSpPr>
            <a:spLocks noGrp="1"/>
          </p:cNvSpPr>
          <p:nvPr/>
        </p:nvSpPr>
        <p:spPr>
          <a:xfrm>
            <a:off x="6000750" y="1304925"/>
            <a:ext cx="5886450" cy="3810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Un parcours guidé pour la variante signals</a:t>
            </a:r>
          </a:p>
        </p:txBody>
      </p:sp>
      <p:sp>
        <p:nvSpPr>
          <p:cNvPr id="102" name="angular-code">
            <a:extLst>
              <a:ext uri="{FF2B5EF4-FFF2-40B4-BE49-F238E27FC236}">
                <a16:creationId xmlns:a16="http://schemas.microsoft.com/office/drawing/2014/main" id="{0AA06AA5-E4F6-4886-9D86-4FDEEADA065B}"/>
              </a:ext>
            </a:extLst>
          </p:cNvPr>
          <p:cNvSpPr>
            <a:spLocks noGrp="1"/>
          </p:cNvSpPr>
          <p:nvPr/>
        </p:nvSpPr>
        <p:spPr>
          <a:xfrm>
            <a:off x="6000750" y="1809750"/>
            <a:ext cx="5886450" cy="4333875"/>
          </a:xfrm>
          <a:prstGeom prst="rect">
            <a:avLst/>
          </a:prstGeom>
          <a:noFill/>
          <a:ln w="0">
            <a:noFill/>
          </a:ln>
        </p:spPr>
        <p:txBody>
          <a:bodyPr wrap="square" lIns="0" tIns="0" rIns="0" bIns="0" anchor="t">
            <a:noAutofit/>
          </a:bodyPr>
          <a:lstStyle>
            <a:defPPr>
              <a:defRPr sz="1650" b="0">
                <a:solidFill>
                  <a:srgbClr val="000000"/>
                </a:solidFill>
                <a:latin typeface="Calibri"/>
                <a:ea typeface="Calibri"/>
                <a:cs typeface="Calibri"/>
              </a:defRPr>
            </a:defPPr>
          </a:lstStyle>
          <a:p>
            <a:pPr>
              <a:spcAft>
                <a:spcPts val="0"/>
              </a:spcAft>
              <a:defRPr sz="1650" b="0">
                <a:solidFill>
                  <a:srgbClr val="000000"/>
                </a:solidFill>
                <a:latin typeface="Calibri"/>
                <a:ea typeface="Calibri"/>
                <a:cs typeface="Calibri"/>
              </a:defRPr>
            </a:pPr>
            <a:r>
              <a:rPr b="1"/>
              <a:t>1. État partagé</a:t>
            </a:r>
          </a:p>
          <a:p>
            <a:pPr>
              <a:spcAft>
                <a:spcPts val="0"/>
              </a:spcAft>
              <a:defRPr sz="1650" b="0">
                <a:solidFill>
                  <a:srgbClr val="000000"/>
                </a:solidFill>
                <a:latin typeface="Calibri"/>
                <a:ea typeface="Calibri"/>
                <a:cs typeface="Calibri"/>
              </a:defRPr>
            </a:pPr>
            <a:r>
              <a:rPr b="0"/>
              <a:t>Créer TaskStore et l’injecter dans la liste et les stats.</a:t>
            </a:r>
          </a:p>
          <a:p>
            <a:pPr>
              <a:spcAft>
                <a:spcPts val="0"/>
              </a:spcAft>
              <a:defRPr sz="1650" b="0">
                <a:solidFill>
                  <a:srgbClr val="000000"/>
                </a:solidFill>
                <a:latin typeface="Calibri"/>
                <a:ea typeface="Calibri"/>
                <a:cs typeface="Calibri"/>
              </a:defRPr>
            </a:pPr>
            <a:r>
              <a:rPr b="0"/>
              <a:t>Ajouter les actions add, toggle, update et remove.</a:t>
            </a:r>
          </a:p>
          <a:p>
            <a:pPr>
              <a:spcAft>
                <a:spcPts val="0"/>
              </a:spcAft>
              <a:defRPr sz="1650" b="0">
                <a:solidFill>
                  <a:srgbClr val="000000"/>
                </a:solidFill>
                <a:latin typeface="Calibri"/>
                <a:ea typeface="Calibri"/>
                <a:cs typeface="Calibri"/>
              </a:defRPr>
            </a:pPr>
            <a:r>
              <a:rPr b="0"/>
              <a:t> </a:t>
            </a:r>
          </a:p>
          <a:p>
            <a:pPr>
              <a:spcAft>
                <a:spcPts val="0"/>
              </a:spcAft>
              <a:defRPr sz="1650" b="0">
                <a:solidFill>
                  <a:srgbClr val="000000"/>
                </a:solidFill>
                <a:latin typeface="Calibri"/>
                <a:ea typeface="Calibri"/>
                <a:cs typeface="Calibri"/>
              </a:defRPr>
            </a:pPr>
            <a:r>
              <a:rPr b="1"/>
              <a:t>2. Composants et formulaire</a:t>
            </a:r>
          </a:p>
          <a:p>
            <a:pPr>
              <a:spcAft>
                <a:spcPts val="0"/>
              </a:spcAft>
              <a:defRPr sz="1650" b="0">
                <a:solidFill>
                  <a:srgbClr val="000000"/>
                </a:solidFill>
                <a:latin typeface="Calibri"/>
                <a:ea typeface="Calibri"/>
                <a:cs typeface="Calibri"/>
              </a:defRPr>
            </a:pPr>
            <a:r>
              <a:rPr b="0"/>
              <a:t>Relier TaskItem avec input / output.</a:t>
            </a:r>
          </a:p>
          <a:p>
            <a:pPr>
              <a:spcAft>
                <a:spcPts val="0"/>
              </a:spcAft>
              <a:defRPr sz="1650" b="0">
                <a:solidFill>
                  <a:srgbClr val="000000"/>
                </a:solidFill>
                <a:latin typeface="Calibri"/>
                <a:ea typeface="Calibri"/>
                <a:cs typeface="Calibri"/>
              </a:defRPr>
            </a:pPr>
            <a:r>
              <a:rPr b="0"/>
              <a:t>Valider le titre et la date, puis réinitialiser le formulaire.</a:t>
            </a:r>
          </a:p>
          <a:p>
            <a:pPr>
              <a:spcAft>
                <a:spcPts val="0"/>
              </a:spcAft>
              <a:defRPr sz="1650" b="0">
                <a:solidFill>
                  <a:srgbClr val="000000"/>
                </a:solidFill>
                <a:latin typeface="Calibri"/>
                <a:ea typeface="Calibri"/>
                <a:cs typeface="Calibri"/>
              </a:defRPr>
            </a:pPr>
            <a:r>
              <a:rPr b="0"/>
              <a:t> </a:t>
            </a:r>
          </a:p>
          <a:p>
            <a:pPr>
              <a:spcAft>
                <a:spcPts val="0"/>
              </a:spcAft>
              <a:defRPr sz="1650" b="0">
                <a:solidFill>
                  <a:srgbClr val="000000"/>
                </a:solidFill>
                <a:latin typeface="Calibri"/>
                <a:ea typeface="Calibri"/>
                <a:cs typeface="Calibri"/>
              </a:defRPr>
            </a:pPr>
            <a:r>
              <a:rPr b="1"/>
              <a:t>3. Vue et stockage</a:t>
            </a:r>
          </a:p>
          <a:p>
            <a:pPr>
              <a:spcAft>
                <a:spcPts val="0"/>
              </a:spcAft>
              <a:defRPr sz="1650" b="0">
                <a:solidFill>
                  <a:srgbClr val="000000"/>
                </a:solidFill>
                <a:latin typeface="Calibri"/>
                <a:ea typeface="Calibri"/>
                <a:cs typeface="Calibri"/>
              </a:defRPr>
            </a:pPr>
            <a:r>
              <a:rPr b="0"/>
              <a:t>Calculer compteurs, filtres et tri avec computed.</a:t>
            </a:r>
          </a:p>
          <a:p>
            <a:pPr>
              <a:spcAft>
                <a:spcPts val="0"/>
              </a:spcAft>
              <a:defRPr sz="1650" b="0">
                <a:solidFill>
                  <a:srgbClr val="000000"/>
                </a:solidFill>
                <a:latin typeface="Calibri"/>
                <a:ea typeface="Calibri"/>
                <a:cs typeface="Calibri"/>
              </a:defRPr>
            </a:pPr>
            <a:r>
              <a:rPr b="0"/>
              <a:t>Charger les données avant l’effet de sauvegarde.</a:t>
            </a:r>
          </a:p>
          <a:p>
            <a:pPr>
              <a:spcAft>
                <a:spcPts val="0"/>
              </a:spcAft>
              <a:defRPr sz="1650" b="0">
                <a:solidFill>
                  <a:srgbClr val="000000"/>
                </a:solidFill>
                <a:latin typeface="Calibri"/>
                <a:ea typeface="Calibri"/>
                <a:cs typeface="Calibri"/>
              </a:defRPr>
            </a:pPr>
            <a:r>
              <a:rPr b="0"/>
              <a:t> </a:t>
            </a:r>
          </a:p>
          <a:p>
            <a:pPr>
              <a:spcAft>
                <a:spcPts val="0"/>
              </a:spcAft>
              <a:defRPr sz="1650" b="0">
                <a:solidFill>
                  <a:srgbClr val="000000"/>
                </a:solidFill>
                <a:latin typeface="Calibri"/>
                <a:ea typeface="Calibri"/>
                <a:cs typeface="Calibri"/>
              </a:defRPr>
            </a:pPr>
            <a:r>
              <a:rPr b="1"/>
              <a:t>4. Tests attendus</a:t>
            </a:r>
          </a:p>
          <a:p>
            <a:pPr>
              <a:spcAft>
                <a:spcPts val="0"/>
              </a:spcAft>
              <a:defRPr sz="1650" b="0">
                <a:solidFill>
                  <a:srgbClr val="000000"/>
                </a:solidFill>
                <a:latin typeface="Calibri"/>
                <a:ea typeface="Calibri"/>
                <a:cs typeface="Calibri"/>
              </a:defRPr>
            </a:pPr>
            <a:r>
              <a:rPr b="0"/>
              <a:t>Ajout : la tâche apparaît avec done = false.</a:t>
            </a:r>
          </a:p>
          <a:p>
            <a:pPr>
              <a:spcAft>
                <a:spcPts val="0"/>
              </a:spcAft>
              <a:defRPr sz="1650" b="0">
                <a:solidFill>
                  <a:srgbClr val="000000"/>
                </a:solidFill>
                <a:latin typeface="Calibri"/>
                <a:ea typeface="Calibri"/>
                <a:cs typeface="Calibri"/>
              </a:defRPr>
            </a:pPr>
            <a:r>
              <a:rPr b="0"/>
              <a:t>Toggle : statut et compteurs changent ensemble.</a:t>
            </a:r>
          </a:p>
          <a:p>
            <a:pPr>
              <a:spcAft>
                <a:spcPts val="0"/>
              </a:spcAft>
              <a:defRPr sz="1650" b="0">
                <a:solidFill>
                  <a:srgbClr val="000000"/>
                </a:solidFill>
                <a:latin typeface="Calibri"/>
                <a:ea typeface="Calibri"/>
                <a:cs typeface="Calibri"/>
              </a:defRPr>
            </a:pPr>
            <a:r>
              <a:rPr b="0"/>
              <a:t>Filtre : seules les tâches attendues restent visibles.</a:t>
            </a:r>
          </a:p>
        </p:txBody>
      </p:sp>
      <p:sp>
        <p:nvSpPr>
          <p:cNvPr id="103" name="takeaways-heading">
            <a:extLst>
              <a:ext uri="{FF2B5EF4-FFF2-40B4-BE49-F238E27FC236}">
                <a16:creationId xmlns:a16="http://schemas.microsoft.com/office/drawing/2014/main" id="{0C2679F8-CA67-4E6F-893D-A0B1131293EA}"/>
              </a:ext>
            </a:extLst>
          </p:cNvPr>
          <p:cNvSpPr>
            <a:spLocks noGrp="1"/>
          </p:cNvSpPr>
          <p:nvPr/>
        </p:nvSpPr>
        <p:spPr>
          <a:xfrm>
            <a:off x="619125" y="4705350"/>
            <a:ext cx="4714875" cy="304800"/>
          </a:xfrm>
          <a:prstGeom prst="rect">
            <a:avLst/>
          </a:prstGeom>
          <a:noFill/>
          <a:ln w="0">
            <a:noFill/>
          </a:ln>
        </p:spPr>
        <p:txBody>
          <a:bodyPr wrap="square" lIns="0" tIns="0" rIns="0" bIns="0" anchor="t">
            <a:noAutofit/>
          </a:bodyPr>
          <a:lstStyle>
            <a:defPPr>
              <a:defRPr sz="1650" b="1">
                <a:solidFill>
                  <a:srgbClr val="000000"/>
                </a:solidFill>
                <a:latin typeface="Calibri"/>
                <a:ea typeface="Calibri"/>
                <a:cs typeface="Calibri"/>
              </a:defRPr>
            </a:defPPr>
          </a:lstStyle>
          <a:p>
            <a:pPr>
              <a:defRPr sz="1650" b="1">
                <a:solidFill>
                  <a:srgbClr val="000000"/>
                </a:solidFill>
                <a:latin typeface="Calibri"/>
                <a:ea typeface="Calibri"/>
                <a:cs typeface="Calibri"/>
              </a:defRPr>
            </a:pPr>
            <a:r>
              <a:t>À retenir</a:t>
            </a:r>
          </a:p>
        </p:txBody>
      </p:sp>
      <p:sp>
        <p:nvSpPr>
          <p:cNvPr id="104" name="takeaways">
            <a:extLst>
              <a:ext uri="{FF2B5EF4-FFF2-40B4-BE49-F238E27FC236}">
                <a16:creationId xmlns:a16="http://schemas.microsoft.com/office/drawing/2014/main" id="{A39C8814-809A-4401-9ED7-DE14BD27FF8E}"/>
              </a:ext>
            </a:extLst>
          </p:cNvPr>
          <p:cNvSpPr>
            <a:spLocks noGrp="1"/>
          </p:cNvSpPr>
          <p:nvPr/>
        </p:nvSpPr>
        <p:spPr>
          <a:xfrm>
            <a:off x="619125" y="5057775"/>
            <a:ext cx="4619625" cy="1333500"/>
          </a:xfrm>
          <a:prstGeom prst="rect">
            <a:avLst/>
          </a:prstGeom>
          <a:noFill/>
          <a:ln w="0">
            <a:noFill/>
          </a:ln>
        </p:spPr>
        <p:txBody>
          <a:bodyPr wrap="square" lIns="0" tIns="0" rIns="0" bIns="0" anchor="t">
            <a:noAutofit/>
          </a:bodyPr>
          <a:lstStyle>
            <a:defPPr>
              <a:defRPr sz="1500" b="0">
                <a:solidFill>
                  <a:srgbClr val="000000"/>
                </a:solidFill>
                <a:latin typeface="Calibri"/>
                <a:ea typeface="Calibri"/>
                <a:cs typeface="Calibri"/>
              </a:defRPr>
            </a:defPPr>
          </a:lstStyle>
          <a:p>
            <a:pPr marL="152400" indent="-114300">
              <a:spcAft>
                <a:spcPts val="500"/>
              </a:spcAft>
              <a:buChar char="•"/>
              <a:defRPr sz="1500" b="0">
                <a:solidFill>
                  <a:srgbClr val="000000"/>
                </a:solidFill>
                <a:latin typeface="Calibri"/>
                <a:ea typeface="Calibri"/>
                <a:cs typeface="Calibri"/>
              </a:defRPr>
            </a:pPr>
            <a:r>
              <a:t>Cas à essayer : titre «  a  », date passée, liste vide.</a:t>
            </a:r>
          </a:p>
          <a:p>
            <a:pPr marL="152400" indent="-114300">
              <a:spcAft>
                <a:spcPts val="500"/>
              </a:spcAft>
              <a:buChar char="•"/>
              <a:defRPr sz="1500" b="0">
                <a:solidFill>
                  <a:srgbClr val="000000"/>
                </a:solidFill>
                <a:latin typeface="Calibri"/>
                <a:ea typeface="Calibri"/>
                <a:cs typeface="Calibri"/>
              </a:defRPr>
            </a:pPr>
            <a:r>
              <a:t>Après rechargement, retrouver la même liste.</a:t>
            </a:r>
          </a:p>
          <a:p>
            <a:pPr marL="152400" indent="-114300">
              <a:spcAft>
                <a:spcPts val="500"/>
              </a:spcAft>
              <a:buChar char="•"/>
              <a:defRPr sz="1500" b="0">
                <a:solidFill>
                  <a:srgbClr val="000000"/>
                </a:solidFill>
                <a:latin typeface="Calibri"/>
                <a:ea typeface="Calibri"/>
                <a:cs typeface="Calibri"/>
              </a:defRPr>
            </a:pPr>
            <a:r>
              <a:t>Contrôler labels, clavier et messages d’erreur.</a:t>
            </a:r>
          </a:p>
          <a:p>
            <a:pPr marL="152400" indent="-114300">
              <a:spcAft>
                <a:spcPts val="500"/>
              </a:spcAft>
              <a:buChar char="•"/>
              <a:defRPr sz="1500" b="0">
                <a:solidFill>
                  <a:srgbClr val="000000"/>
                </a:solidFill>
                <a:latin typeface="Calibri"/>
                <a:ea typeface="Calibri"/>
                <a:cs typeface="Calibri"/>
              </a:defRPr>
            </a:pPr>
            <a:r>
              <a:t>Le filtre doit conserver les tâches dans le store.</a:t>
            </a:r>
          </a:p>
        </p:txBody>
      </p:sp>
    </p:spTree>
    <p:extLst>
      <p:ext uri="{BB962C8B-B14F-4D97-AF65-F5344CB8AC3E}">
        <p14:creationId xmlns:p14="http://schemas.microsoft.com/office/powerpoint/2010/main" val="120069207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C266148-5B24-1819-F7E4-6051CA6B8988}"/>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0F11889B-F6C6-BC0D-4515-E987A03505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32FDBCE5-2ED1-38C4-872F-A8A668620D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9136D3C0-BCFB-F0AC-EE40-9D1125A41DB3}"/>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8F5AF85C-996A-2ED7-A5AB-379B74294EAE}"/>
              </a:ext>
            </a:extLst>
          </p:cNvPr>
          <p:cNvSpPr>
            <a:spLocks noGrp="1" noChangeArrowheads="1"/>
          </p:cNvSpPr>
          <p:nvPr>
            <p:ph idx="1"/>
          </p:nvPr>
        </p:nvSpPr>
        <p:spPr bwMode="auto">
          <a:xfrm>
            <a:off x="5986410" y="1088737"/>
            <a:ext cx="6019138" cy="39990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2000" b="1" dirty="0"/>
              <a:t>Parcours utilisateur (</a:t>
            </a:r>
            <a:r>
              <a:rPr lang="fr-FR" sz="2000" b="1" dirty="0" err="1"/>
              <a:t>wireflow</a:t>
            </a:r>
            <a:r>
              <a:rPr lang="fr-FR" sz="2000" b="1" dirty="0"/>
              <a:t> minimal)</a:t>
            </a:r>
          </a:p>
          <a:p>
            <a:r>
              <a:rPr lang="fr-FR" sz="1400" dirty="0"/>
              <a:t>Page </a:t>
            </a:r>
            <a:r>
              <a:rPr lang="fr-FR" sz="1400" b="1" dirty="0"/>
              <a:t>Liste</a:t>
            </a:r>
            <a:r>
              <a:rPr lang="fr-FR" sz="1400" dirty="0"/>
              <a:t> : formulaire en haut, filtres/tri, liste des tâches, compteur.</a:t>
            </a:r>
          </a:p>
          <a:p>
            <a:r>
              <a:rPr lang="fr-FR" sz="1400" dirty="0">
                <a:highlight>
                  <a:srgbClr val="FFFF00"/>
                </a:highlight>
              </a:rPr>
              <a:t>Page </a:t>
            </a:r>
            <a:r>
              <a:rPr lang="fr-FR" sz="1400" b="1" dirty="0">
                <a:highlight>
                  <a:srgbClr val="FFFF00"/>
                </a:highlight>
              </a:rPr>
              <a:t>Stats</a:t>
            </a:r>
            <a:r>
              <a:rPr lang="fr-FR" sz="1400" dirty="0">
                <a:highlight>
                  <a:srgbClr val="FFFF00"/>
                </a:highlight>
              </a:rPr>
              <a:t> : KPIs (total, faites, à faire, %), éventuellement histogramme par échéance (bonus).</a:t>
            </a:r>
          </a:p>
          <a:p>
            <a:pPr marL="0" indent="0">
              <a:buNone/>
            </a:pPr>
            <a:r>
              <a:rPr lang="fr-FR" sz="2000" b="1" dirty="0"/>
              <a:t>Critères d’évaluation (barème indicatif /100)</a:t>
            </a:r>
          </a:p>
          <a:p>
            <a:r>
              <a:rPr lang="fr-FR" sz="1400" b="1" dirty="0"/>
              <a:t>Fonctionnel</a:t>
            </a:r>
            <a:r>
              <a:rPr lang="fr-FR" sz="1400" dirty="0"/>
              <a:t> (40) : stories respectées, persistance OK, </a:t>
            </a:r>
            <a:r>
              <a:rPr lang="fr-FR" sz="1400" dirty="0" err="1">
                <a:highlight>
                  <a:srgbClr val="FFFF00"/>
                </a:highlight>
              </a:rPr>
              <a:t>routing</a:t>
            </a:r>
            <a:r>
              <a:rPr lang="fr-FR" sz="1400" dirty="0">
                <a:highlight>
                  <a:srgbClr val="FFFF00"/>
                </a:highlight>
              </a:rPr>
              <a:t> OK.</a:t>
            </a:r>
          </a:p>
          <a:p>
            <a:r>
              <a:rPr lang="fr-FR" sz="1400" b="1" dirty="0"/>
              <a:t>Qualité du code</a:t>
            </a:r>
            <a:r>
              <a:rPr lang="fr-FR" sz="1400" dirty="0"/>
              <a:t> (20) : structure, clarté, découpage et typage (TypeScript dans les deux projets).</a:t>
            </a:r>
          </a:p>
          <a:p>
            <a:r>
              <a:rPr lang="fr-FR" sz="1400" b="1" dirty="0"/>
              <a:t>UX &amp; Accessibilité</a:t>
            </a:r>
            <a:r>
              <a:rPr lang="fr-FR" sz="1400" dirty="0"/>
              <a:t> (15) : validations, messages d’erreurs, navigation clavier, focus.</a:t>
            </a:r>
          </a:p>
          <a:p>
            <a:r>
              <a:rPr lang="fr-FR" sz="1400" b="1" dirty="0">
                <a:highlight>
                  <a:srgbClr val="FFFF00"/>
                </a:highlight>
              </a:rPr>
              <a:t>Performance &amp; bonnes pratiques</a:t>
            </a:r>
            <a:r>
              <a:rPr lang="fr-FR" sz="1400" dirty="0">
                <a:highlight>
                  <a:srgbClr val="FFFF00"/>
                </a:highlight>
              </a:rPr>
              <a:t> (10) : listes et mises à jour efficaces dans les deux projets ;</a:t>
            </a:r>
          </a:p>
          <a:p>
            <a:r>
              <a:rPr lang="fr-FR" sz="1400" b="1" dirty="0"/>
              <a:t>Documentation</a:t>
            </a:r>
            <a:r>
              <a:rPr lang="fr-FR" sz="1400" dirty="0"/>
              <a:t> (15) : README, scripts (start, </a:t>
            </a:r>
            <a:r>
              <a:rPr lang="fr-FR" sz="1400" dirty="0" err="1"/>
              <a:t>build</a:t>
            </a:r>
            <a:r>
              <a:rPr lang="fr-FR" sz="1400" dirty="0"/>
              <a:t>, test), consignes d’installation.</a:t>
            </a:r>
          </a:p>
        </p:txBody>
      </p:sp>
      <p:sp>
        <p:nvSpPr>
          <p:cNvPr id="3" name="Espace réservé du numéro de diapositive 2">
            <a:extLst>
              <a:ext uri="{FF2B5EF4-FFF2-40B4-BE49-F238E27FC236}">
                <a16:creationId xmlns:a16="http://schemas.microsoft.com/office/drawing/2014/main" id="{DBADD3AD-D73E-F603-6958-02A57597729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4353331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DFD6F6-9FF3-6125-8249-0817AA9FF007}"/>
            </a:ext>
          </a:extLst>
        </p:cNvPr>
        <p:cNvGrpSpPr/>
        <p:nvPr/>
      </p:nvGrpSpPr>
      <p:grpSpPr>
        <a:xfrm>
          <a:off x="0" y="0"/>
          <a:ext cx="0" cy="0"/>
          <a:chOff x="0" y="0"/>
          <a:chExt cx="0" cy="0"/>
        </a:xfrm>
      </p:grpSpPr>
      <p:sp useBgFill="1">
        <p:nvSpPr>
          <p:cNvPr id="52" name="Rectangle 51">
            <a:extLst>
              <a:ext uri="{FF2B5EF4-FFF2-40B4-BE49-F238E27FC236}">
                <a16:creationId xmlns:a16="http://schemas.microsoft.com/office/drawing/2014/main" id="{23421B90-F574-7E18-644C-2662D90557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54" name="Freeform: Shape 53">
            <a:extLst>
              <a:ext uri="{FF2B5EF4-FFF2-40B4-BE49-F238E27FC236}">
                <a16:creationId xmlns:a16="http://schemas.microsoft.com/office/drawing/2014/main" id="{F35684E0-FE3D-5E52-C140-A19C700060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8888549">
            <a:off x="-1059473" y="-1108988"/>
            <a:ext cx="7179830" cy="5226565"/>
          </a:xfrm>
          <a:custGeom>
            <a:avLst/>
            <a:gdLst>
              <a:gd name="connsiteX0" fmla="*/ 5217841 w 7179830"/>
              <a:gd name="connsiteY0" fmla="*/ 464824 h 5226565"/>
              <a:gd name="connsiteX1" fmla="*/ 5222490 w 7179830"/>
              <a:gd name="connsiteY1" fmla="*/ 464289 h 5226565"/>
              <a:gd name="connsiteX2" fmla="*/ 5216768 w 7179830"/>
              <a:gd name="connsiteY2" fmla="*/ 463394 h 5226565"/>
              <a:gd name="connsiteX3" fmla="*/ 5217841 w 7179830"/>
              <a:gd name="connsiteY3" fmla="*/ 464824 h 5226565"/>
              <a:gd name="connsiteX4" fmla="*/ 4945201 w 7179830"/>
              <a:gd name="connsiteY4" fmla="*/ 5226565 h 5226565"/>
              <a:gd name="connsiteX5" fmla="*/ 140449 w 7179830"/>
              <a:gd name="connsiteY5" fmla="*/ 2240811 h 5226565"/>
              <a:gd name="connsiteX6" fmla="*/ 232913 w 7179830"/>
              <a:gd name="connsiteY6" fmla="*/ 2052782 h 5226565"/>
              <a:gd name="connsiteX7" fmla="*/ 375714 w 7179830"/>
              <a:gd name="connsiteY7" fmla="*/ 1803205 h 5226565"/>
              <a:gd name="connsiteX8" fmla="*/ 1512756 w 7179830"/>
              <a:gd name="connsiteY8" fmla="*/ 638448 h 5226565"/>
              <a:gd name="connsiteX9" fmla="*/ 2902095 w 7179830"/>
              <a:gd name="connsiteY9" fmla="*/ 120440 h 5226565"/>
              <a:gd name="connsiteX10" fmla="*/ 2848453 w 7179830"/>
              <a:gd name="connsiteY10" fmla="*/ 125626 h 5226565"/>
              <a:gd name="connsiteX11" fmla="*/ 1837830 w 7179830"/>
              <a:gd name="connsiteY11" fmla="*/ 426203 h 5226565"/>
              <a:gd name="connsiteX12" fmla="*/ 214608 w 7179830"/>
              <a:gd name="connsiteY12" fmla="*/ 1882239 h 5226565"/>
              <a:gd name="connsiteX13" fmla="*/ 91317 w 7179830"/>
              <a:gd name="connsiteY13" fmla="*/ 2123701 h 5226565"/>
              <a:gd name="connsiteX14" fmla="*/ 64092 w 7179830"/>
              <a:gd name="connsiteY14" fmla="*/ 2193361 h 5226565"/>
              <a:gd name="connsiteX15" fmla="*/ 0 w 7179830"/>
              <a:gd name="connsiteY15" fmla="*/ 2153533 h 5226565"/>
              <a:gd name="connsiteX16" fmla="*/ 42834 w 7179830"/>
              <a:gd name="connsiteY16" fmla="*/ 2047277 h 5226565"/>
              <a:gd name="connsiteX17" fmla="*/ 923582 w 7179830"/>
              <a:gd name="connsiteY17" fmla="*/ 915600 h 5226565"/>
              <a:gd name="connsiteX18" fmla="*/ 2686989 w 7179830"/>
              <a:gd name="connsiteY18" fmla="*/ 73950 h 5226565"/>
              <a:gd name="connsiteX19" fmla="*/ 3059983 w 7179830"/>
              <a:gd name="connsiteY19" fmla="*/ 20308 h 5226565"/>
              <a:gd name="connsiteX20" fmla="*/ 3454435 w 7179830"/>
              <a:gd name="connsiteY20" fmla="*/ 1176 h 5226565"/>
              <a:gd name="connsiteX21" fmla="*/ 3923806 w 7179830"/>
              <a:gd name="connsiteY21" fmla="*/ 49990 h 5226565"/>
              <a:gd name="connsiteX22" fmla="*/ 5350874 w 7179830"/>
              <a:gd name="connsiteY22" fmla="*/ 426917 h 5226565"/>
              <a:gd name="connsiteX23" fmla="*/ 6607360 w 7179830"/>
              <a:gd name="connsiteY23" fmla="*/ 1075097 h 5226565"/>
              <a:gd name="connsiteX24" fmla="*/ 7110534 w 7179830"/>
              <a:gd name="connsiteY24" fmla="*/ 1541421 h 5226565"/>
              <a:gd name="connsiteX25" fmla="*/ 7179830 w 7179830"/>
              <a:gd name="connsiteY25" fmla="*/ 1630542 h 5226565"/>
              <a:gd name="connsiteX26" fmla="*/ 7136295 w 7179830"/>
              <a:gd name="connsiteY26" fmla="*/ 1700600 h 5226565"/>
              <a:gd name="connsiteX27" fmla="*/ 7131140 w 7179830"/>
              <a:gd name="connsiteY27" fmla="*/ 1693045 h 5226565"/>
              <a:gd name="connsiteX28" fmla="*/ 6577499 w 7179830"/>
              <a:gd name="connsiteY28" fmla="*/ 1148230 h 5226565"/>
              <a:gd name="connsiteX29" fmla="*/ 5494816 w 7179830"/>
              <a:gd name="connsiteY29" fmla="*/ 563527 h 5226565"/>
              <a:gd name="connsiteX30" fmla="*/ 5366967 w 7179830"/>
              <a:gd name="connsiteY30" fmla="*/ 514176 h 5226565"/>
              <a:gd name="connsiteX31" fmla="*/ 5244661 w 7179830"/>
              <a:gd name="connsiteY31" fmla="*/ 470725 h 5226565"/>
              <a:gd name="connsiteX32" fmla="*/ 5904822 w 7179830"/>
              <a:gd name="connsiteY32" fmla="*/ 815468 h 5226565"/>
              <a:gd name="connsiteX33" fmla="*/ 7015222 w 7179830"/>
              <a:gd name="connsiteY33" fmla="*/ 1815185 h 5226565"/>
              <a:gd name="connsiteX34" fmla="*/ 7040454 w 7179830"/>
              <a:gd name="connsiteY34" fmla="*/ 1854830 h 52265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7179830" h="5226565">
                <a:moveTo>
                  <a:pt x="5217841" y="464824"/>
                </a:moveTo>
                <a:lnTo>
                  <a:pt x="5222490" y="464289"/>
                </a:lnTo>
                <a:lnTo>
                  <a:pt x="5216768" y="463394"/>
                </a:lnTo>
                <a:cubicBezTo>
                  <a:pt x="5216768" y="463394"/>
                  <a:pt x="5216768" y="464646"/>
                  <a:pt x="5217841" y="464824"/>
                </a:cubicBezTo>
                <a:close/>
                <a:moveTo>
                  <a:pt x="4945201" y="5226565"/>
                </a:moveTo>
                <a:lnTo>
                  <a:pt x="140449" y="2240811"/>
                </a:lnTo>
                <a:lnTo>
                  <a:pt x="232913" y="2052782"/>
                </a:lnTo>
                <a:cubicBezTo>
                  <a:pt x="277693" y="1968290"/>
                  <a:pt x="325201" y="1885054"/>
                  <a:pt x="375714" y="1803205"/>
                </a:cubicBezTo>
                <a:cubicBezTo>
                  <a:pt x="667528" y="1329721"/>
                  <a:pt x="1039629" y="935091"/>
                  <a:pt x="1512756" y="638448"/>
                </a:cubicBezTo>
                <a:cubicBezTo>
                  <a:pt x="1939392" y="370950"/>
                  <a:pt x="2405724" y="210560"/>
                  <a:pt x="2902095" y="120440"/>
                </a:cubicBezTo>
                <a:cubicBezTo>
                  <a:pt x="2884054" y="118134"/>
                  <a:pt x="2865727" y="119904"/>
                  <a:pt x="2848453" y="125626"/>
                </a:cubicBezTo>
                <a:cubicBezTo>
                  <a:pt x="2498704" y="175943"/>
                  <a:pt x="2158217" y="277201"/>
                  <a:pt x="1837830" y="426203"/>
                </a:cubicBezTo>
                <a:cubicBezTo>
                  <a:pt x="1147094" y="744660"/>
                  <a:pt x="593502" y="1217071"/>
                  <a:pt x="214608" y="1882239"/>
                </a:cubicBezTo>
                <a:cubicBezTo>
                  <a:pt x="169441" y="1960776"/>
                  <a:pt x="128308" y="2041369"/>
                  <a:pt x="91317" y="2123701"/>
                </a:cubicBezTo>
                <a:lnTo>
                  <a:pt x="64092" y="2193361"/>
                </a:lnTo>
                <a:lnTo>
                  <a:pt x="0" y="2153533"/>
                </a:lnTo>
                <a:lnTo>
                  <a:pt x="42834" y="2047277"/>
                </a:lnTo>
                <a:cubicBezTo>
                  <a:pt x="241792" y="1615775"/>
                  <a:pt x="541268" y="1241591"/>
                  <a:pt x="923582" y="915600"/>
                </a:cubicBezTo>
                <a:cubicBezTo>
                  <a:pt x="1435331" y="478415"/>
                  <a:pt x="2028081" y="205375"/>
                  <a:pt x="2686989" y="73950"/>
                </a:cubicBezTo>
                <a:cubicBezTo>
                  <a:pt x="2810367" y="49274"/>
                  <a:pt x="2934818" y="32466"/>
                  <a:pt x="3059983" y="20308"/>
                </a:cubicBezTo>
                <a:cubicBezTo>
                  <a:pt x="3185149" y="8148"/>
                  <a:pt x="3308706" y="2963"/>
                  <a:pt x="3454435" y="1176"/>
                </a:cubicBezTo>
                <a:cubicBezTo>
                  <a:pt x="3599805" y="-5977"/>
                  <a:pt x="3761985" y="20665"/>
                  <a:pt x="3923806" y="49990"/>
                </a:cubicBezTo>
                <a:cubicBezTo>
                  <a:pt x="4409449" y="137964"/>
                  <a:pt x="4886867" y="257228"/>
                  <a:pt x="5350874" y="426917"/>
                </a:cubicBezTo>
                <a:cubicBezTo>
                  <a:pt x="5797001" y="589991"/>
                  <a:pt x="6223101" y="792223"/>
                  <a:pt x="6607360" y="1075097"/>
                </a:cubicBezTo>
                <a:cubicBezTo>
                  <a:pt x="6794438" y="1212779"/>
                  <a:pt x="6965102" y="1365689"/>
                  <a:pt x="7110534" y="1541421"/>
                </a:cubicBezTo>
                <a:lnTo>
                  <a:pt x="7179830" y="1630542"/>
                </a:lnTo>
                <a:lnTo>
                  <a:pt x="7136295" y="1700600"/>
                </a:lnTo>
                <a:lnTo>
                  <a:pt x="7131140" y="1693045"/>
                </a:lnTo>
                <a:cubicBezTo>
                  <a:pt x="6977874" y="1483026"/>
                  <a:pt x="6788448" y="1305671"/>
                  <a:pt x="6577499" y="1148230"/>
                </a:cubicBezTo>
                <a:cubicBezTo>
                  <a:pt x="6245452" y="900401"/>
                  <a:pt x="5878538" y="716408"/>
                  <a:pt x="5494816" y="563527"/>
                </a:cubicBezTo>
                <a:cubicBezTo>
                  <a:pt x="5452491" y="546487"/>
                  <a:pt x="5409881" y="530036"/>
                  <a:pt x="5366967" y="514176"/>
                </a:cubicBezTo>
                <a:cubicBezTo>
                  <a:pt x="5326377" y="499156"/>
                  <a:pt x="5285430" y="485210"/>
                  <a:pt x="5244661" y="470725"/>
                </a:cubicBezTo>
                <a:cubicBezTo>
                  <a:pt x="5471517" y="572127"/>
                  <a:pt x="5691970" y="687263"/>
                  <a:pt x="5904822" y="815468"/>
                </a:cubicBezTo>
                <a:cubicBezTo>
                  <a:pt x="6336645" y="1080104"/>
                  <a:pt x="6718758" y="1400351"/>
                  <a:pt x="7015222" y="1815185"/>
                </a:cubicBezTo>
                <a:lnTo>
                  <a:pt x="7040454" y="1854830"/>
                </a:lnTo>
                <a:close/>
              </a:path>
            </a:pathLst>
          </a:custGeom>
          <a:solidFill>
            <a:schemeClr val="accent2"/>
          </a:solidFill>
          <a:ln w="1270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
        <p:nvSpPr>
          <p:cNvPr id="2" name="Titre 1">
            <a:extLst>
              <a:ext uri="{FF2B5EF4-FFF2-40B4-BE49-F238E27FC236}">
                <a16:creationId xmlns:a16="http://schemas.microsoft.com/office/drawing/2014/main" id="{E86E6B37-05BB-CD67-B4AB-BD347234C2C5}"/>
              </a:ext>
            </a:extLst>
          </p:cNvPr>
          <p:cNvSpPr>
            <a:spLocks noGrp="1"/>
          </p:cNvSpPr>
          <p:nvPr>
            <p:ph type="title"/>
          </p:nvPr>
        </p:nvSpPr>
        <p:spPr>
          <a:xfrm>
            <a:off x="841246" y="673770"/>
            <a:ext cx="3644489" cy="2414488"/>
          </a:xfrm>
        </p:spPr>
        <p:txBody>
          <a:bodyPr anchor="t">
            <a:normAutofit/>
          </a:bodyPr>
          <a:lstStyle/>
          <a:p>
            <a:r>
              <a:rPr lang="fr-FR" sz="5400" noProof="0" dirty="0">
                <a:solidFill>
                  <a:srgbClr val="FFFFFF"/>
                </a:solidFill>
              </a:rPr>
              <a:t>TP 2 </a:t>
            </a:r>
            <a:br>
              <a:rPr lang="fr-FR" sz="5400" noProof="0" dirty="0">
                <a:solidFill>
                  <a:srgbClr val="FFFFFF"/>
                </a:solidFill>
              </a:rPr>
            </a:br>
            <a:br>
              <a:rPr lang="fr-FR" sz="5400" noProof="0" dirty="0">
                <a:solidFill>
                  <a:srgbClr val="FFFFFF"/>
                </a:solidFill>
              </a:rPr>
            </a:br>
            <a:r>
              <a:rPr lang="fr-FR" sz="5400" noProof="0" dirty="0">
                <a:solidFill>
                  <a:srgbClr val="FFFFFF"/>
                </a:solidFill>
              </a:rPr>
              <a:t>To-Do List</a:t>
            </a:r>
          </a:p>
        </p:txBody>
      </p:sp>
      <p:sp>
        <p:nvSpPr>
          <p:cNvPr id="4" name="Rectangle 1">
            <a:extLst>
              <a:ext uri="{FF2B5EF4-FFF2-40B4-BE49-F238E27FC236}">
                <a16:creationId xmlns:a16="http://schemas.microsoft.com/office/drawing/2014/main" id="{65DB1334-0142-A7A1-A4AF-1C0EDEEE7944}"/>
              </a:ext>
            </a:extLst>
          </p:cNvPr>
          <p:cNvSpPr>
            <a:spLocks noGrp="1" noChangeArrowheads="1"/>
          </p:cNvSpPr>
          <p:nvPr>
            <p:ph idx="1"/>
          </p:nvPr>
        </p:nvSpPr>
        <p:spPr bwMode="auto">
          <a:xfrm>
            <a:off x="5326981" y="2283857"/>
            <a:ext cx="6801781" cy="25442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a:buNone/>
            </a:pPr>
            <a:r>
              <a:rPr lang="fr-FR" sz="2000" b="1" dirty="0"/>
              <a:t>Organisation du travail</a:t>
            </a:r>
          </a:p>
          <a:p>
            <a:pPr marL="0" indent="0">
              <a:buNone/>
            </a:pPr>
            <a:endParaRPr lang="fr-FR" sz="2000" b="1" dirty="0"/>
          </a:p>
          <a:p>
            <a:pPr marL="0" indent="0">
              <a:buNone/>
            </a:pPr>
            <a:r>
              <a:rPr lang="fr-FR" sz="2000" b="1" dirty="0"/>
              <a:t>Matinée</a:t>
            </a:r>
            <a:r>
              <a:rPr lang="fr-FR" sz="2000" dirty="0"/>
              <a:t> → mise en place du projet, composants de base, formulaire d’ajout, affichage de la liste.</a:t>
            </a:r>
          </a:p>
          <a:p>
            <a:pPr marL="0" indent="0">
              <a:buNone/>
            </a:pPr>
            <a:r>
              <a:rPr lang="fr-FR" sz="2000" b="1" dirty="0"/>
              <a:t>Après-midi </a:t>
            </a:r>
            <a:r>
              <a:rPr lang="fr-FR" sz="2000" dirty="0"/>
              <a:t>→ </a:t>
            </a:r>
            <a:r>
              <a:rPr lang="fr-FR" sz="2000" dirty="0" err="1"/>
              <a:t>toggle</a:t>
            </a:r>
            <a:r>
              <a:rPr lang="fr-FR" sz="2000" dirty="0"/>
              <a:t> </a:t>
            </a:r>
            <a:r>
              <a:rPr lang="fr-FR" sz="2000" dirty="0" err="1"/>
              <a:t>done</a:t>
            </a:r>
            <a:r>
              <a:rPr lang="fr-FR" sz="2000" dirty="0"/>
              <a:t> / </a:t>
            </a:r>
            <a:r>
              <a:rPr lang="fr-FR" sz="2000" dirty="0" err="1"/>
              <a:t>delete</a:t>
            </a:r>
            <a:r>
              <a:rPr lang="fr-FR" sz="2000" dirty="0"/>
              <a:t> + persistance </a:t>
            </a:r>
            <a:r>
              <a:rPr lang="fr-FR" sz="2000" dirty="0" err="1"/>
              <a:t>localStorage</a:t>
            </a:r>
            <a:r>
              <a:rPr lang="fr-FR" sz="2000" dirty="0"/>
              <a:t>.</a:t>
            </a:r>
          </a:p>
          <a:p>
            <a:pPr marL="0" indent="0">
              <a:buNone/>
            </a:pPr>
            <a:r>
              <a:rPr lang="fr-FR" sz="2000" b="1" dirty="0"/>
              <a:t>Fin de journée </a:t>
            </a:r>
            <a:r>
              <a:rPr lang="fr-FR" sz="2000" dirty="0"/>
              <a:t>→ un peu de polish (affichage compteur tâches, message "aucune tâche").</a:t>
            </a:r>
          </a:p>
        </p:txBody>
      </p:sp>
      <p:sp>
        <p:nvSpPr>
          <p:cNvPr id="3" name="Espace réservé du numéro de diapositive 2">
            <a:extLst>
              <a:ext uri="{FF2B5EF4-FFF2-40B4-BE49-F238E27FC236}">
                <a16:creationId xmlns:a16="http://schemas.microsoft.com/office/drawing/2014/main" id="{F54EB208-F1C3-7AD4-D786-8372F429B0A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76A0F001-8B3C-415A-8A04-1575C9321C93}" type="slidenum">
              <a:rPr kumimoji="0" lang="fr-FR" sz="20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fr-FR" sz="20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0352452"/>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1">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97DF7A59-CF28-4EC1-A114-8B2F746BA280}">
  <we:reference id="wa200010215" version="2.0.0.1" store="en-US" storeType="OMEX"/>
  <we:alternateReferences>
    <we:reference id="wa200010215" version="2.0.0.1" store="" storeType="OMEX"/>
  </we:alternateReferences>
  <we:properties>
    <we:property name="bps.codex_control.document_id" value="&quot;57a8b4f6-21a3-42fd-bd2f-d628c10cd728&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4635</TotalTime>
  <Words>10188</Words>
  <Application>Microsoft Office PowerPoint</Application>
  <PresentationFormat>Grand écran</PresentationFormat>
  <Paragraphs>1218</Paragraphs>
  <Slides>58</Slides>
  <Notes>20</Notes>
  <HiddenSlides>0</HiddenSlides>
  <MMClips>0</MMClips>
  <ScaleCrop>false</ScaleCrop>
  <HeadingPairs>
    <vt:vector size="6" baseType="variant">
      <vt:variant>
        <vt:lpstr>Polices utilisées</vt:lpstr>
      </vt:variant>
      <vt:variant>
        <vt:i4>5</vt:i4>
      </vt:variant>
      <vt:variant>
        <vt:lpstr>Thème</vt:lpstr>
      </vt:variant>
      <vt:variant>
        <vt:i4>1</vt:i4>
      </vt:variant>
      <vt:variant>
        <vt:lpstr>Titres des diapositives</vt:lpstr>
      </vt:variant>
      <vt:variant>
        <vt:i4>58</vt:i4>
      </vt:variant>
    </vt:vector>
  </HeadingPairs>
  <TitlesOfParts>
    <vt:vector size="64" baseType="lpstr">
      <vt:lpstr>Arial</vt:lpstr>
      <vt:lpstr>Calibri</vt:lpstr>
      <vt:lpstr>Calibri Light</vt:lpstr>
      <vt:lpstr>Consolas</vt:lpstr>
      <vt:lpstr>Wingdings</vt:lpstr>
      <vt:lpstr>Thème Office</vt:lpstr>
      <vt:lpstr>Framework JS </vt:lpstr>
      <vt:lpstr>Déroulé du module Framework JS</vt:lpstr>
      <vt:lpstr>Modèle de Composant</vt:lpstr>
      <vt:lpstr>Modèle de Composant</vt:lpstr>
      <vt:lpstr>Modèle de Composant</vt:lpstr>
      <vt:lpstr>Modèle de Composant</vt:lpstr>
      <vt:lpstr>Modèle de Composant</vt:lpstr>
      <vt:lpstr>Modèle de Composant</vt:lpstr>
      <vt:lpstr>Modèle de Composant</vt:lpstr>
      <vt:lpstr>Modèle de Composant</vt:lpstr>
      <vt:lpstr>Modèle de Composant</vt:lpstr>
      <vt:lpstr>Modèle de Composant</vt:lpstr>
      <vt:lpstr>Modèle de Composant</vt:lpstr>
      <vt:lpstr>Modèle de Composant</vt:lpstr>
      <vt:lpstr>Modèle de Composant</vt:lpstr>
      <vt:lpstr>Gestion des évènements</vt:lpstr>
      <vt:lpstr>Gestion des évènements</vt:lpstr>
      <vt:lpstr>Gestion des évènements</vt:lpstr>
      <vt:lpstr>Gestion des évènements</vt:lpstr>
      <vt:lpstr>Gestion des évènements</vt:lpstr>
      <vt:lpstr>Gestion des évènements</vt:lpstr>
      <vt:lpstr>Gestion des évènements</vt:lpstr>
      <vt:lpstr>Gestion des évènements</vt:lpstr>
      <vt:lpstr>Gestion des évènements</vt:lpstr>
      <vt:lpstr>Gestion des évènements</vt:lpstr>
      <vt:lpstr>Gestion des évènements</vt:lpstr>
      <vt:lpstr>Liaison de Données</vt:lpstr>
      <vt:lpstr>Liaison de Données</vt:lpstr>
      <vt:lpstr>Liaison de Données</vt:lpstr>
      <vt:lpstr>Liaison de Données</vt:lpstr>
      <vt:lpstr>Liaison de Données</vt:lpstr>
      <vt:lpstr>Liaison de Données</vt:lpstr>
      <vt:lpstr>Liaison de Données</vt:lpstr>
      <vt:lpstr>Liaison de Données</vt:lpstr>
      <vt:lpstr>Liaison de Données</vt:lpstr>
      <vt:lpstr>Liaison de Données</vt:lpstr>
      <vt:lpstr>Liaison de Données</vt:lpstr>
      <vt:lpstr>Persistance des Données</vt:lpstr>
      <vt:lpstr>Persistance des Données</vt:lpstr>
      <vt:lpstr>Persistance des Données</vt:lpstr>
      <vt:lpstr>Persistance des Données</vt:lpstr>
      <vt:lpstr>Persistance des Données</vt:lpstr>
      <vt:lpstr>Persistance des Données</vt:lpstr>
      <vt:lpstr>Persistance des Données</vt:lpstr>
      <vt:lpstr>Persistance des Données</vt:lpstr>
      <vt:lpstr>Persistance des Données</vt:lpstr>
      <vt:lpstr>Persistance des Données</vt:lpstr>
      <vt:lpstr>TP 2   To-Do List</vt:lpstr>
      <vt:lpstr>TP 2   To-Do List</vt:lpstr>
      <vt:lpstr>TP 2   To-Do List</vt:lpstr>
      <vt:lpstr>TP 2   To-Do List</vt:lpstr>
      <vt:lpstr>TP 2   To-Do List</vt:lpstr>
      <vt:lpstr>TP 2   To-Do List</vt:lpstr>
      <vt:lpstr>TP 2   To-Do List</vt:lpstr>
      <vt:lpstr>TP 2   To-Do List</vt:lpstr>
      <vt:lpstr>TP 2   To-Do List</vt:lpstr>
      <vt:lpstr>TP 2   To-Do List</vt:lpstr>
      <vt:lpstr>TP 2   To-Do 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Définition des Budgets IT</dc:title>
  <dc:creator>bruno dernier</dc:creator>
  <cp:lastModifiedBy>bruno dernier</cp:lastModifiedBy>
  <cp:revision>120</cp:revision>
  <dcterms:created xsi:type="dcterms:W3CDTF">2022-12-12T12:50:18Z</dcterms:created>
  <dcterms:modified xsi:type="dcterms:W3CDTF">2026-10-12T20:04:16Z</dcterms:modified>
</cp:coreProperties>
</file>